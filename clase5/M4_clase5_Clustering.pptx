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2d358761edd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2d358761edd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2d50605bc2d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2d50605bc2d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1033f2fea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1033f2fea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1033f2feac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1033f2feac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1033f2feac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1033f2feac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2d50605bc2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2d50605bc2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2d50605bc2d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2d50605bc2d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2d50605bc2d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2d50605bc2d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2d50605bc2d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2d50605bc2d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2d50605bc2d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2d50605bc2d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2d50605bc2d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2d50605bc2d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2d50605bc2d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2d50605bc2d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d50605bc2d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2d50605bc2d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d50605bc2d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2d50605bc2d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d50605bc2d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2d50605bc2d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2d50605bc2d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2d50605bc2d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2d50605bc2d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2d50605bc2d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2d50605bc2d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2d50605bc2d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2d50605bc2d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2d50605bc2d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2d50605bc2d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2d50605bc2d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1033f2feac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1033f2feac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1033f2feac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1033f2feac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2d50605bc2d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2d50605bc2d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2d50605bc2d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2d50605bc2d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2d50605bc2d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2d50605bc2d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2d50605bc2d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2d50605bc2d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2d50605bc2d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2d50605bc2d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2d50605bc2d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2d50605bc2d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2d50605bc2d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2d50605bc2d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2d50605bc2d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2d50605bc2d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2d50605bc2d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2d50605bc2d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2d50605bc2d_0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2d50605bc2d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2d50605bc2d_0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2d50605bc2d_0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2d50605bc2d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2d50605bc2d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2d50605bc2d_0_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2d50605bc2d_0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2d50605bc2d_0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2d50605bc2d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2d50605bc2d_0_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2d50605bc2d_0_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2d50605bc2d_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2d50605bc2d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2d50605bc2d_0_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2d50605bc2d_0_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2d50605bc2d_0_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2d50605bc2d_0_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2d50605bc2d_0_2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2d50605bc2d_0_2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2d50605bc2d_0_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2d50605bc2d_0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2d50605bc2d_0_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2d50605bc2d_0_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2d50605bc2d_0_2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2d50605bc2d_0_2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2d50605bc2d_0_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2d50605bc2d_0_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pn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2.png"/><Relationship Id="rId4" Type="http://schemas.openxmlformats.org/officeDocument/2006/relationships/image" Target="../media/image14.png"/><Relationship Id="rId5"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3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3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3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2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2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2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3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2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2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7681575" y="4659525"/>
            <a:ext cx="2905200" cy="39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600">
                <a:solidFill>
                  <a:schemeClr val="dk2"/>
                </a:solidFill>
              </a:rPr>
              <a:t>COMISIÓN 2</a:t>
            </a:r>
            <a:r>
              <a:rPr b="1" lang="es" sz="1600">
                <a:solidFill>
                  <a:schemeClr val="dk2"/>
                </a:solidFill>
              </a:rPr>
              <a:t> </a:t>
            </a:r>
            <a:endParaRPr b="1" sz="1600">
              <a:solidFill>
                <a:schemeClr val="dk2"/>
              </a:solidFill>
            </a:endParaRPr>
          </a:p>
        </p:txBody>
      </p:sp>
      <p:pic>
        <p:nvPicPr>
          <p:cNvPr id="55" name="Google Shape;55;p13"/>
          <p:cNvPicPr preferRelativeResize="0"/>
          <p:nvPr/>
        </p:nvPicPr>
        <p:blipFill rotWithShape="1">
          <a:blip r:embed="rId3">
            <a:alphaModFix/>
          </a:blip>
          <a:srcRect b="0" l="0" r="0" t="75659"/>
          <a:stretch/>
        </p:blipFill>
        <p:spPr>
          <a:xfrm>
            <a:off x="152400" y="2814077"/>
            <a:ext cx="8839199" cy="975049"/>
          </a:xfrm>
          <a:prstGeom prst="rect">
            <a:avLst/>
          </a:prstGeom>
          <a:noFill/>
          <a:ln>
            <a:noFill/>
          </a:ln>
        </p:spPr>
      </p:pic>
      <p:sp>
        <p:nvSpPr>
          <p:cNvPr id="56" name="Google Shape;56;p13"/>
          <p:cNvSpPr txBox="1"/>
          <p:nvPr/>
        </p:nvSpPr>
        <p:spPr>
          <a:xfrm>
            <a:off x="752150" y="1206725"/>
            <a:ext cx="7441500" cy="168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4200">
                <a:solidFill>
                  <a:srgbClr val="0000FF"/>
                </a:solidFill>
              </a:rPr>
              <a:t>Aprendizaje no supervisado</a:t>
            </a:r>
            <a:endParaRPr b="1" sz="4200">
              <a:solidFill>
                <a:srgbClr val="0000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nvSpPr>
        <p:spPr>
          <a:xfrm>
            <a:off x="381000" y="416725"/>
            <a:ext cx="70386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2500">
                <a:solidFill>
                  <a:srgbClr val="0000FF"/>
                </a:solidFill>
              </a:rPr>
              <a:t>Tipos de herramientas de Machine Learning</a:t>
            </a:r>
            <a:endParaRPr b="1" sz="2500">
              <a:solidFill>
                <a:srgbClr val="0000FF"/>
              </a:solidFill>
            </a:endParaRPr>
          </a:p>
        </p:txBody>
      </p:sp>
      <p:sp>
        <p:nvSpPr>
          <p:cNvPr id="62" name="Google Shape;62;p14"/>
          <p:cNvSpPr txBox="1"/>
          <p:nvPr/>
        </p:nvSpPr>
        <p:spPr>
          <a:xfrm>
            <a:off x="430700" y="1099550"/>
            <a:ext cx="8072400" cy="117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Las herramientas de machine learning </a:t>
            </a:r>
            <a:r>
              <a:rPr b="1" lang="es" sz="1800">
                <a:solidFill>
                  <a:schemeClr val="dk2"/>
                </a:solidFill>
              </a:rPr>
              <a:t>pueden clasificarse en dos grandes grupos</a:t>
            </a:r>
            <a:r>
              <a:rPr lang="es" sz="1800">
                <a:solidFill>
                  <a:schemeClr val="dk2"/>
                </a:solidFill>
              </a:rPr>
              <a:t>: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b="1" lang="es" sz="1900">
                <a:solidFill>
                  <a:schemeClr val="dk2"/>
                </a:solidFill>
              </a:rPr>
              <a:t>APRENDIZAJE NO SUPERVISADO:</a:t>
            </a:r>
            <a:endParaRPr b="1" sz="1900">
              <a:solidFill>
                <a:schemeClr val="dk2"/>
              </a:solidFill>
            </a:endParaRPr>
          </a:p>
        </p:txBody>
      </p:sp>
      <p:pic>
        <p:nvPicPr>
          <p:cNvPr id="63" name="Google Shape;63;p14"/>
          <p:cNvPicPr preferRelativeResize="0"/>
          <p:nvPr/>
        </p:nvPicPr>
        <p:blipFill>
          <a:blip r:embed="rId3">
            <a:alphaModFix/>
          </a:blip>
          <a:stretch>
            <a:fillRect/>
          </a:stretch>
        </p:blipFill>
        <p:spPr>
          <a:xfrm>
            <a:off x="486888" y="2488401"/>
            <a:ext cx="8170227" cy="1825550"/>
          </a:xfrm>
          <a:prstGeom prst="rect">
            <a:avLst/>
          </a:prstGeom>
          <a:noFill/>
          <a:ln>
            <a:noFill/>
          </a:ln>
        </p:spPr>
      </p:pic>
      <p:sp>
        <p:nvSpPr>
          <p:cNvPr id="64" name="Google Shape;64;p14"/>
          <p:cNvSpPr txBox="1"/>
          <p:nvPr/>
        </p:nvSpPr>
        <p:spPr>
          <a:xfrm>
            <a:off x="6441225" y="70950"/>
            <a:ext cx="2786100" cy="38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600">
                <a:solidFill>
                  <a:srgbClr val="0000FF"/>
                </a:solidFill>
                <a:highlight>
                  <a:srgbClr val="CFE2F3"/>
                </a:highlight>
              </a:rPr>
              <a:t>REPASO DE LA CLASE 1</a:t>
            </a:r>
            <a:endParaRPr b="1" sz="1500">
              <a:solidFill>
                <a:srgbClr val="0000FF"/>
              </a:solidFill>
              <a:highlight>
                <a:srgbClr val="CFE2F3"/>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p15"/>
          <p:cNvPicPr preferRelativeResize="0"/>
          <p:nvPr/>
        </p:nvPicPr>
        <p:blipFill>
          <a:blip r:embed="rId3">
            <a:alphaModFix/>
          </a:blip>
          <a:stretch>
            <a:fillRect/>
          </a:stretch>
        </p:blipFill>
        <p:spPr>
          <a:xfrm>
            <a:off x="152400" y="152400"/>
            <a:ext cx="8587375" cy="40247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nvSpPr>
        <p:spPr>
          <a:xfrm>
            <a:off x="381000" y="285775"/>
            <a:ext cx="70386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2800">
                <a:solidFill>
                  <a:srgbClr val="0000FF"/>
                </a:solidFill>
              </a:rPr>
              <a:t>Clustering</a:t>
            </a:r>
            <a:endParaRPr b="1" sz="2500">
              <a:solidFill>
                <a:srgbClr val="0000FF"/>
              </a:solidFill>
            </a:endParaRPr>
          </a:p>
        </p:txBody>
      </p:sp>
      <p:sp>
        <p:nvSpPr>
          <p:cNvPr id="75" name="Google Shape;75;p16"/>
          <p:cNvSpPr txBox="1"/>
          <p:nvPr/>
        </p:nvSpPr>
        <p:spPr>
          <a:xfrm>
            <a:off x="381000" y="1032325"/>
            <a:ext cx="8072400" cy="95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Es una técnica de </a:t>
            </a:r>
            <a:r>
              <a:rPr b="1" lang="es" sz="1800">
                <a:solidFill>
                  <a:schemeClr val="dk2"/>
                </a:solidFill>
              </a:rPr>
              <a:t>aprendizaje no supervisado</a:t>
            </a:r>
            <a:r>
              <a:rPr lang="es" sz="1800">
                <a:solidFill>
                  <a:schemeClr val="dk2"/>
                </a:solidFill>
              </a:rPr>
              <a:t> utilizada para a</a:t>
            </a:r>
            <a:r>
              <a:rPr b="1" lang="es" sz="1800">
                <a:solidFill>
                  <a:schemeClr val="dk2"/>
                </a:solidFill>
              </a:rPr>
              <a:t>grupar datos en subconjuntos (clusters o clústeres) de manera que los puntos dentro de un mismo grupo sean </a:t>
            </a:r>
            <a:r>
              <a:rPr b="1" lang="es" sz="1800">
                <a:solidFill>
                  <a:schemeClr val="dk2"/>
                </a:solidFill>
                <a:highlight>
                  <a:srgbClr val="CFE2F3"/>
                </a:highlight>
              </a:rPr>
              <a:t>similares entre sí y distintos del resto</a:t>
            </a:r>
            <a:r>
              <a:rPr lang="es" sz="1800">
                <a:solidFill>
                  <a:schemeClr val="dk2"/>
                </a:solidFill>
              </a:rPr>
              <a:t>.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76" name="Google Shape;76;p16"/>
          <p:cNvSpPr txBox="1"/>
          <p:nvPr/>
        </p:nvSpPr>
        <p:spPr>
          <a:xfrm>
            <a:off x="488100" y="4099925"/>
            <a:ext cx="8167800" cy="75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800">
                <a:solidFill>
                  <a:schemeClr val="dk2"/>
                </a:solidFill>
              </a:rPr>
              <a:t>E</a:t>
            </a:r>
            <a:r>
              <a:rPr lang="es" sz="1800">
                <a:solidFill>
                  <a:schemeClr val="dk2"/>
                </a:solidFill>
              </a:rPr>
              <a:t>l objetivo del clustering es </a:t>
            </a:r>
            <a:r>
              <a:rPr b="1" lang="es" sz="1800">
                <a:solidFill>
                  <a:schemeClr val="dk2"/>
                </a:solidFill>
              </a:rPr>
              <a:t>descubrir estructuras ocultas o patrones en los datos sin que exista una etiqueta o categoría predefinida</a:t>
            </a:r>
            <a:r>
              <a:rPr lang="es" sz="1800">
                <a:solidFill>
                  <a:schemeClr val="dk2"/>
                </a:solidFill>
              </a:rPr>
              <a:t>.</a:t>
            </a:r>
            <a:endParaRPr sz="1800">
              <a:solidFill>
                <a:schemeClr val="dk2"/>
              </a:solidFill>
            </a:endParaRPr>
          </a:p>
        </p:txBody>
      </p:sp>
      <p:pic>
        <p:nvPicPr>
          <p:cNvPr id="77" name="Google Shape;77;p16"/>
          <p:cNvPicPr preferRelativeResize="0"/>
          <p:nvPr/>
        </p:nvPicPr>
        <p:blipFill>
          <a:blip r:embed="rId3">
            <a:alphaModFix/>
          </a:blip>
          <a:stretch>
            <a:fillRect/>
          </a:stretch>
        </p:blipFill>
        <p:spPr>
          <a:xfrm>
            <a:off x="1665863" y="2201300"/>
            <a:ext cx="5978975" cy="18986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nvSpPr>
        <p:spPr>
          <a:xfrm>
            <a:off x="381000" y="321475"/>
            <a:ext cx="70386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2800">
                <a:solidFill>
                  <a:srgbClr val="0000FF"/>
                </a:solidFill>
              </a:rPr>
              <a:t>Clustering</a:t>
            </a:r>
            <a:endParaRPr b="1" sz="2500">
              <a:solidFill>
                <a:srgbClr val="0000FF"/>
              </a:solidFill>
            </a:endParaRPr>
          </a:p>
        </p:txBody>
      </p:sp>
      <p:sp>
        <p:nvSpPr>
          <p:cNvPr id="83" name="Google Shape;83;p17"/>
          <p:cNvSpPr txBox="1"/>
          <p:nvPr/>
        </p:nvSpPr>
        <p:spPr>
          <a:xfrm>
            <a:off x="381000" y="1099550"/>
            <a:ext cx="8072400" cy="48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200">
                <a:solidFill>
                  <a:schemeClr val="dk2"/>
                </a:solidFill>
              </a:rPr>
              <a:t>¿Qué </a:t>
            </a:r>
            <a:r>
              <a:rPr b="1" lang="es" sz="2200">
                <a:solidFill>
                  <a:schemeClr val="dk2"/>
                </a:solidFill>
              </a:rPr>
              <a:t>tipo de problemas</a:t>
            </a:r>
            <a:r>
              <a:rPr lang="es" sz="2200">
                <a:solidFill>
                  <a:schemeClr val="dk2"/>
                </a:solidFill>
              </a:rPr>
              <a:t> pueden resolverse aplicando esta técnica?</a:t>
            </a:r>
            <a:r>
              <a:rPr lang="es" sz="2200">
                <a:solidFill>
                  <a:schemeClr val="dk2"/>
                </a:solidFill>
              </a:rPr>
              <a:t> </a:t>
            </a:r>
            <a:endParaRPr sz="22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84" name="Google Shape;84;p17"/>
          <p:cNvSpPr txBox="1"/>
          <p:nvPr/>
        </p:nvSpPr>
        <p:spPr>
          <a:xfrm>
            <a:off x="446425" y="2206800"/>
            <a:ext cx="8132100" cy="30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Los más comunes son:</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Char char="●"/>
            </a:pPr>
            <a:r>
              <a:rPr b="1" lang="es" sz="1800">
                <a:solidFill>
                  <a:schemeClr val="dk2"/>
                </a:solidFill>
              </a:rPr>
              <a:t>Segmentación de clientes:</a:t>
            </a:r>
            <a:r>
              <a:rPr lang="es" sz="1800">
                <a:solidFill>
                  <a:schemeClr val="dk2"/>
                </a:solidFill>
              </a:rPr>
              <a:t> Agrupar clientes en función de sus comportamientos o características.</a:t>
            </a:r>
            <a:endParaRPr sz="1800">
              <a:solidFill>
                <a:schemeClr val="dk2"/>
              </a:solidFill>
            </a:endParaRPr>
          </a:p>
          <a:p>
            <a:pPr indent="-342900" lvl="0" marL="457200" rtl="0" algn="l">
              <a:spcBef>
                <a:spcPts val="0"/>
              </a:spcBef>
              <a:spcAft>
                <a:spcPts val="0"/>
              </a:spcAft>
              <a:buClr>
                <a:schemeClr val="dk2"/>
              </a:buClr>
              <a:buSzPts val="1800"/>
              <a:buChar char="●"/>
            </a:pPr>
            <a:r>
              <a:rPr b="1" lang="es" sz="1800">
                <a:solidFill>
                  <a:schemeClr val="dk2"/>
                </a:solidFill>
              </a:rPr>
              <a:t>Agrupación de documentos:</a:t>
            </a:r>
            <a:r>
              <a:rPr lang="es" sz="1800">
                <a:solidFill>
                  <a:schemeClr val="dk2"/>
                </a:solidFill>
              </a:rPr>
              <a:t> Clasificar películas según sus clasificaciones.</a:t>
            </a:r>
            <a:endParaRPr sz="1800">
              <a:solidFill>
                <a:schemeClr val="dk2"/>
              </a:solidFill>
            </a:endParaRPr>
          </a:p>
          <a:p>
            <a:pPr indent="-342900" lvl="0" marL="457200" rtl="0" algn="l">
              <a:spcBef>
                <a:spcPts val="0"/>
              </a:spcBef>
              <a:spcAft>
                <a:spcPts val="0"/>
              </a:spcAft>
              <a:buClr>
                <a:schemeClr val="dk2"/>
              </a:buClr>
              <a:buSzPts val="1800"/>
              <a:buChar char="●"/>
            </a:pPr>
            <a:r>
              <a:rPr b="1" lang="es" sz="1800">
                <a:solidFill>
                  <a:schemeClr val="dk2"/>
                </a:solidFill>
              </a:rPr>
              <a:t>Análisis de imágenes: </a:t>
            </a:r>
            <a:r>
              <a:rPr lang="es" sz="1800">
                <a:solidFill>
                  <a:schemeClr val="dk2"/>
                </a:solidFill>
              </a:rPr>
              <a:t>Identificación de regiones similares en una imagen.</a:t>
            </a:r>
            <a:endParaRPr sz="18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nvSpPr>
        <p:spPr>
          <a:xfrm>
            <a:off x="381000" y="273850"/>
            <a:ext cx="70386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2800">
                <a:solidFill>
                  <a:srgbClr val="0000FF"/>
                </a:solidFill>
              </a:rPr>
              <a:t>Clustering</a:t>
            </a:r>
            <a:endParaRPr b="1" sz="2500">
              <a:solidFill>
                <a:srgbClr val="0000FF"/>
              </a:solidFill>
            </a:endParaRPr>
          </a:p>
        </p:txBody>
      </p:sp>
      <p:sp>
        <p:nvSpPr>
          <p:cNvPr id="90" name="Google Shape;90;p18"/>
          <p:cNvSpPr txBox="1"/>
          <p:nvPr/>
        </p:nvSpPr>
        <p:spPr>
          <a:xfrm>
            <a:off x="381000" y="1028113"/>
            <a:ext cx="8072400" cy="48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200">
                <a:solidFill>
                  <a:schemeClr val="dk2"/>
                </a:solidFill>
              </a:rPr>
              <a:t>¿Qué </a:t>
            </a:r>
            <a:r>
              <a:rPr b="1" lang="es" sz="2200">
                <a:solidFill>
                  <a:schemeClr val="dk2"/>
                </a:solidFill>
              </a:rPr>
              <a:t>tipo de </a:t>
            </a:r>
            <a:r>
              <a:rPr b="1" lang="es" sz="2200">
                <a:solidFill>
                  <a:schemeClr val="dk2"/>
                </a:solidFill>
              </a:rPr>
              <a:t>algoritmos</a:t>
            </a:r>
            <a:r>
              <a:rPr lang="es" sz="2200">
                <a:solidFill>
                  <a:schemeClr val="dk2"/>
                </a:solidFill>
              </a:rPr>
              <a:t> de clustering existen? </a:t>
            </a:r>
            <a:endParaRPr sz="1800">
              <a:solidFill>
                <a:schemeClr val="dk2"/>
              </a:solidFill>
            </a:endParaRPr>
          </a:p>
        </p:txBody>
      </p:sp>
      <p:sp>
        <p:nvSpPr>
          <p:cNvPr id="91" name="Google Shape;91;p18"/>
          <p:cNvSpPr txBox="1"/>
          <p:nvPr/>
        </p:nvSpPr>
        <p:spPr>
          <a:xfrm>
            <a:off x="505950" y="1654875"/>
            <a:ext cx="8132100" cy="30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Los más populares son:</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Char char="●"/>
            </a:pPr>
            <a:r>
              <a:rPr b="1" lang="es" sz="1800">
                <a:solidFill>
                  <a:schemeClr val="dk2"/>
                </a:solidFill>
                <a:highlight>
                  <a:srgbClr val="CFE2F3"/>
                </a:highlight>
              </a:rPr>
              <a:t>K-means (K-medias):</a:t>
            </a:r>
            <a:r>
              <a:rPr lang="es" sz="1800">
                <a:solidFill>
                  <a:schemeClr val="dk2"/>
                </a:solidFill>
                <a:highlight>
                  <a:srgbClr val="CFE2F3"/>
                </a:highlight>
              </a:rPr>
              <a:t> </a:t>
            </a:r>
            <a:r>
              <a:rPr lang="es" sz="1800">
                <a:solidFill>
                  <a:schemeClr val="dk2"/>
                </a:solidFill>
              </a:rPr>
              <a:t>Genera subgrupos a partir de un número </a:t>
            </a:r>
            <a:r>
              <a:rPr lang="es" sz="1800">
                <a:solidFill>
                  <a:schemeClr val="dk2"/>
                </a:solidFill>
              </a:rPr>
              <a:t>predefinido</a:t>
            </a:r>
            <a:r>
              <a:rPr lang="es" sz="1800">
                <a:solidFill>
                  <a:schemeClr val="dk2"/>
                </a:solidFill>
              </a:rPr>
              <a:t> de clusters (k). CLASE DE HOY!</a:t>
            </a:r>
            <a:endParaRPr sz="1800">
              <a:solidFill>
                <a:schemeClr val="dk2"/>
              </a:solidFill>
            </a:endParaRPr>
          </a:p>
          <a:p>
            <a:pPr indent="0" lvl="0" marL="457200" rtl="0" algn="l">
              <a:spcBef>
                <a:spcPts val="0"/>
              </a:spcBef>
              <a:spcAft>
                <a:spcPts val="0"/>
              </a:spcAft>
              <a:buNone/>
            </a:pPr>
            <a:r>
              <a:t/>
            </a:r>
            <a:endParaRPr sz="900">
              <a:solidFill>
                <a:schemeClr val="dk2"/>
              </a:solidFill>
            </a:endParaRPr>
          </a:p>
          <a:p>
            <a:pPr indent="-342900" lvl="0" marL="457200" rtl="0" algn="l">
              <a:spcBef>
                <a:spcPts val="0"/>
              </a:spcBef>
              <a:spcAft>
                <a:spcPts val="0"/>
              </a:spcAft>
              <a:buClr>
                <a:schemeClr val="dk2"/>
              </a:buClr>
              <a:buSzPts val="1800"/>
              <a:buChar char="●"/>
            </a:pPr>
            <a:r>
              <a:rPr b="1" lang="es" sz="1800">
                <a:solidFill>
                  <a:schemeClr val="dk2"/>
                </a:solidFill>
                <a:highlight>
                  <a:srgbClr val="CFE2F3"/>
                </a:highlight>
              </a:rPr>
              <a:t>Hierarchical Clustering (Clustering Jerárquico):</a:t>
            </a:r>
            <a:r>
              <a:rPr lang="es" sz="1800">
                <a:solidFill>
                  <a:schemeClr val="dk2"/>
                </a:solidFill>
                <a:highlight>
                  <a:srgbClr val="CFE2F3"/>
                </a:highlight>
              </a:rPr>
              <a:t> </a:t>
            </a:r>
            <a:r>
              <a:rPr lang="es" sz="1800">
                <a:solidFill>
                  <a:schemeClr val="dk2"/>
                </a:solidFill>
              </a:rPr>
              <a:t>Genera subgrupos a partir de particiones jerárquicas. No es necesario definir previamente el número de clusters (k). CLASE DE HOY!</a:t>
            </a:r>
            <a:endParaRPr sz="1800">
              <a:solidFill>
                <a:schemeClr val="dk2"/>
              </a:solidFill>
            </a:endParaRPr>
          </a:p>
          <a:p>
            <a:pPr indent="0" lvl="0" marL="45720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Char char="●"/>
            </a:pPr>
            <a:r>
              <a:rPr b="1" lang="es" sz="1800">
                <a:solidFill>
                  <a:schemeClr val="dk2"/>
                </a:solidFill>
              </a:rPr>
              <a:t>DBSCAN (Density-Based Spatial Clustering of Applications with Noise): </a:t>
            </a:r>
            <a:r>
              <a:rPr lang="es" sz="1800">
                <a:solidFill>
                  <a:schemeClr val="dk2"/>
                </a:solidFill>
              </a:rPr>
              <a:t>Identifica clústeres en función de la densidad, ideal para datos con ruido.</a:t>
            </a:r>
            <a:endParaRPr sz="1800">
              <a:solidFill>
                <a:schemeClr val="dk2"/>
              </a:solidFill>
            </a:endParaRPr>
          </a:p>
          <a:p>
            <a:pPr indent="0" lvl="0" marL="457200" rtl="0" algn="l">
              <a:spcBef>
                <a:spcPts val="0"/>
              </a:spcBef>
              <a:spcAft>
                <a:spcPts val="0"/>
              </a:spcAft>
              <a:buNone/>
            </a:pPr>
            <a:r>
              <a:t/>
            </a:r>
            <a:endParaRPr sz="18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txBox="1"/>
          <p:nvPr/>
        </p:nvSpPr>
        <p:spPr>
          <a:xfrm>
            <a:off x="381000" y="273850"/>
            <a:ext cx="70386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2800">
                <a:solidFill>
                  <a:srgbClr val="0000FF"/>
                </a:solidFill>
              </a:rPr>
              <a:t>K-means (K-medias)</a:t>
            </a:r>
            <a:endParaRPr b="1" sz="2500">
              <a:solidFill>
                <a:srgbClr val="0000FF"/>
              </a:solidFill>
            </a:endParaRPr>
          </a:p>
        </p:txBody>
      </p:sp>
      <p:sp>
        <p:nvSpPr>
          <p:cNvPr id="97" name="Google Shape;97;p19"/>
          <p:cNvSpPr txBox="1"/>
          <p:nvPr/>
        </p:nvSpPr>
        <p:spPr>
          <a:xfrm>
            <a:off x="381000" y="944775"/>
            <a:ext cx="5715000" cy="67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100">
                <a:solidFill>
                  <a:schemeClr val="dk2"/>
                </a:solidFill>
              </a:rPr>
              <a:t>¿Cómo funciona el algoritmo?</a:t>
            </a:r>
            <a:endParaRPr sz="2100">
              <a:solidFill>
                <a:schemeClr val="dk2"/>
              </a:solidFill>
            </a:endParaRPr>
          </a:p>
        </p:txBody>
      </p:sp>
      <p:sp>
        <p:nvSpPr>
          <p:cNvPr id="98" name="Google Shape;98;p19"/>
          <p:cNvSpPr txBox="1"/>
          <p:nvPr/>
        </p:nvSpPr>
        <p:spPr>
          <a:xfrm>
            <a:off x="381000" y="1623375"/>
            <a:ext cx="8013000" cy="129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700">
                <a:solidFill>
                  <a:schemeClr val="dk2"/>
                </a:solidFill>
                <a:highlight>
                  <a:srgbClr val="CFE2F3"/>
                </a:highlight>
              </a:rPr>
              <a:t>PASO 1</a:t>
            </a:r>
            <a:r>
              <a:rPr b="1" lang="es" sz="1700">
                <a:solidFill>
                  <a:schemeClr val="dk2"/>
                </a:solidFill>
              </a:rPr>
              <a:t> - Definimos el </a:t>
            </a:r>
            <a:r>
              <a:rPr b="1" lang="es" sz="1700">
                <a:solidFill>
                  <a:schemeClr val="dk2"/>
                </a:solidFill>
              </a:rPr>
              <a:t>número de clusters (k)</a:t>
            </a:r>
            <a:r>
              <a:rPr b="1" lang="es" sz="1700">
                <a:solidFill>
                  <a:schemeClr val="dk2"/>
                </a:solidFill>
              </a:rPr>
              <a:t>. </a:t>
            </a:r>
            <a:endParaRPr b="1" sz="1700">
              <a:solidFill>
                <a:schemeClr val="dk2"/>
              </a:solidFill>
            </a:endParaRPr>
          </a:p>
          <a:p>
            <a:pPr indent="0" lvl="0" marL="0" rtl="0" algn="l">
              <a:spcBef>
                <a:spcPts val="0"/>
              </a:spcBef>
              <a:spcAft>
                <a:spcPts val="0"/>
              </a:spcAft>
              <a:buNone/>
            </a:pPr>
            <a:r>
              <a:rPr lang="es" sz="1700">
                <a:solidFill>
                  <a:schemeClr val="dk2"/>
                </a:solidFill>
              </a:rPr>
              <a:t>El primer paso es definir </a:t>
            </a:r>
            <a:r>
              <a:rPr b="1" lang="es" sz="1700">
                <a:solidFill>
                  <a:schemeClr val="dk2"/>
                </a:solidFill>
              </a:rPr>
              <a:t>en </a:t>
            </a:r>
            <a:r>
              <a:rPr b="1" lang="es" sz="1700">
                <a:solidFill>
                  <a:schemeClr val="dk2"/>
                </a:solidFill>
              </a:rPr>
              <a:t>cuántos</a:t>
            </a:r>
            <a:r>
              <a:rPr b="1" lang="es" sz="1700">
                <a:solidFill>
                  <a:schemeClr val="dk2"/>
                </a:solidFill>
              </a:rPr>
              <a:t> subconjuntos queremos agrupar nuestros datos</a:t>
            </a:r>
            <a:r>
              <a:rPr b="1" lang="es" sz="1700">
                <a:solidFill>
                  <a:schemeClr val="dk2"/>
                </a:solidFill>
              </a:rPr>
              <a:t>. </a:t>
            </a:r>
            <a:r>
              <a:rPr i="1" lang="es" sz="1700">
                <a:solidFill>
                  <a:schemeClr val="dk2"/>
                </a:solidFill>
              </a:rPr>
              <a:t>Esta es una decisión que tenemos que tomar nosotrxs, antes de que el algoritmo comience a funcionar.</a:t>
            </a:r>
            <a:endParaRPr i="1" sz="17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s">
                <a:solidFill>
                  <a:schemeClr val="dk2"/>
                </a:solidFill>
              </a:rPr>
              <a:t>[k =  cantidad de grupos en los que se dividirá el conjunto de datos]</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t/>
            </a:r>
            <a:endParaRPr sz="1300">
              <a:solidFill>
                <a:schemeClr val="dk2"/>
              </a:solidFill>
            </a:endParaRPr>
          </a:p>
          <a:p>
            <a:pPr indent="0" lvl="0" marL="0" rtl="0" algn="l">
              <a:spcBef>
                <a:spcPts val="0"/>
              </a:spcBef>
              <a:spcAft>
                <a:spcPts val="0"/>
              </a:spcAft>
              <a:buClr>
                <a:schemeClr val="dk1"/>
              </a:buClr>
              <a:buSzPts val="1100"/>
              <a:buFont typeface="Arial"/>
              <a:buNone/>
            </a:pPr>
            <a:r>
              <a:rPr b="1" lang="es" sz="1700">
                <a:solidFill>
                  <a:schemeClr val="dk2"/>
                </a:solidFill>
                <a:highlight>
                  <a:srgbClr val="CFE2F3"/>
                </a:highlight>
              </a:rPr>
              <a:t>PASO 2</a:t>
            </a:r>
            <a:r>
              <a:rPr b="1" lang="es" sz="1700">
                <a:solidFill>
                  <a:schemeClr val="dk2"/>
                </a:solidFill>
              </a:rPr>
              <a:t> - Inicialización de los centroides. </a:t>
            </a:r>
            <a:endParaRPr sz="1700">
              <a:solidFill>
                <a:schemeClr val="dk2"/>
              </a:solidFill>
            </a:endParaRPr>
          </a:p>
          <a:p>
            <a:pPr indent="0" lvl="0" marL="0" rtl="0" algn="l">
              <a:spcBef>
                <a:spcPts val="0"/>
              </a:spcBef>
              <a:spcAft>
                <a:spcPts val="0"/>
              </a:spcAft>
              <a:buClr>
                <a:schemeClr val="dk1"/>
              </a:buClr>
              <a:buSzPts val="1100"/>
              <a:buFont typeface="Arial"/>
              <a:buNone/>
            </a:pPr>
            <a:r>
              <a:rPr lang="es" sz="1700">
                <a:solidFill>
                  <a:schemeClr val="dk2"/>
                </a:solidFill>
              </a:rPr>
              <a:t>El algoritmo elige </a:t>
            </a:r>
            <a:r>
              <a:rPr b="1" lang="es" sz="1700">
                <a:solidFill>
                  <a:schemeClr val="dk2"/>
                </a:solidFill>
              </a:rPr>
              <a:t>aleatoriamente</a:t>
            </a:r>
            <a:r>
              <a:rPr lang="es" sz="1700">
                <a:solidFill>
                  <a:schemeClr val="dk2"/>
                </a:solidFill>
              </a:rPr>
              <a:t> k casos del conjunto de datos como </a:t>
            </a:r>
            <a:r>
              <a:rPr b="1" lang="es" sz="1700">
                <a:solidFill>
                  <a:schemeClr val="dk2"/>
                </a:solidFill>
              </a:rPr>
              <a:t>centroides iniciales</a:t>
            </a:r>
            <a:r>
              <a:rPr lang="es" sz="1700">
                <a:solidFill>
                  <a:schemeClr val="dk2"/>
                </a:solidFill>
              </a:rPr>
              <a:t>. Cada uno de estos centroides representa el centro de un clúster. </a:t>
            </a:r>
            <a:endParaRPr sz="13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0"/>
          <p:cNvSpPr txBox="1"/>
          <p:nvPr/>
        </p:nvSpPr>
        <p:spPr>
          <a:xfrm>
            <a:off x="381000" y="273850"/>
            <a:ext cx="70386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2800">
                <a:solidFill>
                  <a:srgbClr val="0000FF"/>
                </a:solidFill>
              </a:rPr>
              <a:t>K-means (K-medias)</a:t>
            </a:r>
            <a:endParaRPr b="1" sz="2500">
              <a:solidFill>
                <a:srgbClr val="0000FF"/>
              </a:solidFill>
            </a:endParaRPr>
          </a:p>
        </p:txBody>
      </p:sp>
      <p:sp>
        <p:nvSpPr>
          <p:cNvPr id="104" name="Google Shape;104;p20"/>
          <p:cNvSpPr txBox="1"/>
          <p:nvPr/>
        </p:nvSpPr>
        <p:spPr>
          <a:xfrm>
            <a:off x="381000" y="994500"/>
            <a:ext cx="5715000" cy="67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100">
                <a:solidFill>
                  <a:schemeClr val="dk2"/>
                </a:solidFill>
              </a:rPr>
              <a:t>¿Cómo funciona el algoritmo?</a:t>
            </a:r>
            <a:endParaRPr sz="2100">
              <a:solidFill>
                <a:schemeClr val="dk2"/>
              </a:solidFill>
            </a:endParaRPr>
          </a:p>
        </p:txBody>
      </p:sp>
      <p:sp>
        <p:nvSpPr>
          <p:cNvPr id="105" name="Google Shape;105;p20"/>
          <p:cNvSpPr txBox="1"/>
          <p:nvPr/>
        </p:nvSpPr>
        <p:spPr>
          <a:xfrm>
            <a:off x="434525" y="1611475"/>
            <a:ext cx="8013000" cy="153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700">
                <a:solidFill>
                  <a:schemeClr val="dk2"/>
                </a:solidFill>
                <a:highlight>
                  <a:srgbClr val="CFE2F3"/>
                </a:highlight>
              </a:rPr>
              <a:t>PASO 3</a:t>
            </a:r>
            <a:r>
              <a:rPr b="1" lang="es" sz="1700">
                <a:solidFill>
                  <a:schemeClr val="dk2"/>
                </a:solidFill>
              </a:rPr>
              <a:t> - Asignación de casos a los centroides.</a:t>
            </a:r>
            <a:endParaRPr b="1" sz="1700">
              <a:solidFill>
                <a:schemeClr val="dk2"/>
              </a:solidFill>
            </a:endParaRPr>
          </a:p>
          <a:p>
            <a:pPr indent="0" lvl="0" marL="0" rtl="0" algn="l">
              <a:spcBef>
                <a:spcPts val="0"/>
              </a:spcBef>
              <a:spcAft>
                <a:spcPts val="0"/>
              </a:spcAft>
              <a:buNone/>
            </a:pPr>
            <a:r>
              <a:rPr lang="es" sz="1700">
                <a:solidFill>
                  <a:schemeClr val="dk2"/>
                </a:solidFill>
              </a:rPr>
              <a:t>Cada punto del conjunto de datos se asigna al </a:t>
            </a:r>
            <a:r>
              <a:rPr lang="es" sz="1700">
                <a:solidFill>
                  <a:schemeClr val="dk2"/>
                </a:solidFill>
              </a:rPr>
              <a:t>cluster</a:t>
            </a:r>
            <a:r>
              <a:rPr lang="es" sz="1700">
                <a:solidFill>
                  <a:schemeClr val="dk2"/>
                </a:solidFill>
              </a:rPr>
              <a:t> </a:t>
            </a:r>
            <a:r>
              <a:rPr b="1" lang="es" sz="1700">
                <a:solidFill>
                  <a:schemeClr val="dk2"/>
                </a:solidFill>
              </a:rPr>
              <a:t>cuyo centroide esté más cerca</a:t>
            </a:r>
            <a:r>
              <a:rPr lang="es" sz="1700">
                <a:solidFill>
                  <a:schemeClr val="dk2"/>
                </a:solidFill>
              </a:rPr>
              <a:t>. </a:t>
            </a:r>
            <a:r>
              <a:rPr lang="es" sz="1700">
                <a:solidFill>
                  <a:schemeClr val="dk2"/>
                </a:solidFill>
              </a:rPr>
              <a:t>La “cercanía” se mide típicamente con la </a:t>
            </a:r>
            <a:r>
              <a:rPr b="1" lang="es" sz="1700">
                <a:solidFill>
                  <a:schemeClr val="dk2"/>
                </a:solidFill>
              </a:rPr>
              <a:t>distancia euclidiana.</a:t>
            </a:r>
            <a:endParaRPr b="1" sz="1700">
              <a:solidFill>
                <a:schemeClr val="dk2"/>
              </a:solidFill>
            </a:endParaRPr>
          </a:p>
          <a:p>
            <a:pPr indent="0" lvl="0" marL="0" rtl="0" algn="l">
              <a:spcBef>
                <a:spcPts val="0"/>
              </a:spcBef>
              <a:spcAft>
                <a:spcPts val="0"/>
              </a:spcAft>
              <a:buNone/>
            </a:pPr>
            <a:r>
              <a:t/>
            </a:r>
            <a:endParaRPr b="1" sz="1700">
              <a:solidFill>
                <a:srgbClr val="6AA84F"/>
              </a:solidFill>
            </a:endParaRPr>
          </a:p>
          <a:p>
            <a:pPr indent="0" lvl="0" marL="0" rtl="0" algn="l">
              <a:spcBef>
                <a:spcPts val="0"/>
              </a:spcBef>
              <a:spcAft>
                <a:spcPts val="0"/>
              </a:spcAft>
              <a:buNone/>
            </a:pPr>
            <a:r>
              <a:rPr b="1" lang="es" sz="1700">
                <a:solidFill>
                  <a:srgbClr val="6AA84F"/>
                </a:solidFill>
              </a:rPr>
              <a:t>La distancia euclidiana nos permite calcular qué tan cerca o lejos está un punto del centroide.</a:t>
            </a:r>
            <a:endParaRPr b="1" sz="1700">
              <a:solidFill>
                <a:srgbClr val="6AA84F"/>
              </a:solidFill>
            </a:endParaRPr>
          </a:p>
          <a:p>
            <a:pPr indent="0" lvl="0" marL="0" rtl="0" algn="l">
              <a:spcBef>
                <a:spcPts val="0"/>
              </a:spcBef>
              <a:spcAft>
                <a:spcPts val="0"/>
              </a:spcAft>
              <a:buNone/>
            </a:pPr>
            <a:r>
              <a:t/>
            </a:r>
            <a:endParaRPr b="1" sz="1700">
              <a:solidFill>
                <a:schemeClr val="dk2"/>
              </a:solidFill>
            </a:endParaRPr>
          </a:p>
        </p:txBody>
      </p:sp>
      <p:pic>
        <p:nvPicPr>
          <p:cNvPr id="106" name="Google Shape;106;p20"/>
          <p:cNvPicPr preferRelativeResize="0"/>
          <p:nvPr/>
        </p:nvPicPr>
        <p:blipFill>
          <a:blip r:embed="rId3">
            <a:alphaModFix/>
          </a:blip>
          <a:stretch>
            <a:fillRect/>
          </a:stretch>
        </p:blipFill>
        <p:spPr>
          <a:xfrm>
            <a:off x="592925" y="3442750"/>
            <a:ext cx="2838450" cy="895350"/>
          </a:xfrm>
          <a:prstGeom prst="rect">
            <a:avLst/>
          </a:prstGeom>
          <a:noFill/>
          <a:ln cap="flat" cmpd="sng" w="9525">
            <a:solidFill>
              <a:srgbClr val="6AA84F"/>
            </a:solidFill>
            <a:prstDash val="solid"/>
            <a:round/>
            <a:headEnd len="sm" w="sm" type="none"/>
            <a:tailEnd len="sm" w="sm" type="none"/>
          </a:ln>
        </p:spPr>
      </p:pic>
      <p:sp>
        <p:nvSpPr>
          <p:cNvPr id="107" name="Google Shape;107;p20"/>
          <p:cNvSpPr txBox="1"/>
          <p:nvPr/>
        </p:nvSpPr>
        <p:spPr>
          <a:xfrm>
            <a:off x="3847775" y="3147475"/>
            <a:ext cx="4417200" cy="136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dk2"/>
                </a:solidFill>
              </a:rPr>
              <a:t>Donde:</a:t>
            </a:r>
            <a:endParaRPr>
              <a:solidFill>
                <a:schemeClr val="dk2"/>
              </a:solidFill>
            </a:endParaRPr>
          </a:p>
          <a:p>
            <a:pPr indent="-317500" lvl="0" marL="457200" rtl="0" algn="l">
              <a:spcBef>
                <a:spcPts val="0"/>
              </a:spcBef>
              <a:spcAft>
                <a:spcPts val="0"/>
              </a:spcAft>
              <a:buClr>
                <a:schemeClr val="dk2"/>
              </a:buClr>
              <a:buSzPts val="1400"/>
              <a:buChar char="-"/>
            </a:pPr>
            <a:r>
              <a:rPr b="1" lang="es">
                <a:solidFill>
                  <a:schemeClr val="dk2"/>
                </a:solidFill>
              </a:rPr>
              <a:t>xi</a:t>
            </a:r>
            <a:r>
              <a:rPr lang="es">
                <a:solidFill>
                  <a:schemeClr val="dk2"/>
                </a:solidFill>
              </a:rPr>
              <a:t> representa una observación del conjunto de datos (una fila de mi </a:t>
            </a:r>
            <a:r>
              <a:rPr lang="es">
                <a:solidFill>
                  <a:schemeClr val="dk2"/>
                </a:solidFill>
              </a:rPr>
              <a:t>dataset</a:t>
            </a:r>
            <a:r>
              <a:rPr lang="es">
                <a:solidFill>
                  <a:schemeClr val="dk2"/>
                </a:solidFill>
              </a:rPr>
              <a:t>) </a:t>
            </a:r>
            <a:endParaRPr>
              <a:solidFill>
                <a:schemeClr val="dk2"/>
              </a:solidFill>
            </a:endParaRPr>
          </a:p>
          <a:p>
            <a:pPr indent="-317500" lvl="0" marL="457200" rtl="0" algn="l">
              <a:spcBef>
                <a:spcPts val="0"/>
              </a:spcBef>
              <a:spcAft>
                <a:spcPts val="0"/>
              </a:spcAft>
              <a:buClr>
                <a:schemeClr val="dk2"/>
              </a:buClr>
              <a:buSzPts val="1400"/>
              <a:buChar char="-"/>
            </a:pPr>
            <a:r>
              <a:rPr b="1" lang="es">
                <a:solidFill>
                  <a:schemeClr val="dk2"/>
                </a:solidFill>
              </a:rPr>
              <a:t>cj</a:t>
            </a:r>
            <a:r>
              <a:rPr lang="es">
                <a:solidFill>
                  <a:schemeClr val="dk2"/>
                </a:solidFill>
              </a:rPr>
              <a:t> representa el centroide de un clúster, es decir, la observación que se considera el “centro” del clúster.</a:t>
            </a:r>
            <a:endParaRPr>
              <a:solidFill>
                <a:schemeClr val="dk2"/>
              </a:solidFill>
            </a:endParaRPr>
          </a:p>
          <a:p>
            <a:pPr indent="-317500" lvl="0" marL="457200" rtl="0" algn="l">
              <a:spcBef>
                <a:spcPts val="0"/>
              </a:spcBef>
              <a:spcAft>
                <a:spcPts val="0"/>
              </a:spcAft>
              <a:buClr>
                <a:schemeClr val="dk2"/>
              </a:buClr>
              <a:buSzPts val="1400"/>
              <a:buChar char="-"/>
            </a:pPr>
            <a:r>
              <a:rPr b="1" lang="es">
                <a:solidFill>
                  <a:schemeClr val="dk2"/>
                </a:solidFill>
              </a:rPr>
              <a:t>N</a:t>
            </a:r>
            <a:r>
              <a:rPr lang="es">
                <a:solidFill>
                  <a:schemeClr val="dk2"/>
                </a:solidFill>
              </a:rPr>
              <a:t> es el número de variables.</a:t>
            </a:r>
            <a:endParaRPr>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1"/>
          <p:cNvSpPr txBox="1"/>
          <p:nvPr/>
        </p:nvSpPr>
        <p:spPr>
          <a:xfrm>
            <a:off x="381000" y="273850"/>
            <a:ext cx="70386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2800">
                <a:solidFill>
                  <a:srgbClr val="0000FF"/>
                </a:solidFill>
              </a:rPr>
              <a:t>K-means (K-medias)</a:t>
            </a:r>
            <a:endParaRPr b="1" sz="2500">
              <a:solidFill>
                <a:srgbClr val="0000FF"/>
              </a:solidFill>
            </a:endParaRPr>
          </a:p>
        </p:txBody>
      </p:sp>
      <p:sp>
        <p:nvSpPr>
          <p:cNvPr id="113" name="Google Shape;113;p21"/>
          <p:cNvSpPr txBox="1"/>
          <p:nvPr/>
        </p:nvSpPr>
        <p:spPr>
          <a:xfrm>
            <a:off x="381000" y="1099550"/>
            <a:ext cx="5715000" cy="67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100">
                <a:solidFill>
                  <a:schemeClr val="dk2"/>
                </a:solidFill>
              </a:rPr>
              <a:t>¿Cómo funciona el algoritmo?</a:t>
            </a:r>
            <a:endParaRPr sz="2100">
              <a:solidFill>
                <a:schemeClr val="dk2"/>
              </a:solidFill>
            </a:endParaRPr>
          </a:p>
        </p:txBody>
      </p:sp>
      <p:sp>
        <p:nvSpPr>
          <p:cNvPr id="114" name="Google Shape;114;p21"/>
          <p:cNvSpPr txBox="1"/>
          <p:nvPr/>
        </p:nvSpPr>
        <p:spPr>
          <a:xfrm>
            <a:off x="502100" y="1885375"/>
            <a:ext cx="8013000" cy="129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700">
                <a:solidFill>
                  <a:schemeClr val="dk2"/>
                </a:solidFill>
                <a:highlight>
                  <a:srgbClr val="CFE2F3"/>
                </a:highlight>
              </a:rPr>
              <a:t>PASO 4</a:t>
            </a:r>
            <a:r>
              <a:rPr b="1" lang="es" sz="1700">
                <a:solidFill>
                  <a:schemeClr val="dk2"/>
                </a:solidFill>
              </a:rPr>
              <a:t> - </a:t>
            </a:r>
            <a:r>
              <a:rPr b="1" lang="es" sz="1700">
                <a:solidFill>
                  <a:schemeClr val="dk2"/>
                </a:solidFill>
              </a:rPr>
              <a:t>Recalcular los centroides. </a:t>
            </a:r>
            <a:endParaRPr b="1" sz="1700">
              <a:solidFill>
                <a:schemeClr val="dk2"/>
              </a:solidFill>
            </a:endParaRPr>
          </a:p>
          <a:p>
            <a:pPr indent="0" lvl="0" marL="0" rtl="0" algn="l">
              <a:spcBef>
                <a:spcPts val="0"/>
              </a:spcBef>
              <a:spcAft>
                <a:spcPts val="0"/>
              </a:spcAft>
              <a:buNone/>
            </a:pPr>
            <a:r>
              <a:rPr lang="es" sz="1700">
                <a:solidFill>
                  <a:schemeClr val="dk2"/>
                </a:solidFill>
              </a:rPr>
              <a:t>Después de que cada punto ha sido asignado a un clúster, se recalcula el centroide de cada clúster. </a:t>
            </a:r>
            <a:r>
              <a:rPr b="1" lang="es" sz="1700">
                <a:solidFill>
                  <a:schemeClr val="dk2"/>
                </a:solidFill>
              </a:rPr>
              <a:t>El nuevo centroide es la media aritmética (el promedio) de todos los puntos asignados al clúster.</a:t>
            </a:r>
            <a:endParaRPr b="1" sz="1700">
              <a:solidFill>
                <a:schemeClr val="dk2"/>
              </a:solidFill>
            </a:endParaRPr>
          </a:p>
          <a:p>
            <a:pPr indent="0" lvl="0" marL="0" rtl="0" algn="l">
              <a:spcBef>
                <a:spcPts val="0"/>
              </a:spcBef>
              <a:spcAft>
                <a:spcPts val="0"/>
              </a:spcAft>
              <a:buNone/>
            </a:pPr>
            <a:r>
              <a:t/>
            </a:r>
            <a:endParaRPr b="1" sz="1700">
              <a:solidFill>
                <a:schemeClr val="dk2"/>
              </a:solidFill>
            </a:endParaRPr>
          </a:p>
          <a:p>
            <a:pPr indent="0" lvl="0" marL="0" rtl="0" algn="l">
              <a:spcBef>
                <a:spcPts val="0"/>
              </a:spcBef>
              <a:spcAft>
                <a:spcPts val="0"/>
              </a:spcAft>
              <a:buNone/>
            </a:pPr>
            <a:r>
              <a:rPr i="1" lang="es" sz="1700">
                <a:solidFill>
                  <a:schemeClr val="dk2"/>
                </a:solidFill>
              </a:rPr>
              <a:t>Notemos que este nuevo centroide ya no es una fila específica de mi dataset. Podemos pensarlo como una fila que tendrá en cada columna el valor promedio de las filas que forman parte de ese cluster.  </a:t>
            </a:r>
            <a:endParaRPr i="1" sz="17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2"/>
          <p:cNvSpPr txBox="1"/>
          <p:nvPr/>
        </p:nvSpPr>
        <p:spPr>
          <a:xfrm>
            <a:off x="381000" y="273850"/>
            <a:ext cx="70386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2800">
                <a:solidFill>
                  <a:srgbClr val="0000FF"/>
                </a:solidFill>
              </a:rPr>
              <a:t>K-means (K-medias)</a:t>
            </a:r>
            <a:endParaRPr b="1" sz="2500">
              <a:solidFill>
                <a:srgbClr val="0000FF"/>
              </a:solidFill>
            </a:endParaRPr>
          </a:p>
        </p:txBody>
      </p:sp>
      <p:sp>
        <p:nvSpPr>
          <p:cNvPr id="120" name="Google Shape;120;p22"/>
          <p:cNvSpPr txBox="1"/>
          <p:nvPr/>
        </p:nvSpPr>
        <p:spPr>
          <a:xfrm>
            <a:off x="381000" y="1099550"/>
            <a:ext cx="5715000" cy="67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100">
                <a:solidFill>
                  <a:schemeClr val="dk2"/>
                </a:solidFill>
              </a:rPr>
              <a:t>¿Cómo funciona el algoritmo?</a:t>
            </a:r>
            <a:endParaRPr sz="2100">
              <a:solidFill>
                <a:schemeClr val="dk2"/>
              </a:solidFill>
            </a:endParaRPr>
          </a:p>
        </p:txBody>
      </p:sp>
      <p:sp>
        <p:nvSpPr>
          <p:cNvPr id="121" name="Google Shape;121;p22"/>
          <p:cNvSpPr txBox="1"/>
          <p:nvPr/>
        </p:nvSpPr>
        <p:spPr>
          <a:xfrm>
            <a:off x="502100" y="1885375"/>
            <a:ext cx="8013000" cy="129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700">
                <a:solidFill>
                  <a:schemeClr val="dk2"/>
                </a:solidFill>
                <a:highlight>
                  <a:srgbClr val="CFE2F3"/>
                </a:highlight>
              </a:rPr>
              <a:t>PASO 5</a:t>
            </a:r>
            <a:r>
              <a:rPr b="1" lang="es" sz="1700">
                <a:solidFill>
                  <a:schemeClr val="dk2"/>
                </a:solidFill>
              </a:rPr>
              <a:t> - Repetir los PASOS 3 Y 4. </a:t>
            </a:r>
            <a:endParaRPr b="1" sz="1700">
              <a:solidFill>
                <a:schemeClr val="dk2"/>
              </a:solidFill>
            </a:endParaRPr>
          </a:p>
          <a:p>
            <a:pPr indent="0" lvl="0" marL="0" rtl="0" algn="l">
              <a:spcBef>
                <a:spcPts val="0"/>
              </a:spcBef>
              <a:spcAft>
                <a:spcPts val="0"/>
              </a:spcAft>
              <a:buNone/>
            </a:pPr>
            <a:r>
              <a:rPr lang="es" sz="1700">
                <a:solidFill>
                  <a:schemeClr val="dk2"/>
                </a:solidFill>
              </a:rPr>
              <a:t>Los pasos de </a:t>
            </a:r>
            <a:r>
              <a:rPr b="1" lang="es" sz="1700">
                <a:solidFill>
                  <a:schemeClr val="dk2"/>
                </a:solidFill>
              </a:rPr>
              <a:t>asignación de casos</a:t>
            </a:r>
            <a:r>
              <a:rPr lang="es" sz="1700">
                <a:solidFill>
                  <a:schemeClr val="dk2"/>
                </a:solidFill>
              </a:rPr>
              <a:t> y </a:t>
            </a:r>
            <a:r>
              <a:rPr b="1" lang="es" sz="1700">
                <a:solidFill>
                  <a:schemeClr val="dk2"/>
                </a:solidFill>
              </a:rPr>
              <a:t>recalculo de centroides</a:t>
            </a:r>
            <a:r>
              <a:rPr lang="es" sz="1700">
                <a:solidFill>
                  <a:schemeClr val="dk2"/>
                </a:solidFill>
              </a:rPr>
              <a:t> se repiten de forma iterativa hasta que se cumpla alguna de las siguientes condiciones:</a:t>
            </a:r>
            <a:endParaRPr sz="1700">
              <a:solidFill>
                <a:schemeClr val="dk2"/>
              </a:solidFill>
            </a:endParaRPr>
          </a:p>
          <a:p>
            <a:pPr indent="0" lvl="0" marL="0" rtl="0" algn="l">
              <a:spcBef>
                <a:spcPts val="0"/>
              </a:spcBef>
              <a:spcAft>
                <a:spcPts val="0"/>
              </a:spcAft>
              <a:buNone/>
            </a:pPr>
            <a:r>
              <a:t/>
            </a:r>
            <a:endParaRPr sz="1700">
              <a:solidFill>
                <a:schemeClr val="dk2"/>
              </a:solidFill>
            </a:endParaRPr>
          </a:p>
          <a:p>
            <a:pPr indent="-336550" lvl="0" marL="457200" rtl="0" algn="l">
              <a:spcBef>
                <a:spcPts val="0"/>
              </a:spcBef>
              <a:spcAft>
                <a:spcPts val="0"/>
              </a:spcAft>
              <a:buClr>
                <a:schemeClr val="dk2"/>
              </a:buClr>
              <a:buSzPts val="1700"/>
              <a:buChar char="●"/>
            </a:pPr>
            <a:r>
              <a:rPr b="1" lang="es" sz="1700">
                <a:solidFill>
                  <a:schemeClr val="dk2"/>
                </a:solidFill>
              </a:rPr>
              <a:t>Convergencia:</a:t>
            </a:r>
            <a:r>
              <a:rPr lang="es" sz="1700">
                <a:solidFill>
                  <a:schemeClr val="dk2"/>
                </a:solidFill>
              </a:rPr>
              <a:t> Los centroides ya no cambian o los cambios son muy pequeños.</a:t>
            </a:r>
            <a:endParaRPr sz="1700">
              <a:solidFill>
                <a:schemeClr val="dk2"/>
              </a:solidFill>
            </a:endParaRPr>
          </a:p>
          <a:p>
            <a:pPr indent="-336550" lvl="0" marL="457200" rtl="0" algn="l">
              <a:spcBef>
                <a:spcPts val="0"/>
              </a:spcBef>
              <a:spcAft>
                <a:spcPts val="0"/>
              </a:spcAft>
              <a:buClr>
                <a:schemeClr val="dk2"/>
              </a:buClr>
              <a:buSzPts val="1700"/>
              <a:buChar char="●"/>
            </a:pPr>
            <a:r>
              <a:rPr b="1" lang="es" sz="1700">
                <a:solidFill>
                  <a:schemeClr val="dk2"/>
                </a:solidFill>
              </a:rPr>
              <a:t>Número máximo de iteraciones:</a:t>
            </a:r>
            <a:r>
              <a:rPr lang="es" sz="1700">
                <a:solidFill>
                  <a:schemeClr val="dk2"/>
                </a:solidFill>
              </a:rPr>
              <a:t> Se llega a un número límite de iteraciones predefinido. </a:t>
            </a:r>
            <a:endParaRPr sz="1700">
              <a:solidFill>
                <a:schemeClr val="dk2"/>
              </a:solidFill>
            </a:endParaRPr>
          </a:p>
          <a:p>
            <a:pPr indent="0" lvl="0" marL="0" rtl="0" algn="l">
              <a:spcBef>
                <a:spcPts val="0"/>
              </a:spcBef>
              <a:spcAft>
                <a:spcPts val="0"/>
              </a:spcAft>
              <a:buNone/>
            </a:pPr>
            <a:r>
              <a:rPr i="1" lang="es" sz="1700">
                <a:solidFill>
                  <a:schemeClr val="dk2"/>
                </a:solidFill>
              </a:rPr>
              <a:t> </a:t>
            </a:r>
            <a:endParaRPr i="1" sz="1700">
              <a:solidFill>
                <a:schemeClr val="dk2"/>
              </a:solidFill>
            </a:endParaRPr>
          </a:p>
          <a:p>
            <a:pPr indent="0" lvl="0" marL="0" rtl="0" algn="l">
              <a:spcBef>
                <a:spcPts val="0"/>
              </a:spcBef>
              <a:spcAft>
                <a:spcPts val="0"/>
              </a:spcAft>
              <a:buNone/>
            </a:pPr>
            <a:r>
              <a:rPr i="1" lang="es" sz="1700">
                <a:solidFill>
                  <a:schemeClr val="dk2"/>
                </a:solidFill>
              </a:rPr>
              <a:t>Los centroides finales </a:t>
            </a:r>
            <a:r>
              <a:rPr i="1" lang="es" sz="1700">
                <a:solidFill>
                  <a:schemeClr val="dk2"/>
                </a:solidFill>
              </a:rPr>
              <a:t>representarán</a:t>
            </a:r>
            <a:r>
              <a:rPr i="1" lang="es" sz="1700">
                <a:solidFill>
                  <a:schemeClr val="dk2"/>
                </a:solidFill>
              </a:rPr>
              <a:t> los centros óptimos de cada clúster.</a:t>
            </a:r>
            <a:endParaRPr i="1" sz="1700">
              <a:solidFill>
                <a:schemeClr val="dk2"/>
              </a:solidFill>
            </a:endParaRPr>
          </a:p>
          <a:p>
            <a:pPr indent="0" lvl="0" marL="0" rtl="0" algn="l">
              <a:spcBef>
                <a:spcPts val="0"/>
              </a:spcBef>
              <a:spcAft>
                <a:spcPts val="0"/>
              </a:spcAft>
              <a:buNone/>
            </a:pPr>
            <a:r>
              <a:t/>
            </a:r>
            <a:endParaRPr i="1" sz="17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pic>
        <p:nvPicPr>
          <p:cNvPr id="126" name="Google Shape;126;p23"/>
          <p:cNvPicPr preferRelativeResize="0"/>
          <p:nvPr/>
        </p:nvPicPr>
        <p:blipFill>
          <a:blip r:embed="rId3">
            <a:alphaModFix/>
          </a:blip>
          <a:stretch>
            <a:fillRect/>
          </a:stretch>
        </p:blipFill>
        <p:spPr>
          <a:xfrm>
            <a:off x="152400" y="152400"/>
            <a:ext cx="5399076" cy="33403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pic>
        <p:nvPicPr>
          <p:cNvPr id="131" name="Google Shape;131;p24"/>
          <p:cNvPicPr preferRelativeResize="0"/>
          <p:nvPr/>
        </p:nvPicPr>
        <p:blipFill>
          <a:blip r:embed="rId3">
            <a:alphaModFix/>
          </a:blip>
          <a:stretch>
            <a:fillRect/>
          </a:stretch>
        </p:blipFill>
        <p:spPr>
          <a:xfrm>
            <a:off x="152400" y="152400"/>
            <a:ext cx="5933749" cy="29255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pic>
        <p:nvPicPr>
          <p:cNvPr id="136" name="Google Shape;136;p25"/>
          <p:cNvPicPr preferRelativeResize="0"/>
          <p:nvPr/>
        </p:nvPicPr>
        <p:blipFill>
          <a:blip r:embed="rId3">
            <a:alphaModFix/>
          </a:blip>
          <a:stretch>
            <a:fillRect/>
          </a:stretch>
        </p:blipFill>
        <p:spPr>
          <a:xfrm>
            <a:off x="152400" y="152400"/>
            <a:ext cx="5933749" cy="29255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pic>
        <p:nvPicPr>
          <p:cNvPr id="141" name="Google Shape;141;p26"/>
          <p:cNvPicPr preferRelativeResize="0"/>
          <p:nvPr/>
        </p:nvPicPr>
        <p:blipFill>
          <a:blip r:embed="rId3">
            <a:alphaModFix/>
          </a:blip>
          <a:stretch>
            <a:fillRect/>
          </a:stretch>
        </p:blipFill>
        <p:spPr>
          <a:xfrm>
            <a:off x="152375" y="188125"/>
            <a:ext cx="8260574" cy="28640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pic>
        <p:nvPicPr>
          <p:cNvPr id="146" name="Google Shape;146;p27"/>
          <p:cNvPicPr preferRelativeResize="0"/>
          <p:nvPr/>
        </p:nvPicPr>
        <p:blipFill>
          <a:blip r:embed="rId3">
            <a:alphaModFix/>
          </a:blip>
          <a:stretch>
            <a:fillRect/>
          </a:stretch>
        </p:blipFill>
        <p:spPr>
          <a:xfrm>
            <a:off x="152400" y="152400"/>
            <a:ext cx="8691612" cy="483870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pic>
        <p:nvPicPr>
          <p:cNvPr id="151" name="Google Shape;151;p28"/>
          <p:cNvPicPr preferRelativeResize="0"/>
          <p:nvPr/>
        </p:nvPicPr>
        <p:blipFill>
          <a:blip r:embed="rId3">
            <a:alphaModFix/>
          </a:blip>
          <a:stretch>
            <a:fillRect/>
          </a:stretch>
        </p:blipFill>
        <p:spPr>
          <a:xfrm>
            <a:off x="152400" y="152400"/>
            <a:ext cx="8675097" cy="483869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p29"/>
          <p:cNvPicPr preferRelativeResize="0"/>
          <p:nvPr/>
        </p:nvPicPr>
        <p:blipFill>
          <a:blip r:embed="rId3">
            <a:alphaModFix/>
          </a:blip>
          <a:stretch>
            <a:fillRect/>
          </a:stretch>
        </p:blipFill>
        <p:spPr>
          <a:xfrm>
            <a:off x="152400" y="152400"/>
            <a:ext cx="8613570" cy="483869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30"/>
          <p:cNvSpPr txBox="1"/>
          <p:nvPr/>
        </p:nvSpPr>
        <p:spPr>
          <a:xfrm>
            <a:off x="381000" y="273850"/>
            <a:ext cx="75459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2800">
                <a:solidFill>
                  <a:srgbClr val="0000FF"/>
                </a:solidFill>
              </a:rPr>
              <a:t>¿Qué propiedades tienen los clusters?</a:t>
            </a:r>
            <a:endParaRPr b="1" sz="2500">
              <a:solidFill>
                <a:srgbClr val="0000FF"/>
              </a:solidFill>
            </a:endParaRPr>
          </a:p>
        </p:txBody>
      </p:sp>
      <p:sp>
        <p:nvSpPr>
          <p:cNvPr id="162" name="Google Shape;162;p30"/>
          <p:cNvSpPr txBox="1"/>
          <p:nvPr/>
        </p:nvSpPr>
        <p:spPr>
          <a:xfrm>
            <a:off x="510175" y="1071300"/>
            <a:ext cx="7962900" cy="952500"/>
          </a:xfrm>
          <a:prstGeom prst="rect">
            <a:avLst/>
          </a:prstGeom>
          <a:noFill/>
          <a:ln>
            <a:noFill/>
          </a:ln>
        </p:spPr>
        <p:txBody>
          <a:bodyPr anchorCtr="0" anchor="t" bIns="91425" lIns="91425" spcFirstLastPara="1" rIns="91425" wrap="square" tIns="91425">
            <a:noAutofit/>
          </a:bodyPr>
          <a:lstStyle/>
          <a:p>
            <a:pPr indent="0" lvl="0" marL="12700" rtl="0" algn="l">
              <a:lnSpc>
                <a:spcPct val="115000"/>
              </a:lnSpc>
              <a:spcBef>
                <a:spcPts val="0"/>
              </a:spcBef>
              <a:spcAft>
                <a:spcPts val="0"/>
              </a:spcAft>
              <a:buNone/>
            </a:pPr>
            <a:r>
              <a:rPr lang="es" sz="2100">
                <a:solidFill>
                  <a:schemeClr val="dk2"/>
                </a:solidFill>
              </a:rPr>
              <a:t>Tenemos K grupos C</a:t>
            </a:r>
            <a:r>
              <a:rPr baseline="-25000" lang="es" sz="2400">
                <a:solidFill>
                  <a:schemeClr val="dk2"/>
                </a:solidFill>
              </a:rPr>
              <a:t>1</a:t>
            </a:r>
            <a:r>
              <a:rPr lang="es" sz="2100">
                <a:solidFill>
                  <a:schemeClr val="dk2"/>
                </a:solidFill>
              </a:rPr>
              <a:t>, C</a:t>
            </a:r>
            <a:r>
              <a:rPr baseline="-25000" lang="es" sz="2300">
                <a:solidFill>
                  <a:schemeClr val="dk2"/>
                </a:solidFill>
              </a:rPr>
              <a:t>2</a:t>
            </a:r>
            <a:r>
              <a:rPr lang="es" sz="2100">
                <a:solidFill>
                  <a:schemeClr val="dk2"/>
                </a:solidFill>
              </a:rPr>
              <a:t>,..., C</a:t>
            </a:r>
            <a:r>
              <a:rPr baseline="-25000" lang="es" sz="2300">
                <a:solidFill>
                  <a:schemeClr val="dk2"/>
                </a:solidFill>
              </a:rPr>
              <a:t>K.</a:t>
            </a:r>
            <a:endParaRPr baseline="-25000" sz="2300">
              <a:solidFill>
                <a:schemeClr val="dk2"/>
              </a:solidFill>
            </a:endParaRPr>
          </a:p>
          <a:p>
            <a:pPr indent="0" lvl="0" marL="12700" rtl="0" algn="l">
              <a:lnSpc>
                <a:spcPct val="115000"/>
              </a:lnSpc>
              <a:spcBef>
                <a:spcPts val="0"/>
              </a:spcBef>
              <a:spcAft>
                <a:spcPts val="0"/>
              </a:spcAft>
              <a:buNone/>
            </a:pPr>
            <a:r>
              <a:rPr b="1" lang="es" sz="2100">
                <a:solidFill>
                  <a:schemeClr val="dk2"/>
                </a:solidFill>
              </a:rPr>
              <a:t>Cada grupo tiene dos propiedades:</a:t>
            </a:r>
            <a:endParaRPr b="1" sz="2100">
              <a:solidFill>
                <a:schemeClr val="dk2"/>
              </a:solidFill>
            </a:endParaRPr>
          </a:p>
          <a:p>
            <a:pPr indent="0" lvl="0" marL="12700" rtl="0" algn="l">
              <a:lnSpc>
                <a:spcPct val="115000"/>
              </a:lnSpc>
              <a:spcBef>
                <a:spcPts val="0"/>
              </a:spcBef>
              <a:spcAft>
                <a:spcPts val="0"/>
              </a:spcAft>
              <a:buNone/>
            </a:pPr>
            <a:r>
              <a:t/>
            </a:r>
            <a:endParaRPr baseline="-25000" sz="2400">
              <a:solidFill>
                <a:schemeClr val="dk2"/>
              </a:solidFill>
            </a:endParaRPr>
          </a:p>
          <a:p>
            <a:pPr indent="0" lvl="0" marL="12700" rtl="0" algn="l">
              <a:lnSpc>
                <a:spcPct val="115000"/>
              </a:lnSpc>
              <a:spcBef>
                <a:spcPts val="0"/>
              </a:spcBef>
              <a:spcAft>
                <a:spcPts val="0"/>
              </a:spcAft>
              <a:buNone/>
            </a:pPr>
            <a:r>
              <a:t/>
            </a:r>
            <a:endParaRPr baseline="-25000" sz="2400">
              <a:solidFill>
                <a:schemeClr val="dk2"/>
              </a:solidFill>
            </a:endParaRPr>
          </a:p>
          <a:p>
            <a:pPr indent="0" lvl="0" marL="0" rtl="0" algn="l">
              <a:spcBef>
                <a:spcPts val="0"/>
              </a:spcBef>
              <a:spcAft>
                <a:spcPts val="0"/>
              </a:spcAft>
              <a:buNone/>
            </a:pPr>
            <a:r>
              <a:t/>
            </a:r>
            <a:endParaRPr sz="1800">
              <a:solidFill>
                <a:schemeClr val="dk2"/>
              </a:solidFill>
            </a:endParaRPr>
          </a:p>
        </p:txBody>
      </p:sp>
      <p:pic>
        <p:nvPicPr>
          <p:cNvPr id="163" name="Google Shape;163;p30"/>
          <p:cNvPicPr preferRelativeResize="0"/>
          <p:nvPr/>
        </p:nvPicPr>
        <p:blipFill>
          <a:blip r:embed="rId3">
            <a:alphaModFix/>
          </a:blip>
          <a:stretch>
            <a:fillRect/>
          </a:stretch>
        </p:blipFill>
        <p:spPr>
          <a:xfrm>
            <a:off x="1036138" y="2686825"/>
            <a:ext cx="4269374" cy="406950"/>
          </a:xfrm>
          <a:prstGeom prst="rect">
            <a:avLst/>
          </a:prstGeom>
          <a:noFill/>
          <a:ln>
            <a:noFill/>
          </a:ln>
        </p:spPr>
      </p:pic>
      <p:sp>
        <p:nvSpPr>
          <p:cNvPr id="164" name="Google Shape;164;p30"/>
          <p:cNvSpPr txBox="1"/>
          <p:nvPr/>
        </p:nvSpPr>
        <p:spPr>
          <a:xfrm>
            <a:off x="599075" y="2242225"/>
            <a:ext cx="8217000" cy="44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2"/>
                </a:solidFill>
              </a:rPr>
              <a:t>1 -</a:t>
            </a:r>
            <a:r>
              <a:rPr lang="es" sz="1800">
                <a:solidFill>
                  <a:schemeClr val="dk2"/>
                </a:solidFill>
              </a:rPr>
              <a:t> Cada caso pertenece a un cluster (es decir, no quedan casos sin agrupar)</a:t>
            </a:r>
            <a:endParaRPr sz="1800">
              <a:solidFill>
                <a:schemeClr val="dk2"/>
              </a:solidFill>
            </a:endParaRPr>
          </a:p>
        </p:txBody>
      </p:sp>
      <p:sp>
        <p:nvSpPr>
          <p:cNvPr id="165" name="Google Shape;165;p30"/>
          <p:cNvSpPr txBox="1"/>
          <p:nvPr/>
        </p:nvSpPr>
        <p:spPr>
          <a:xfrm>
            <a:off x="547175" y="3454400"/>
            <a:ext cx="5247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800">
                <a:solidFill>
                  <a:schemeClr val="dk2"/>
                </a:solidFill>
              </a:rPr>
              <a:t>2 -</a:t>
            </a:r>
            <a:r>
              <a:rPr lang="es" sz="1800">
                <a:solidFill>
                  <a:schemeClr val="dk2"/>
                </a:solidFill>
              </a:rPr>
              <a:t> Cada caso pertenece a un único cluster.</a:t>
            </a:r>
            <a:endParaRPr sz="1300"/>
          </a:p>
        </p:txBody>
      </p:sp>
      <p:pic>
        <p:nvPicPr>
          <p:cNvPr id="166" name="Google Shape;166;p30"/>
          <p:cNvPicPr preferRelativeResize="0"/>
          <p:nvPr/>
        </p:nvPicPr>
        <p:blipFill>
          <a:blip r:embed="rId4">
            <a:alphaModFix/>
          </a:blip>
          <a:stretch>
            <a:fillRect/>
          </a:stretch>
        </p:blipFill>
        <p:spPr>
          <a:xfrm>
            <a:off x="1036150" y="3953750"/>
            <a:ext cx="3059951" cy="4069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1"/>
          <p:cNvSpPr txBox="1"/>
          <p:nvPr/>
        </p:nvSpPr>
        <p:spPr>
          <a:xfrm>
            <a:off x="381000" y="273850"/>
            <a:ext cx="75459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2800">
                <a:solidFill>
                  <a:srgbClr val="0000FF"/>
                </a:solidFill>
              </a:rPr>
              <a:t>Variabilidad intra-cluster</a:t>
            </a:r>
            <a:endParaRPr b="1" sz="2500">
              <a:solidFill>
                <a:srgbClr val="0000FF"/>
              </a:solidFill>
            </a:endParaRPr>
          </a:p>
        </p:txBody>
      </p:sp>
      <p:sp>
        <p:nvSpPr>
          <p:cNvPr id="172" name="Google Shape;172;p31"/>
          <p:cNvSpPr txBox="1"/>
          <p:nvPr/>
        </p:nvSpPr>
        <p:spPr>
          <a:xfrm>
            <a:off x="177800" y="1084000"/>
            <a:ext cx="8549400" cy="100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2"/>
                </a:solidFill>
              </a:rPr>
              <a:t>Variabilidad intra-cluster WCV(C</a:t>
            </a:r>
            <a:r>
              <a:rPr b="1" lang="es">
                <a:solidFill>
                  <a:schemeClr val="dk2"/>
                </a:solidFill>
              </a:rPr>
              <a:t>k</a:t>
            </a:r>
            <a:r>
              <a:rPr b="1" lang="es" sz="1800">
                <a:solidFill>
                  <a:schemeClr val="dk2"/>
                </a:solidFill>
              </a:rPr>
              <a:t>) </a:t>
            </a:r>
            <a:r>
              <a:rPr i="1" lang="es" sz="1800">
                <a:solidFill>
                  <a:schemeClr val="dk2"/>
                </a:solidFill>
              </a:rPr>
              <a:t>(por su nombre en inglés Within-Cluster Variance)</a:t>
            </a:r>
            <a:r>
              <a:rPr b="1" lang="es" sz="1800">
                <a:solidFill>
                  <a:schemeClr val="dk2"/>
                </a:solidFill>
              </a:rPr>
              <a:t>: </a:t>
            </a:r>
            <a:r>
              <a:rPr lang="es" sz="1800">
                <a:solidFill>
                  <a:schemeClr val="dk2"/>
                </a:solidFill>
              </a:rPr>
              <a:t>mide </a:t>
            </a:r>
            <a:r>
              <a:rPr b="1" lang="es" sz="1800">
                <a:solidFill>
                  <a:schemeClr val="dk2"/>
                </a:solidFill>
              </a:rPr>
              <a:t>cuán dispersos están los puntos dentro de un clúster</a:t>
            </a:r>
            <a:r>
              <a:rPr lang="es" sz="1800">
                <a:solidFill>
                  <a:schemeClr val="dk2"/>
                </a:solidFill>
              </a:rPr>
              <a:t> en relación con su centroide.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s" sz="1800">
                <a:solidFill>
                  <a:schemeClr val="dk2"/>
                </a:solidFill>
              </a:rPr>
              <a:t>El objetivo es alcanzar grupos relativamente </a:t>
            </a:r>
            <a:r>
              <a:rPr lang="es" sz="1800">
                <a:solidFill>
                  <a:schemeClr val="dk2"/>
                </a:solidFill>
              </a:rPr>
              <a:t>homogéneos</a:t>
            </a:r>
            <a:r>
              <a:rPr lang="es" sz="1800">
                <a:solidFill>
                  <a:schemeClr val="dk2"/>
                </a:solidFill>
              </a:rPr>
              <a:t>. </a:t>
            </a:r>
            <a:endParaRPr sz="1800">
              <a:solidFill>
                <a:schemeClr val="dk2"/>
              </a:solidFill>
            </a:endParaRPr>
          </a:p>
          <a:p>
            <a:pPr indent="0" lvl="0" marL="0" rtl="0" algn="l">
              <a:spcBef>
                <a:spcPts val="0"/>
              </a:spcBef>
              <a:spcAft>
                <a:spcPts val="0"/>
              </a:spcAft>
              <a:buNone/>
            </a:pPr>
            <a:r>
              <a:rPr lang="es" sz="1800">
                <a:solidFill>
                  <a:schemeClr val="dk2"/>
                </a:solidFill>
              </a:rPr>
              <a:t>Entonces, si </a:t>
            </a:r>
            <a:r>
              <a:rPr b="1" lang="es" sz="1800">
                <a:solidFill>
                  <a:schemeClr val="dk2"/>
                </a:solidFill>
              </a:rPr>
              <a:t> WCV(C</a:t>
            </a:r>
            <a:r>
              <a:rPr b="1" lang="es">
                <a:solidFill>
                  <a:schemeClr val="dk2"/>
                </a:solidFill>
              </a:rPr>
              <a:t>k</a:t>
            </a:r>
            <a:r>
              <a:rPr b="1" lang="es" sz="1800">
                <a:solidFill>
                  <a:schemeClr val="dk2"/>
                </a:solidFill>
              </a:rPr>
              <a:t>) </a:t>
            </a:r>
            <a:r>
              <a:rPr lang="es" sz="1800">
                <a:solidFill>
                  <a:schemeClr val="dk2"/>
                </a:solidFill>
              </a:rPr>
              <a:t>indica la variabilidad que existe al interior del cluster, lo que buscamos es </a:t>
            </a:r>
            <a:r>
              <a:rPr i="1" lang="es" sz="1800">
                <a:solidFill>
                  <a:schemeClr val="dk2"/>
                </a:solidFill>
              </a:rPr>
              <a:t>minimizar WCV(Ck).</a:t>
            </a:r>
            <a:r>
              <a:rPr lang="es" sz="1800">
                <a:solidFill>
                  <a:schemeClr val="dk2"/>
                </a:solidFill>
              </a:rPr>
              <a:t>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pic>
        <p:nvPicPr>
          <p:cNvPr id="173" name="Google Shape;173;p31"/>
          <p:cNvPicPr preferRelativeResize="0"/>
          <p:nvPr/>
        </p:nvPicPr>
        <p:blipFill>
          <a:blip r:embed="rId3">
            <a:alphaModFix/>
          </a:blip>
          <a:stretch>
            <a:fillRect/>
          </a:stretch>
        </p:blipFill>
        <p:spPr>
          <a:xfrm>
            <a:off x="2436700" y="3433500"/>
            <a:ext cx="4270584" cy="10032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2"/>
          <p:cNvSpPr txBox="1"/>
          <p:nvPr/>
        </p:nvSpPr>
        <p:spPr>
          <a:xfrm>
            <a:off x="328775" y="286550"/>
            <a:ext cx="75459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2800">
                <a:solidFill>
                  <a:srgbClr val="0000FF"/>
                </a:solidFill>
              </a:rPr>
              <a:t>Variabilidad intra-cluster</a:t>
            </a:r>
            <a:endParaRPr b="1" sz="2500">
              <a:solidFill>
                <a:srgbClr val="0000FF"/>
              </a:solidFill>
            </a:endParaRPr>
          </a:p>
        </p:txBody>
      </p:sp>
      <p:pic>
        <p:nvPicPr>
          <p:cNvPr id="179" name="Google Shape;179;p32"/>
          <p:cNvPicPr preferRelativeResize="0"/>
          <p:nvPr/>
        </p:nvPicPr>
        <p:blipFill>
          <a:blip r:embed="rId3">
            <a:alphaModFix/>
          </a:blip>
          <a:stretch>
            <a:fillRect/>
          </a:stretch>
        </p:blipFill>
        <p:spPr>
          <a:xfrm>
            <a:off x="273050" y="1609750"/>
            <a:ext cx="4536074" cy="1065575"/>
          </a:xfrm>
          <a:prstGeom prst="rect">
            <a:avLst/>
          </a:prstGeom>
          <a:noFill/>
          <a:ln>
            <a:noFill/>
          </a:ln>
        </p:spPr>
      </p:pic>
      <p:pic>
        <p:nvPicPr>
          <p:cNvPr id="180" name="Google Shape;180;p32"/>
          <p:cNvPicPr preferRelativeResize="0"/>
          <p:nvPr/>
        </p:nvPicPr>
        <p:blipFill>
          <a:blip r:embed="rId4">
            <a:alphaModFix/>
          </a:blip>
          <a:stretch>
            <a:fillRect/>
          </a:stretch>
        </p:blipFill>
        <p:spPr>
          <a:xfrm>
            <a:off x="273050" y="3284925"/>
            <a:ext cx="3953800" cy="910575"/>
          </a:xfrm>
          <a:prstGeom prst="rect">
            <a:avLst/>
          </a:prstGeom>
          <a:noFill/>
          <a:ln>
            <a:noFill/>
          </a:ln>
        </p:spPr>
      </p:pic>
      <p:sp>
        <p:nvSpPr>
          <p:cNvPr id="181" name="Google Shape;181;p32"/>
          <p:cNvSpPr/>
          <p:nvPr/>
        </p:nvSpPr>
        <p:spPr>
          <a:xfrm>
            <a:off x="2840625" y="1680900"/>
            <a:ext cx="1612800" cy="825600"/>
          </a:xfrm>
          <a:prstGeom prst="ellipse">
            <a:avLst/>
          </a:prstGeom>
          <a:noFill/>
          <a:ln cap="flat" cmpd="sng" w="952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2" name="Google Shape;182;p32"/>
          <p:cNvSpPr/>
          <p:nvPr/>
        </p:nvSpPr>
        <p:spPr>
          <a:xfrm>
            <a:off x="336550" y="3192200"/>
            <a:ext cx="3890400" cy="910500"/>
          </a:xfrm>
          <a:prstGeom prst="ellipse">
            <a:avLst/>
          </a:prstGeom>
          <a:noFill/>
          <a:ln cap="flat" cmpd="sng" w="952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83" name="Google Shape;183;p32"/>
          <p:cNvCxnSpPr>
            <a:stCxn id="181" idx="4"/>
            <a:endCxn id="182" idx="7"/>
          </p:cNvCxnSpPr>
          <p:nvPr/>
        </p:nvCxnSpPr>
        <p:spPr>
          <a:xfrm>
            <a:off x="3647025" y="2506500"/>
            <a:ext cx="10200" cy="819000"/>
          </a:xfrm>
          <a:prstGeom prst="straightConnector1">
            <a:avLst/>
          </a:prstGeom>
          <a:noFill/>
          <a:ln cap="flat" cmpd="sng" w="9525">
            <a:solidFill>
              <a:srgbClr val="CC0000"/>
            </a:solidFill>
            <a:prstDash val="solid"/>
            <a:round/>
            <a:headEnd len="med" w="med" type="none"/>
            <a:tailEnd len="med" w="med" type="none"/>
          </a:ln>
        </p:spPr>
      </p:cxnSp>
      <p:sp>
        <p:nvSpPr>
          <p:cNvPr id="184" name="Google Shape;184;p32"/>
          <p:cNvSpPr/>
          <p:nvPr/>
        </p:nvSpPr>
        <p:spPr>
          <a:xfrm>
            <a:off x="2669025" y="3450650"/>
            <a:ext cx="901800" cy="393600"/>
          </a:xfrm>
          <a:prstGeom prst="rect">
            <a:avLst/>
          </a:prstGeom>
          <a:no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85" name="Google Shape;185;p32"/>
          <p:cNvPicPr preferRelativeResize="0"/>
          <p:nvPr/>
        </p:nvPicPr>
        <p:blipFill>
          <a:blip r:embed="rId5">
            <a:alphaModFix/>
          </a:blip>
          <a:stretch>
            <a:fillRect/>
          </a:stretch>
        </p:blipFill>
        <p:spPr>
          <a:xfrm>
            <a:off x="4948925" y="3989025"/>
            <a:ext cx="2923595" cy="825600"/>
          </a:xfrm>
          <a:prstGeom prst="rect">
            <a:avLst/>
          </a:prstGeom>
          <a:noFill/>
          <a:ln>
            <a:noFill/>
          </a:ln>
        </p:spPr>
      </p:pic>
      <p:sp>
        <p:nvSpPr>
          <p:cNvPr id="186" name="Google Shape;186;p32"/>
          <p:cNvSpPr/>
          <p:nvPr/>
        </p:nvSpPr>
        <p:spPr>
          <a:xfrm>
            <a:off x="5007325" y="3989025"/>
            <a:ext cx="2806800" cy="910500"/>
          </a:xfrm>
          <a:prstGeom prst="rect">
            <a:avLst/>
          </a:prstGeom>
          <a:no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87" name="Google Shape;187;p32"/>
          <p:cNvCxnSpPr>
            <a:stCxn id="184" idx="2"/>
          </p:cNvCxnSpPr>
          <p:nvPr/>
        </p:nvCxnSpPr>
        <p:spPr>
          <a:xfrm>
            <a:off x="3119925" y="3844250"/>
            <a:ext cx="6600" cy="592500"/>
          </a:xfrm>
          <a:prstGeom prst="straightConnector1">
            <a:avLst/>
          </a:prstGeom>
          <a:noFill/>
          <a:ln cap="flat" cmpd="sng" w="9525">
            <a:solidFill>
              <a:srgbClr val="6AA84F"/>
            </a:solidFill>
            <a:prstDash val="solid"/>
            <a:round/>
            <a:headEnd len="med" w="med" type="none"/>
            <a:tailEnd len="med" w="med" type="none"/>
          </a:ln>
        </p:spPr>
      </p:cxnSp>
      <p:cxnSp>
        <p:nvCxnSpPr>
          <p:cNvPr id="188" name="Google Shape;188;p32"/>
          <p:cNvCxnSpPr>
            <a:endCxn id="186" idx="1"/>
          </p:cNvCxnSpPr>
          <p:nvPr/>
        </p:nvCxnSpPr>
        <p:spPr>
          <a:xfrm flipH="1" rot="10800000">
            <a:off x="3107425" y="4444275"/>
            <a:ext cx="1899900" cy="5100"/>
          </a:xfrm>
          <a:prstGeom prst="straightConnector1">
            <a:avLst/>
          </a:prstGeom>
          <a:noFill/>
          <a:ln cap="flat" cmpd="sng" w="9525">
            <a:solidFill>
              <a:srgbClr val="93C47D"/>
            </a:solidFill>
            <a:prstDash val="solid"/>
            <a:round/>
            <a:headEnd len="med" w="med" type="none"/>
            <a:tailEnd len="med" w="med" type="none"/>
          </a:ln>
        </p:spPr>
      </p:cxnSp>
      <p:sp>
        <p:nvSpPr>
          <p:cNvPr id="189" name="Google Shape;189;p32"/>
          <p:cNvSpPr txBox="1"/>
          <p:nvPr/>
        </p:nvSpPr>
        <p:spPr>
          <a:xfrm>
            <a:off x="5291650" y="1956300"/>
            <a:ext cx="3579300" cy="136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dk2"/>
                </a:solidFill>
              </a:rPr>
              <a:t>Donde:</a:t>
            </a:r>
            <a:endParaRPr>
              <a:solidFill>
                <a:schemeClr val="dk2"/>
              </a:solidFill>
            </a:endParaRPr>
          </a:p>
          <a:p>
            <a:pPr indent="-317500" lvl="0" marL="457200" rtl="0" algn="l">
              <a:spcBef>
                <a:spcPts val="0"/>
              </a:spcBef>
              <a:spcAft>
                <a:spcPts val="0"/>
              </a:spcAft>
              <a:buClr>
                <a:schemeClr val="dk2"/>
              </a:buClr>
              <a:buSzPts val="1400"/>
              <a:buChar char="-"/>
            </a:pPr>
            <a:r>
              <a:rPr b="1" lang="es">
                <a:solidFill>
                  <a:schemeClr val="dk2"/>
                </a:solidFill>
              </a:rPr>
              <a:t>Ck </a:t>
            </a:r>
            <a:r>
              <a:rPr lang="es">
                <a:solidFill>
                  <a:schemeClr val="dk2"/>
                </a:solidFill>
              </a:rPr>
              <a:t>es el cluster</a:t>
            </a:r>
            <a:endParaRPr>
              <a:solidFill>
                <a:schemeClr val="dk2"/>
              </a:solidFill>
            </a:endParaRPr>
          </a:p>
          <a:p>
            <a:pPr indent="-317500" lvl="0" marL="457200" rtl="0" algn="l">
              <a:spcBef>
                <a:spcPts val="0"/>
              </a:spcBef>
              <a:spcAft>
                <a:spcPts val="0"/>
              </a:spcAft>
              <a:buClr>
                <a:schemeClr val="dk2"/>
              </a:buClr>
              <a:buSzPts val="1400"/>
              <a:buChar char="-"/>
            </a:pPr>
            <a:r>
              <a:rPr b="1" lang="es">
                <a:solidFill>
                  <a:schemeClr val="dk2"/>
                </a:solidFill>
              </a:rPr>
              <a:t>xi</a:t>
            </a:r>
            <a:r>
              <a:rPr lang="es">
                <a:solidFill>
                  <a:schemeClr val="dk2"/>
                </a:solidFill>
              </a:rPr>
              <a:t> representa una observación del conjunto de datos (una fila de mi dataset) </a:t>
            </a:r>
            <a:endParaRPr>
              <a:solidFill>
                <a:schemeClr val="dk2"/>
              </a:solidFill>
            </a:endParaRPr>
          </a:p>
          <a:p>
            <a:pPr indent="-317500" lvl="0" marL="457200" rtl="0" algn="l">
              <a:spcBef>
                <a:spcPts val="0"/>
              </a:spcBef>
              <a:spcAft>
                <a:spcPts val="0"/>
              </a:spcAft>
              <a:buClr>
                <a:schemeClr val="dk2"/>
              </a:buClr>
              <a:buSzPts val="1400"/>
              <a:buChar char="-"/>
            </a:pPr>
            <a:r>
              <a:rPr b="1" lang="es">
                <a:solidFill>
                  <a:schemeClr val="dk2"/>
                </a:solidFill>
              </a:rPr>
              <a:t>ck</a:t>
            </a:r>
            <a:r>
              <a:rPr lang="es">
                <a:solidFill>
                  <a:schemeClr val="dk2"/>
                </a:solidFill>
              </a:rPr>
              <a:t> representa el centroide del cluster.</a:t>
            </a:r>
            <a:endParaRPr>
              <a:solidFill>
                <a:schemeClr val="dk2"/>
              </a:solidFill>
            </a:endParaRPr>
          </a:p>
          <a:p>
            <a:pPr indent="-317500" lvl="0" marL="457200" rtl="0" algn="l">
              <a:spcBef>
                <a:spcPts val="0"/>
              </a:spcBef>
              <a:spcAft>
                <a:spcPts val="0"/>
              </a:spcAft>
              <a:buClr>
                <a:schemeClr val="dk2"/>
              </a:buClr>
              <a:buSzPts val="1400"/>
              <a:buChar char="-"/>
            </a:pPr>
            <a:r>
              <a:rPr b="1" lang="es">
                <a:solidFill>
                  <a:schemeClr val="dk2"/>
                </a:solidFill>
              </a:rPr>
              <a:t>d(xi, ck)</a:t>
            </a:r>
            <a:r>
              <a:rPr lang="es">
                <a:solidFill>
                  <a:schemeClr val="dk2"/>
                </a:solidFill>
              </a:rPr>
              <a:t> es la </a:t>
            </a:r>
            <a:r>
              <a:rPr b="1" lang="es">
                <a:solidFill>
                  <a:srgbClr val="6AA84F"/>
                </a:solidFill>
              </a:rPr>
              <a:t>distancia euclidia</a:t>
            </a:r>
            <a:r>
              <a:rPr lang="es">
                <a:solidFill>
                  <a:schemeClr val="dk2"/>
                </a:solidFill>
              </a:rPr>
              <a:t>.</a:t>
            </a:r>
            <a:endParaRPr>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190" name="Google Shape;190;p32"/>
          <p:cNvSpPr txBox="1"/>
          <p:nvPr/>
        </p:nvSpPr>
        <p:spPr>
          <a:xfrm>
            <a:off x="167375" y="4385875"/>
            <a:ext cx="8674200" cy="44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191" name="Google Shape;191;p32"/>
          <p:cNvSpPr txBox="1"/>
          <p:nvPr/>
        </p:nvSpPr>
        <p:spPr>
          <a:xfrm>
            <a:off x="328775" y="902150"/>
            <a:ext cx="8512800" cy="74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700">
                <a:solidFill>
                  <a:schemeClr val="dk2"/>
                </a:solidFill>
              </a:rPr>
              <a:t>K-Medias busca encontrar k clusters de modo tal que </a:t>
            </a:r>
            <a:r>
              <a:rPr b="1" lang="es" sz="1700">
                <a:solidFill>
                  <a:schemeClr val="dk2"/>
                </a:solidFill>
              </a:rPr>
              <a:t>se minimice la varianza intra-cluster medida</a:t>
            </a:r>
            <a:r>
              <a:rPr lang="es" sz="1700">
                <a:solidFill>
                  <a:schemeClr val="dk2"/>
                </a:solidFill>
              </a:rPr>
              <a:t>, usualmente, como </a:t>
            </a:r>
            <a:r>
              <a:rPr b="1" lang="es" sz="1700">
                <a:solidFill>
                  <a:schemeClr val="dk2"/>
                </a:solidFill>
              </a:rPr>
              <a:t>el cuadrado de la distancia euclídea</a:t>
            </a:r>
            <a:r>
              <a:rPr lang="es" sz="1700">
                <a:solidFill>
                  <a:schemeClr val="dk2"/>
                </a:solidFill>
              </a:rPr>
              <a:t>.</a:t>
            </a:r>
            <a:endParaRPr sz="1700">
              <a:solidFill>
                <a:schemeClr val="dk2"/>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3"/>
          <p:cNvSpPr txBox="1"/>
          <p:nvPr/>
        </p:nvSpPr>
        <p:spPr>
          <a:xfrm>
            <a:off x="381000" y="273850"/>
            <a:ext cx="70386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2800">
                <a:solidFill>
                  <a:srgbClr val="0000FF"/>
                </a:solidFill>
              </a:rPr>
              <a:t>¿Cómo elegimos el valor de k?</a:t>
            </a:r>
            <a:endParaRPr b="1" sz="2500">
              <a:solidFill>
                <a:srgbClr val="0000FF"/>
              </a:solidFill>
            </a:endParaRPr>
          </a:p>
        </p:txBody>
      </p:sp>
      <p:pic>
        <p:nvPicPr>
          <p:cNvPr id="197" name="Google Shape;197;p33"/>
          <p:cNvPicPr preferRelativeResize="0"/>
          <p:nvPr/>
        </p:nvPicPr>
        <p:blipFill>
          <a:blip r:embed="rId3">
            <a:alphaModFix/>
          </a:blip>
          <a:stretch>
            <a:fillRect/>
          </a:stretch>
        </p:blipFill>
        <p:spPr>
          <a:xfrm>
            <a:off x="381000" y="1018025"/>
            <a:ext cx="3152395" cy="3949250"/>
          </a:xfrm>
          <a:prstGeom prst="rect">
            <a:avLst/>
          </a:prstGeom>
          <a:noFill/>
          <a:ln>
            <a:noFill/>
          </a:ln>
        </p:spPr>
      </p:pic>
      <p:sp>
        <p:nvSpPr>
          <p:cNvPr id="198" name="Google Shape;198;p33"/>
          <p:cNvSpPr txBox="1"/>
          <p:nvPr/>
        </p:nvSpPr>
        <p:spPr>
          <a:xfrm>
            <a:off x="3706475" y="1359125"/>
            <a:ext cx="4868100" cy="275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900">
                <a:solidFill>
                  <a:schemeClr val="dk2"/>
                </a:solidFill>
              </a:rPr>
              <a:t>Imaginemos que cada punto es un persona. La variable Y es </a:t>
            </a:r>
            <a:r>
              <a:rPr i="1" lang="es" sz="1900">
                <a:solidFill>
                  <a:schemeClr val="dk2"/>
                </a:solidFill>
              </a:rPr>
              <a:t>salario mensual</a:t>
            </a:r>
            <a:r>
              <a:rPr lang="es" sz="1900">
                <a:solidFill>
                  <a:schemeClr val="dk2"/>
                </a:solidFill>
              </a:rPr>
              <a:t> y la variable X es </a:t>
            </a:r>
            <a:r>
              <a:rPr i="1" lang="es" sz="1900">
                <a:solidFill>
                  <a:schemeClr val="dk2"/>
                </a:solidFill>
              </a:rPr>
              <a:t>años de experiencia</a:t>
            </a:r>
            <a:r>
              <a:rPr lang="es" sz="1900">
                <a:solidFill>
                  <a:schemeClr val="dk2"/>
                </a:solidFill>
              </a:rPr>
              <a:t>. </a:t>
            </a:r>
            <a:endParaRPr sz="1900">
              <a:solidFill>
                <a:schemeClr val="dk2"/>
              </a:solidFill>
            </a:endParaRPr>
          </a:p>
          <a:p>
            <a:pPr indent="0" lvl="0" marL="0" rtl="0" algn="l">
              <a:spcBef>
                <a:spcPts val="0"/>
              </a:spcBef>
              <a:spcAft>
                <a:spcPts val="0"/>
              </a:spcAft>
              <a:buNone/>
            </a:pPr>
            <a:r>
              <a:t/>
            </a:r>
            <a:endParaRPr sz="1900">
              <a:solidFill>
                <a:schemeClr val="dk2"/>
              </a:solidFill>
            </a:endParaRPr>
          </a:p>
          <a:p>
            <a:pPr indent="0" lvl="0" marL="0" rtl="0" algn="l">
              <a:spcBef>
                <a:spcPts val="0"/>
              </a:spcBef>
              <a:spcAft>
                <a:spcPts val="0"/>
              </a:spcAft>
              <a:buNone/>
            </a:pPr>
            <a:r>
              <a:t/>
            </a:r>
            <a:endParaRPr sz="1900">
              <a:solidFill>
                <a:schemeClr val="dk2"/>
              </a:solidFill>
            </a:endParaRPr>
          </a:p>
          <a:p>
            <a:pPr indent="0" lvl="0" marL="0" rtl="0" algn="l">
              <a:spcBef>
                <a:spcPts val="0"/>
              </a:spcBef>
              <a:spcAft>
                <a:spcPts val="0"/>
              </a:spcAft>
              <a:buNone/>
            </a:pPr>
            <a:r>
              <a:t/>
            </a:r>
            <a:endParaRPr sz="1900">
              <a:solidFill>
                <a:schemeClr val="dk2"/>
              </a:solidFill>
            </a:endParaRPr>
          </a:p>
          <a:p>
            <a:pPr indent="0" lvl="0" marL="0" rtl="0" algn="l">
              <a:spcBef>
                <a:spcPts val="0"/>
              </a:spcBef>
              <a:spcAft>
                <a:spcPts val="0"/>
              </a:spcAft>
              <a:buNone/>
            </a:pPr>
            <a:r>
              <a:rPr b="1" lang="es" sz="1900">
                <a:solidFill>
                  <a:schemeClr val="dk2"/>
                </a:solidFill>
              </a:rPr>
              <a:t>¿Cuántos grupos existen en mis datos?</a:t>
            </a:r>
            <a:endParaRPr b="1" sz="1900">
              <a:solidFill>
                <a:schemeClr val="dk2"/>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4"/>
          <p:cNvSpPr txBox="1"/>
          <p:nvPr/>
        </p:nvSpPr>
        <p:spPr>
          <a:xfrm>
            <a:off x="381000" y="273850"/>
            <a:ext cx="70386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b="1" lang="es" sz="2800">
                <a:solidFill>
                  <a:srgbClr val="0000FF"/>
                </a:solidFill>
              </a:rPr>
              <a:t>¿Cómo elegimos el valor de k?</a:t>
            </a:r>
            <a:endParaRPr b="1" sz="2500">
              <a:solidFill>
                <a:srgbClr val="0000FF"/>
              </a:solidFill>
            </a:endParaRPr>
          </a:p>
        </p:txBody>
      </p:sp>
      <p:pic>
        <p:nvPicPr>
          <p:cNvPr id="204" name="Google Shape;204;p34"/>
          <p:cNvPicPr preferRelativeResize="0"/>
          <p:nvPr/>
        </p:nvPicPr>
        <p:blipFill>
          <a:blip r:embed="rId3">
            <a:alphaModFix/>
          </a:blip>
          <a:stretch>
            <a:fillRect/>
          </a:stretch>
        </p:blipFill>
        <p:spPr>
          <a:xfrm>
            <a:off x="92875" y="946600"/>
            <a:ext cx="8788123" cy="394925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5"/>
          <p:cNvSpPr txBox="1"/>
          <p:nvPr/>
        </p:nvSpPr>
        <p:spPr>
          <a:xfrm>
            <a:off x="381000" y="273850"/>
            <a:ext cx="70386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b="1" lang="es" sz="2800">
                <a:solidFill>
                  <a:srgbClr val="0000FF"/>
                </a:solidFill>
              </a:rPr>
              <a:t>¿Cómo elegimos el valor de k?</a:t>
            </a:r>
            <a:endParaRPr b="1" sz="2500">
              <a:solidFill>
                <a:srgbClr val="0000FF"/>
              </a:solidFill>
            </a:endParaRPr>
          </a:p>
        </p:txBody>
      </p:sp>
      <p:sp>
        <p:nvSpPr>
          <p:cNvPr id="210" name="Google Shape;210;p35"/>
          <p:cNvSpPr txBox="1"/>
          <p:nvPr/>
        </p:nvSpPr>
        <p:spPr>
          <a:xfrm>
            <a:off x="454475" y="1230525"/>
            <a:ext cx="8239200" cy="282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000">
                <a:solidFill>
                  <a:schemeClr val="dk2"/>
                </a:solidFill>
              </a:rPr>
              <a:t>Es esperable que </a:t>
            </a:r>
            <a:r>
              <a:rPr b="1" lang="es" sz="2000">
                <a:solidFill>
                  <a:schemeClr val="dk2"/>
                </a:solidFill>
              </a:rPr>
              <a:t>a medida que aumentamos el </a:t>
            </a:r>
            <a:r>
              <a:rPr b="1" lang="es" sz="2000">
                <a:solidFill>
                  <a:schemeClr val="dk2"/>
                </a:solidFill>
              </a:rPr>
              <a:t>número de clusters</a:t>
            </a:r>
            <a:r>
              <a:rPr lang="es" sz="2000">
                <a:solidFill>
                  <a:schemeClr val="dk2"/>
                </a:solidFill>
              </a:rPr>
              <a:t> </a:t>
            </a:r>
            <a:r>
              <a:rPr b="1" lang="es" sz="2000">
                <a:solidFill>
                  <a:schemeClr val="dk2"/>
                </a:solidFill>
              </a:rPr>
              <a:t>(k)</a:t>
            </a:r>
            <a:r>
              <a:rPr lang="es" sz="2000">
                <a:solidFill>
                  <a:schemeClr val="dk2"/>
                </a:solidFill>
              </a:rPr>
              <a:t> que quiero encontrar, los grupos sean </a:t>
            </a:r>
            <a:r>
              <a:rPr b="1" lang="es" sz="2000">
                <a:solidFill>
                  <a:schemeClr val="dk2"/>
                </a:solidFill>
              </a:rPr>
              <a:t>cada vez más homogéneos</a:t>
            </a:r>
            <a:r>
              <a:rPr lang="es" sz="2000">
                <a:solidFill>
                  <a:schemeClr val="dk2"/>
                </a:solidFill>
              </a:rPr>
              <a:t>.  </a:t>
            </a:r>
            <a:endParaRPr sz="20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s" sz="2000">
                <a:solidFill>
                  <a:schemeClr val="dk2"/>
                </a:solidFill>
              </a:rPr>
              <a:t>¿Cómo puedo saber cuál es </a:t>
            </a:r>
            <a:r>
              <a:rPr b="1" lang="es" sz="2000">
                <a:solidFill>
                  <a:schemeClr val="dk2"/>
                </a:solidFill>
              </a:rPr>
              <a:t>el número </a:t>
            </a:r>
            <a:r>
              <a:rPr b="1" lang="es" sz="2000">
                <a:solidFill>
                  <a:schemeClr val="dk2"/>
                </a:solidFill>
              </a:rPr>
              <a:t>óptimo</a:t>
            </a:r>
            <a:r>
              <a:rPr lang="es" sz="2000">
                <a:solidFill>
                  <a:schemeClr val="dk2"/>
                </a:solidFill>
              </a:rPr>
              <a:t> de clusters para mis datos?</a:t>
            </a:r>
            <a:endParaRPr sz="2000">
              <a:solidFill>
                <a:schemeClr val="dk2"/>
              </a:solidFill>
            </a:endParaRPr>
          </a:p>
          <a:p>
            <a:pPr indent="0" lvl="0" marL="0" rtl="0" algn="l">
              <a:spcBef>
                <a:spcPts val="0"/>
              </a:spcBef>
              <a:spcAft>
                <a:spcPts val="0"/>
              </a:spcAft>
              <a:buNone/>
            </a:pPr>
            <a:r>
              <a:t/>
            </a:r>
            <a:endParaRPr sz="2000">
              <a:solidFill>
                <a:schemeClr val="dk2"/>
              </a:solidFill>
            </a:endParaRPr>
          </a:p>
          <a:p>
            <a:pPr indent="0" lvl="0" marL="0" rtl="0" algn="l">
              <a:spcBef>
                <a:spcPts val="0"/>
              </a:spcBef>
              <a:spcAft>
                <a:spcPts val="0"/>
              </a:spcAft>
              <a:buNone/>
            </a:pPr>
            <a:r>
              <a:rPr lang="es" sz="2000">
                <a:solidFill>
                  <a:schemeClr val="dk2"/>
                </a:solidFill>
              </a:rPr>
              <a:t>El </a:t>
            </a:r>
            <a:r>
              <a:rPr b="1" lang="es" sz="2000">
                <a:solidFill>
                  <a:schemeClr val="dk2"/>
                </a:solidFill>
              </a:rPr>
              <a:t>conocimiento del dominio</a:t>
            </a:r>
            <a:r>
              <a:rPr lang="es" sz="2000">
                <a:solidFill>
                  <a:schemeClr val="dk2"/>
                </a:solidFill>
              </a:rPr>
              <a:t> es fundamental en esta definición.</a:t>
            </a:r>
            <a:endParaRPr sz="2000">
              <a:solidFill>
                <a:schemeClr val="dk2"/>
              </a:solidFill>
            </a:endParaRPr>
          </a:p>
          <a:p>
            <a:pPr indent="0" lvl="0" marL="0" rtl="0" algn="l">
              <a:spcBef>
                <a:spcPts val="0"/>
              </a:spcBef>
              <a:spcAft>
                <a:spcPts val="0"/>
              </a:spcAft>
              <a:buNone/>
            </a:pPr>
            <a:r>
              <a:rPr lang="es" sz="2000">
                <a:solidFill>
                  <a:schemeClr val="dk2"/>
                </a:solidFill>
              </a:rPr>
              <a:t>Pero, el </a:t>
            </a:r>
            <a:r>
              <a:rPr lang="es" sz="2000">
                <a:solidFill>
                  <a:schemeClr val="dk2"/>
                </a:solidFill>
                <a:highlight>
                  <a:srgbClr val="D9EAD3"/>
                </a:highlight>
              </a:rPr>
              <a:t>“método del codo”</a:t>
            </a:r>
            <a:r>
              <a:rPr lang="es" sz="2000">
                <a:solidFill>
                  <a:schemeClr val="dk2"/>
                </a:solidFill>
              </a:rPr>
              <a:t> nos puede ayudar. Veamos cómo funciona!</a:t>
            </a:r>
            <a:endParaRPr sz="2000">
              <a:solidFill>
                <a:schemeClr val="dk2"/>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6"/>
          <p:cNvSpPr txBox="1"/>
          <p:nvPr/>
        </p:nvSpPr>
        <p:spPr>
          <a:xfrm>
            <a:off x="381000" y="273850"/>
            <a:ext cx="70386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2800">
                <a:solidFill>
                  <a:srgbClr val="0000FF"/>
                </a:solidFill>
              </a:rPr>
              <a:t>¿Cómo elegimos el valor de k?</a:t>
            </a:r>
            <a:endParaRPr b="1" sz="2500">
              <a:solidFill>
                <a:srgbClr val="0000FF"/>
              </a:solidFill>
            </a:endParaRPr>
          </a:p>
        </p:txBody>
      </p:sp>
      <p:pic>
        <p:nvPicPr>
          <p:cNvPr id="216" name="Google Shape;216;p36"/>
          <p:cNvPicPr preferRelativeResize="0"/>
          <p:nvPr/>
        </p:nvPicPr>
        <p:blipFill rotWithShape="1">
          <a:blip r:embed="rId3">
            <a:alphaModFix/>
          </a:blip>
          <a:srcRect b="0" l="2820" r="4388" t="0"/>
          <a:stretch/>
        </p:blipFill>
        <p:spPr>
          <a:xfrm>
            <a:off x="535575" y="1723475"/>
            <a:ext cx="5092700" cy="3305726"/>
          </a:xfrm>
          <a:prstGeom prst="rect">
            <a:avLst/>
          </a:prstGeom>
          <a:noFill/>
          <a:ln>
            <a:noFill/>
          </a:ln>
        </p:spPr>
      </p:pic>
      <p:sp>
        <p:nvSpPr>
          <p:cNvPr id="217" name="Google Shape;217;p36"/>
          <p:cNvSpPr txBox="1"/>
          <p:nvPr/>
        </p:nvSpPr>
        <p:spPr>
          <a:xfrm>
            <a:off x="444500" y="976263"/>
            <a:ext cx="75819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Calculamos la </a:t>
            </a:r>
            <a:r>
              <a:rPr b="1" lang="es" sz="1800">
                <a:solidFill>
                  <a:schemeClr val="dk2"/>
                </a:solidFill>
              </a:rPr>
              <a:t>distancia intra-cluster</a:t>
            </a:r>
            <a:r>
              <a:rPr lang="es" sz="1800">
                <a:solidFill>
                  <a:schemeClr val="dk2"/>
                </a:solidFill>
              </a:rPr>
              <a:t> para </a:t>
            </a:r>
            <a:r>
              <a:rPr b="1" lang="es" sz="1800">
                <a:solidFill>
                  <a:schemeClr val="dk2"/>
                </a:solidFill>
              </a:rPr>
              <a:t>valores de </a:t>
            </a:r>
            <a:endParaRPr b="1" sz="1800">
              <a:solidFill>
                <a:schemeClr val="dk2"/>
              </a:solidFill>
            </a:endParaRPr>
          </a:p>
          <a:p>
            <a:pPr indent="0" lvl="0" marL="0" rtl="0" algn="l">
              <a:spcBef>
                <a:spcPts val="0"/>
              </a:spcBef>
              <a:spcAft>
                <a:spcPts val="0"/>
              </a:spcAft>
              <a:buNone/>
            </a:pPr>
            <a:r>
              <a:rPr b="1" lang="es" sz="1800">
                <a:solidFill>
                  <a:schemeClr val="dk2"/>
                </a:solidFill>
              </a:rPr>
              <a:t>k de 1 a 10</a:t>
            </a:r>
            <a:r>
              <a:rPr lang="es" sz="1800">
                <a:solidFill>
                  <a:schemeClr val="dk2"/>
                </a:solidFill>
              </a:rPr>
              <a:t> y graficamos.</a:t>
            </a:r>
            <a:endParaRPr sz="1800">
              <a:solidFill>
                <a:schemeClr val="dk2"/>
              </a:solidFill>
            </a:endParaRPr>
          </a:p>
        </p:txBody>
      </p:sp>
      <p:sp>
        <p:nvSpPr>
          <p:cNvPr id="218" name="Google Shape;218;p36"/>
          <p:cNvSpPr txBox="1"/>
          <p:nvPr/>
        </p:nvSpPr>
        <p:spPr>
          <a:xfrm>
            <a:off x="6060075" y="1680775"/>
            <a:ext cx="2819400" cy="288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700">
                <a:solidFill>
                  <a:schemeClr val="dk2"/>
                </a:solidFill>
              </a:rPr>
              <a:t>Podemos ver que en </a:t>
            </a:r>
            <a:r>
              <a:rPr b="1" lang="es" sz="1700">
                <a:solidFill>
                  <a:schemeClr val="dk2"/>
                </a:solidFill>
              </a:rPr>
              <a:t>k=4</a:t>
            </a:r>
            <a:r>
              <a:rPr lang="es" sz="1700">
                <a:solidFill>
                  <a:schemeClr val="dk2"/>
                </a:solidFill>
              </a:rPr>
              <a:t> parece darse la mayor caída de la suma de la distancia intra-cluster todos los clústers. </a:t>
            </a:r>
            <a:endParaRPr sz="1700">
              <a:solidFill>
                <a:schemeClr val="dk2"/>
              </a:solidFill>
            </a:endParaRPr>
          </a:p>
          <a:p>
            <a:pPr indent="0" lvl="0" marL="0" rtl="0" algn="l">
              <a:spcBef>
                <a:spcPts val="0"/>
              </a:spcBef>
              <a:spcAft>
                <a:spcPts val="0"/>
              </a:spcAft>
              <a:buNone/>
            </a:pPr>
            <a:r>
              <a:t/>
            </a:r>
            <a:endParaRPr sz="1700">
              <a:solidFill>
                <a:schemeClr val="dk2"/>
              </a:solidFill>
            </a:endParaRPr>
          </a:p>
          <a:p>
            <a:pPr indent="0" lvl="0" marL="0" rtl="0" algn="l">
              <a:spcBef>
                <a:spcPts val="0"/>
              </a:spcBef>
              <a:spcAft>
                <a:spcPts val="0"/>
              </a:spcAft>
              <a:buNone/>
            </a:pPr>
            <a:r>
              <a:rPr lang="es" sz="1700">
                <a:solidFill>
                  <a:schemeClr val="dk2"/>
                </a:solidFill>
              </a:rPr>
              <a:t>En ese sentido, k=4</a:t>
            </a:r>
            <a:endParaRPr sz="1700">
              <a:solidFill>
                <a:schemeClr val="dk2"/>
              </a:solidFill>
            </a:endParaRPr>
          </a:p>
          <a:p>
            <a:pPr indent="0" lvl="0" marL="0" rtl="0" algn="l">
              <a:spcBef>
                <a:spcPts val="0"/>
              </a:spcBef>
              <a:spcAft>
                <a:spcPts val="0"/>
              </a:spcAft>
              <a:buNone/>
            </a:pPr>
            <a:r>
              <a:rPr lang="es" sz="1700">
                <a:solidFill>
                  <a:schemeClr val="dk2"/>
                </a:solidFill>
              </a:rPr>
              <a:t>parece </a:t>
            </a:r>
            <a:r>
              <a:rPr b="1" lang="es" sz="1700">
                <a:solidFill>
                  <a:schemeClr val="dk2"/>
                </a:solidFill>
              </a:rPr>
              <a:t>un buen candidato para empezar una exploración</a:t>
            </a:r>
            <a:r>
              <a:rPr lang="es" sz="1700">
                <a:solidFill>
                  <a:schemeClr val="dk2"/>
                </a:solidFill>
              </a:rPr>
              <a:t>.</a:t>
            </a:r>
            <a:endParaRPr sz="1700">
              <a:solidFill>
                <a:schemeClr val="dk2"/>
              </a:solidFill>
            </a:endParaRPr>
          </a:p>
        </p:txBody>
      </p:sp>
      <p:sp>
        <p:nvSpPr>
          <p:cNvPr id="219" name="Google Shape;219;p36"/>
          <p:cNvSpPr/>
          <p:nvPr/>
        </p:nvSpPr>
        <p:spPr>
          <a:xfrm>
            <a:off x="2389775" y="3369875"/>
            <a:ext cx="279300" cy="723900"/>
          </a:xfrm>
          <a:prstGeom prst="downArrow">
            <a:avLst>
              <a:gd fmla="val 50000" name="adj1"/>
              <a:gd fmla="val 50000" name="adj2"/>
            </a:avLst>
          </a:prstGeom>
          <a:solidFill>
            <a:srgbClr val="D9EAD3"/>
          </a:solid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7"/>
          <p:cNvSpPr txBox="1"/>
          <p:nvPr/>
        </p:nvSpPr>
        <p:spPr>
          <a:xfrm>
            <a:off x="381000" y="273850"/>
            <a:ext cx="85239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2800">
                <a:solidFill>
                  <a:srgbClr val="0000FF"/>
                </a:solidFill>
              </a:rPr>
              <a:t>Consecuencias de la inicialización aleatoria</a:t>
            </a:r>
            <a:endParaRPr b="1" sz="2500">
              <a:solidFill>
                <a:srgbClr val="0000FF"/>
              </a:solidFill>
            </a:endParaRPr>
          </a:p>
        </p:txBody>
      </p:sp>
      <p:pic>
        <p:nvPicPr>
          <p:cNvPr id="225" name="Google Shape;225;p37"/>
          <p:cNvPicPr preferRelativeResize="0"/>
          <p:nvPr/>
        </p:nvPicPr>
        <p:blipFill>
          <a:blip r:embed="rId3">
            <a:alphaModFix/>
          </a:blip>
          <a:stretch>
            <a:fillRect/>
          </a:stretch>
        </p:blipFill>
        <p:spPr>
          <a:xfrm>
            <a:off x="381000" y="1079950"/>
            <a:ext cx="4028899" cy="3949250"/>
          </a:xfrm>
          <a:prstGeom prst="rect">
            <a:avLst/>
          </a:prstGeom>
          <a:noFill/>
          <a:ln>
            <a:noFill/>
          </a:ln>
        </p:spPr>
      </p:pic>
      <p:sp>
        <p:nvSpPr>
          <p:cNvPr id="226" name="Google Shape;226;p37"/>
          <p:cNvSpPr/>
          <p:nvPr/>
        </p:nvSpPr>
        <p:spPr>
          <a:xfrm>
            <a:off x="954675" y="1134675"/>
            <a:ext cx="2883000" cy="216000"/>
          </a:xfrm>
          <a:prstGeom prst="rect">
            <a:avLst/>
          </a:prstGeom>
          <a:noFill/>
          <a:ln cap="flat" cmpd="sng" w="9525">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7" name="Google Shape;227;p37"/>
          <p:cNvSpPr/>
          <p:nvPr/>
        </p:nvSpPr>
        <p:spPr>
          <a:xfrm>
            <a:off x="954675" y="3052375"/>
            <a:ext cx="2883000" cy="216000"/>
          </a:xfrm>
          <a:prstGeom prst="rect">
            <a:avLst/>
          </a:prstGeom>
          <a:noFill/>
          <a:ln cap="flat" cmpd="sng" w="9525">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28" name="Google Shape;228;p37"/>
          <p:cNvCxnSpPr>
            <a:stCxn id="226" idx="3"/>
          </p:cNvCxnSpPr>
          <p:nvPr/>
        </p:nvCxnSpPr>
        <p:spPr>
          <a:xfrm>
            <a:off x="3837675" y="1242675"/>
            <a:ext cx="1079400" cy="1111200"/>
          </a:xfrm>
          <a:prstGeom prst="straightConnector1">
            <a:avLst/>
          </a:prstGeom>
          <a:noFill/>
          <a:ln cap="flat" cmpd="sng" w="9525">
            <a:solidFill>
              <a:srgbClr val="3C78D8"/>
            </a:solidFill>
            <a:prstDash val="solid"/>
            <a:round/>
            <a:headEnd len="med" w="med" type="none"/>
            <a:tailEnd len="med" w="med" type="triangle"/>
          </a:ln>
        </p:spPr>
      </p:cxnSp>
      <p:cxnSp>
        <p:nvCxnSpPr>
          <p:cNvPr id="229" name="Google Shape;229;p37"/>
          <p:cNvCxnSpPr>
            <a:stCxn id="227" idx="3"/>
          </p:cNvCxnSpPr>
          <p:nvPr/>
        </p:nvCxnSpPr>
        <p:spPr>
          <a:xfrm flipH="1" rot="10800000">
            <a:off x="3837675" y="2620675"/>
            <a:ext cx="1015800" cy="539700"/>
          </a:xfrm>
          <a:prstGeom prst="straightConnector1">
            <a:avLst/>
          </a:prstGeom>
          <a:noFill/>
          <a:ln cap="flat" cmpd="sng" w="9525">
            <a:solidFill>
              <a:srgbClr val="3C78D8"/>
            </a:solidFill>
            <a:prstDash val="solid"/>
            <a:round/>
            <a:headEnd len="med" w="med" type="none"/>
            <a:tailEnd len="med" w="med" type="triangle"/>
          </a:ln>
        </p:spPr>
      </p:cxnSp>
      <p:sp>
        <p:nvSpPr>
          <p:cNvPr id="230" name="Google Shape;230;p37"/>
          <p:cNvSpPr txBox="1"/>
          <p:nvPr/>
        </p:nvSpPr>
        <p:spPr>
          <a:xfrm>
            <a:off x="4917075" y="2277775"/>
            <a:ext cx="30606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500">
                <a:solidFill>
                  <a:srgbClr val="3C78D8"/>
                </a:solidFill>
              </a:rPr>
              <a:t>DIFERENTES SEMILLAS</a:t>
            </a:r>
            <a:endParaRPr sz="1500">
              <a:solidFill>
                <a:srgbClr val="3C78D8"/>
              </a:solidFill>
            </a:endParaRPr>
          </a:p>
        </p:txBody>
      </p:sp>
      <p:sp>
        <p:nvSpPr>
          <p:cNvPr id="231" name="Google Shape;231;p37"/>
          <p:cNvSpPr txBox="1"/>
          <p:nvPr/>
        </p:nvSpPr>
        <p:spPr>
          <a:xfrm>
            <a:off x="4993275" y="2925375"/>
            <a:ext cx="3721200" cy="1536600"/>
          </a:xfrm>
          <a:prstGeom prst="rect">
            <a:avLst/>
          </a:prstGeom>
          <a:noFill/>
          <a:ln>
            <a:noFill/>
          </a:ln>
        </p:spPr>
        <p:txBody>
          <a:bodyPr anchorCtr="0" anchor="t" bIns="91425" lIns="91425" spcFirstLastPara="1" rIns="91425" wrap="square" tIns="91425">
            <a:noAutofit/>
          </a:bodyPr>
          <a:lstStyle/>
          <a:p>
            <a:pPr indent="0" lvl="0" marL="12700" rtl="0" algn="l">
              <a:lnSpc>
                <a:spcPct val="115000"/>
              </a:lnSpc>
              <a:spcBef>
                <a:spcPts val="0"/>
              </a:spcBef>
              <a:spcAft>
                <a:spcPts val="0"/>
              </a:spcAft>
              <a:buNone/>
            </a:pPr>
            <a:r>
              <a:rPr lang="es" sz="1800">
                <a:solidFill>
                  <a:schemeClr val="dk2"/>
                </a:solidFill>
              </a:rPr>
              <a:t>Inicialización aleatoria: modelo no determinista.</a:t>
            </a:r>
            <a:endParaRPr sz="1800">
              <a:solidFill>
                <a:schemeClr val="dk2"/>
              </a:solidFill>
            </a:endParaRPr>
          </a:p>
          <a:p>
            <a:pPr indent="0" lvl="0" marL="12700" rtl="0" algn="l">
              <a:lnSpc>
                <a:spcPct val="115000"/>
              </a:lnSpc>
              <a:spcBef>
                <a:spcPts val="0"/>
              </a:spcBef>
              <a:spcAft>
                <a:spcPts val="0"/>
              </a:spcAft>
              <a:buClr>
                <a:schemeClr val="dk1"/>
              </a:buClr>
              <a:buSzPts val="1100"/>
              <a:buFont typeface="Arial"/>
              <a:buNone/>
            </a:pPr>
            <a:r>
              <a:t/>
            </a:r>
            <a:endParaRPr sz="1800">
              <a:solidFill>
                <a:schemeClr val="dk2"/>
              </a:solidFill>
            </a:endParaRPr>
          </a:p>
          <a:p>
            <a:pPr indent="0" lvl="0" marL="12700" rtl="0" algn="l">
              <a:lnSpc>
                <a:spcPct val="115000"/>
              </a:lnSpc>
              <a:spcBef>
                <a:spcPts val="0"/>
              </a:spcBef>
              <a:spcAft>
                <a:spcPts val="0"/>
              </a:spcAft>
              <a:buClr>
                <a:schemeClr val="dk1"/>
              </a:buClr>
              <a:buSzPts val="1100"/>
              <a:buFont typeface="Arial"/>
              <a:buNone/>
            </a:pPr>
            <a:r>
              <a:rPr b="1" lang="es" sz="1800">
                <a:solidFill>
                  <a:schemeClr val="dk2"/>
                </a:solidFill>
              </a:rPr>
              <a:t>Los resultados del modelo dependen de esa inicialización.</a:t>
            </a:r>
            <a:endParaRPr b="1"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8"/>
          <p:cNvSpPr txBox="1"/>
          <p:nvPr/>
        </p:nvSpPr>
        <p:spPr>
          <a:xfrm>
            <a:off x="381000" y="273850"/>
            <a:ext cx="85239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2800">
                <a:solidFill>
                  <a:srgbClr val="0000FF"/>
                </a:solidFill>
              </a:rPr>
              <a:t>K- Medias: Desventajas a tener en mente</a:t>
            </a:r>
            <a:endParaRPr b="1" sz="2500">
              <a:solidFill>
                <a:srgbClr val="0000FF"/>
              </a:solidFill>
            </a:endParaRPr>
          </a:p>
        </p:txBody>
      </p:sp>
      <p:sp>
        <p:nvSpPr>
          <p:cNvPr id="237" name="Google Shape;237;p38"/>
          <p:cNvSpPr txBox="1"/>
          <p:nvPr/>
        </p:nvSpPr>
        <p:spPr>
          <a:xfrm>
            <a:off x="520650" y="1198175"/>
            <a:ext cx="8102700" cy="3645000"/>
          </a:xfrm>
          <a:prstGeom prst="rect">
            <a:avLst/>
          </a:prstGeom>
          <a:noFill/>
          <a:ln>
            <a:noFill/>
          </a:ln>
        </p:spPr>
        <p:txBody>
          <a:bodyPr anchorCtr="0" anchor="t" bIns="91425" lIns="91425" spcFirstLastPara="1" rIns="91425" wrap="square" tIns="91425">
            <a:noAutofit/>
          </a:bodyPr>
          <a:lstStyle/>
          <a:p>
            <a:pPr indent="-349250" lvl="0" marL="457200" rtl="0" algn="l">
              <a:spcBef>
                <a:spcPts val="0"/>
              </a:spcBef>
              <a:spcAft>
                <a:spcPts val="0"/>
              </a:spcAft>
              <a:buClr>
                <a:schemeClr val="dk2"/>
              </a:buClr>
              <a:buSzPts val="1900"/>
              <a:buChar char="●"/>
            </a:pPr>
            <a:r>
              <a:rPr lang="es" sz="1900">
                <a:solidFill>
                  <a:schemeClr val="dk2"/>
                </a:solidFill>
              </a:rPr>
              <a:t>El resultado depende de la </a:t>
            </a:r>
            <a:r>
              <a:rPr b="1" lang="es" sz="1900">
                <a:solidFill>
                  <a:schemeClr val="dk2"/>
                </a:solidFill>
              </a:rPr>
              <a:t>inicialización aleatoria</a:t>
            </a:r>
            <a:r>
              <a:rPr lang="es" sz="1900">
                <a:solidFill>
                  <a:schemeClr val="dk2"/>
                </a:solidFill>
              </a:rPr>
              <a:t> (es poco robusto).</a:t>
            </a:r>
            <a:endParaRPr sz="1900">
              <a:solidFill>
                <a:schemeClr val="dk2"/>
              </a:solidFill>
            </a:endParaRPr>
          </a:p>
          <a:p>
            <a:pPr indent="0" lvl="0" marL="457200" rtl="0" algn="l">
              <a:spcBef>
                <a:spcPts val="0"/>
              </a:spcBef>
              <a:spcAft>
                <a:spcPts val="0"/>
              </a:spcAft>
              <a:buNone/>
            </a:pPr>
            <a:r>
              <a:t/>
            </a:r>
            <a:endParaRPr sz="1900">
              <a:solidFill>
                <a:schemeClr val="dk2"/>
              </a:solidFill>
            </a:endParaRPr>
          </a:p>
          <a:p>
            <a:pPr indent="-349250" lvl="0" marL="457200" rtl="0" algn="l">
              <a:spcBef>
                <a:spcPts val="0"/>
              </a:spcBef>
              <a:spcAft>
                <a:spcPts val="0"/>
              </a:spcAft>
              <a:buClr>
                <a:schemeClr val="dk2"/>
              </a:buClr>
              <a:buSzPts val="1900"/>
              <a:buChar char="●"/>
            </a:pPr>
            <a:r>
              <a:rPr lang="es" sz="1900">
                <a:solidFill>
                  <a:schemeClr val="dk2"/>
                </a:solidFill>
              </a:rPr>
              <a:t>Todos los datos deben quedar asignados a un cluster. En este sentido, es </a:t>
            </a:r>
            <a:r>
              <a:rPr b="1" lang="es" sz="1900">
                <a:solidFill>
                  <a:schemeClr val="dk2"/>
                </a:solidFill>
              </a:rPr>
              <a:t>sensible a valores atípicos</a:t>
            </a:r>
            <a:r>
              <a:rPr lang="es" sz="1900">
                <a:solidFill>
                  <a:schemeClr val="dk2"/>
                </a:solidFill>
              </a:rPr>
              <a:t>. </a:t>
            </a:r>
            <a:endParaRPr sz="1900">
              <a:solidFill>
                <a:schemeClr val="dk2"/>
              </a:solidFill>
            </a:endParaRPr>
          </a:p>
          <a:p>
            <a:pPr indent="0" lvl="0" marL="457200" rtl="0" algn="l">
              <a:spcBef>
                <a:spcPts val="0"/>
              </a:spcBef>
              <a:spcAft>
                <a:spcPts val="0"/>
              </a:spcAft>
              <a:buNone/>
            </a:pPr>
            <a:r>
              <a:t/>
            </a:r>
            <a:endParaRPr sz="1900">
              <a:solidFill>
                <a:schemeClr val="dk2"/>
              </a:solidFill>
            </a:endParaRPr>
          </a:p>
          <a:p>
            <a:pPr indent="-349250" lvl="0" marL="457200" rtl="0" algn="l">
              <a:spcBef>
                <a:spcPts val="0"/>
              </a:spcBef>
              <a:spcAft>
                <a:spcPts val="0"/>
              </a:spcAft>
              <a:buClr>
                <a:schemeClr val="dk2"/>
              </a:buClr>
              <a:buSzPts val="1900"/>
              <a:buChar char="●"/>
            </a:pPr>
            <a:r>
              <a:rPr lang="es" sz="1900">
                <a:solidFill>
                  <a:schemeClr val="dk2"/>
                </a:solidFill>
              </a:rPr>
              <a:t>Sólo se puede usar con </a:t>
            </a:r>
            <a:r>
              <a:rPr b="1" lang="es" sz="1900">
                <a:solidFill>
                  <a:schemeClr val="dk2"/>
                </a:solidFill>
              </a:rPr>
              <a:t>variables numéricas</a:t>
            </a:r>
            <a:r>
              <a:rPr lang="es" sz="1900">
                <a:solidFill>
                  <a:schemeClr val="dk2"/>
                </a:solidFill>
              </a:rPr>
              <a:t> (para variables categóricas es posible utilizar </a:t>
            </a:r>
            <a:r>
              <a:rPr b="1" lang="es" sz="1900">
                <a:solidFill>
                  <a:srgbClr val="9900FF"/>
                </a:solidFill>
              </a:rPr>
              <a:t>K-Modas</a:t>
            </a:r>
            <a:r>
              <a:rPr lang="es" sz="1900">
                <a:solidFill>
                  <a:schemeClr val="dk2"/>
                </a:solidFill>
              </a:rPr>
              <a:t>)</a:t>
            </a:r>
            <a:endParaRPr sz="1900">
              <a:solidFill>
                <a:schemeClr val="dk2"/>
              </a:solidFill>
            </a:endParaRPr>
          </a:p>
          <a:p>
            <a:pPr indent="0" lvl="0" marL="457200" rtl="0" algn="l">
              <a:spcBef>
                <a:spcPts val="0"/>
              </a:spcBef>
              <a:spcAft>
                <a:spcPts val="0"/>
              </a:spcAft>
              <a:buNone/>
            </a:pPr>
            <a:r>
              <a:t/>
            </a:r>
            <a:endParaRPr sz="1800">
              <a:solidFill>
                <a:schemeClr val="dk2"/>
              </a:solidFill>
            </a:endParaRPr>
          </a:p>
          <a:p>
            <a:pPr indent="0" lvl="0" marL="45720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9"/>
          <p:cNvSpPr txBox="1"/>
          <p:nvPr/>
        </p:nvSpPr>
        <p:spPr>
          <a:xfrm>
            <a:off x="381000" y="273850"/>
            <a:ext cx="85239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2800">
                <a:solidFill>
                  <a:srgbClr val="0000FF"/>
                </a:solidFill>
              </a:rPr>
              <a:t>K- Medias: Desventajas a tener en mente</a:t>
            </a:r>
            <a:endParaRPr b="1" sz="2500">
              <a:solidFill>
                <a:srgbClr val="0000FF"/>
              </a:solidFill>
            </a:endParaRPr>
          </a:p>
        </p:txBody>
      </p:sp>
      <p:sp>
        <p:nvSpPr>
          <p:cNvPr id="243" name="Google Shape;243;p39"/>
          <p:cNvSpPr txBox="1"/>
          <p:nvPr/>
        </p:nvSpPr>
        <p:spPr>
          <a:xfrm>
            <a:off x="520650" y="939750"/>
            <a:ext cx="4149900" cy="326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a:p>
            <a:pPr indent="0" lvl="0" marL="457200" rtl="0" algn="l">
              <a:spcBef>
                <a:spcPts val="0"/>
              </a:spcBef>
              <a:spcAft>
                <a:spcPts val="0"/>
              </a:spcAft>
              <a:buNone/>
            </a:pPr>
            <a:r>
              <a:t/>
            </a:r>
            <a:endParaRPr sz="1800">
              <a:solidFill>
                <a:schemeClr val="dk2"/>
              </a:solidFill>
            </a:endParaRPr>
          </a:p>
          <a:p>
            <a:pPr indent="-349250" lvl="0" marL="457200" rtl="0" algn="l">
              <a:spcBef>
                <a:spcPts val="0"/>
              </a:spcBef>
              <a:spcAft>
                <a:spcPts val="0"/>
              </a:spcAft>
              <a:buClr>
                <a:schemeClr val="dk2"/>
              </a:buClr>
              <a:buSzPts val="1900"/>
              <a:buChar char="●"/>
            </a:pPr>
            <a:r>
              <a:rPr lang="es" sz="1900">
                <a:solidFill>
                  <a:schemeClr val="dk2"/>
                </a:solidFill>
              </a:rPr>
              <a:t>Si </a:t>
            </a:r>
            <a:r>
              <a:rPr b="1" lang="es" sz="1900">
                <a:solidFill>
                  <a:schemeClr val="dk2"/>
                </a:solidFill>
              </a:rPr>
              <a:t>mis datos no tienden a estructurarse en grupos</a:t>
            </a:r>
            <a:r>
              <a:rPr lang="es" sz="1900">
                <a:solidFill>
                  <a:schemeClr val="dk2"/>
                </a:solidFill>
              </a:rPr>
              <a:t>, el algoritmo va a generar grupos de todas maneras. </a:t>
            </a:r>
            <a:endParaRPr sz="1900">
              <a:solidFill>
                <a:schemeClr val="dk2"/>
              </a:solidFill>
            </a:endParaRPr>
          </a:p>
          <a:p>
            <a:pPr indent="0" lvl="0" marL="0" rtl="0" algn="l">
              <a:spcBef>
                <a:spcPts val="0"/>
              </a:spcBef>
              <a:spcAft>
                <a:spcPts val="0"/>
              </a:spcAft>
              <a:buNone/>
            </a:pPr>
            <a:r>
              <a:t/>
            </a:r>
            <a:endParaRPr sz="1800">
              <a:solidFill>
                <a:schemeClr val="dk2"/>
              </a:solidFill>
            </a:endParaRPr>
          </a:p>
        </p:txBody>
      </p:sp>
      <p:pic>
        <p:nvPicPr>
          <p:cNvPr id="244" name="Google Shape;244;p39"/>
          <p:cNvPicPr preferRelativeResize="0"/>
          <p:nvPr/>
        </p:nvPicPr>
        <p:blipFill>
          <a:blip r:embed="rId3">
            <a:alphaModFix/>
          </a:blip>
          <a:stretch>
            <a:fillRect/>
          </a:stretch>
        </p:blipFill>
        <p:spPr>
          <a:xfrm>
            <a:off x="4572000" y="1120675"/>
            <a:ext cx="3604820" cy="32640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0"/>
          <p:cNvSpPr txBox="1"/>
          <p:nvPr/>
        </p:nvSpPr>
        <p:spPr>
          <a:xfrm>
            <a:off x="381000" y="273850"/>
            <a:ext cx="85239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2800">
                <a:solidFill>
                  <a:srgbClr val="0000FF"/>
                </a:solidFill>
              </a:rPr>
              <a:t>Hierarchical Clustering (Clustering Jerárquico)</a:t>
            </a:r>
            <a:endParaRPr b="1" sz="2500">
              <a:solidFill>
                <a:srgbClr val="0000FF"/>
              </a:solidFill>
            </a:endParaRPr>
          </a:p>
        </p:txBody>
      </p:sp>
      <p:sp>
        <p:nvSpPr>
          <p:cNvPr id="250" name="Google Shape;250;p40"/>
          <p:cNvSpPr txBox="1"/>
          <p:nvPr/>
        </p:nvSpPr>
        <p:spPr>
          <a:xfrm>
            <a:off x="484775" y="1147375"/>
            <a:ext cx="7848600" cy="2247900"/>
          </a:xfrm>
          <a:prstGeom prst="rect">
            <a:avLst/>
          </a:prstGeom>
          <a:noFill/>
          <a:ln>
            <a:noFill/>
          </a:ln>
        </p:spPr>
        <p:txBody>
          <a:bodyPr anchorCtr="0" anchor="t" bIns="91425" lIns="91425" spcFirstLastPara="1" rIns="91425" wrap="square" tIns="91425">
            <a:noAutofit/>
          </a:bodyPr>
          <a:lstStyle/>
          <a:p>
            <a:pPr indent="-349250" lvl="0" marL="457200" rtl="0" algn="l">
              <a:spcBef>
                <a:spcPts val="0"/>
              </a:spcBef>
              <a:spcAft>
                <a:spcPts val="0"/>
              </a:spcAft>
              <a:buClr>
                <a:schemeClr val="dk2"/>
              </a:buClr>
              <a:buSzPts val="1900"/>
              <a:buChar char="●"/>
            </a:pPr>
            <a:r>
              <a:rPr lang="es" sz="1900">
                <a:solidFill>
                  <a:schemeClr val="dk2"/>
                </a:solidFill>
              </a:rPr>
              <a:t>K-medias requiere especificar de antemano la cantidad de clusters buscados.</a:t>
            </a:r>
            <a:endParaRPr sz="1900">
              <a:solidFill>
                <a:schemeClr val="dk2"/>
              </a:solidFill>
            </a:endParaRPr>
          </a:p>
          <a:p>
            <a:pPr indent="0" lvl="0" marL="457200" rtl="0" algn="l">
              <a:spcBef>
                <a:spcPts val="0"/>
              </a:spcBef>
              <a:spcAft>
                <a:spcPts val="0"/>
              </a:spcAft>
              <a:buNone/>
            </a:pPr>
            <a:r>
              <a:t/>
            </a:r>
            <a:endParaRPr sz="1900">
              <a:solidFill>
                <a:schemeClr val="dk2"/>
              </a:solidFill>
            </a:endParaRPr>
          </a:p>
          <a:p>
            <a:pPr indent="-349250" lvl="0" marL="457200" rtl="0" algn="l">
              <a:spcBef>
                <a:spcPts val="0"/>
              </a:spcBef>
              <a:spcAft>
                <a:spcPts val="0"/>
              </a:spcAft>
              <a:buClr>
                <a:schemeClr val="dk2"/>
              </a:buClr>
              <a:buSzPts val="1900"/>
              <a:buChar char="●"/>
            </a:pPr>
            <a:r>
              <a:rPr lang="es" sz="1900">
                <a:solidFill>
                  <a:schemeClr val="dk2"/>
                </a:solidFill>
              </a:rPr>
              <a:t>El clustering jerárquico ofrece un método para tratar de estimar k. El gráfico llamado </a:t>
            </a:r>
            <a:r>
              <a:rPr b="1" lang="es" sz="1900">
                <a:solidFill>
                  <a:schemeClr val="dk2"/>
                </a:solidFill>
              </a:rPr>
              <a:t>dendrograma</a:t>
            </a:r>
            <a:r>
              <a:rPr lang="es" sz="1900">
                <a:solidFill>
                  <a:schemeClr val="dk2"/>
                </a:solidFill>
              </a:rPr>
              <a:t> nos ayuda a definirlo.</a:t>
            </a:r>
            <a:endParaRPr sz="1900">
              <a:solidFill>
                <a:schemeClr val="dk2"/>
              </a:solidFill>
            </a:endParaRPr>
          </a:p>
          <a:p>
            <a:pPr indent="0" lvl="0" marL="457200" rtl="0" algn="l">
              <a:spcBef>
                <a:spcPts val="0"/>
              </a:spcBef>
              <a:spcAft>
                <a:spcPts val="0"/>
              </a:spcAft>
              <a:buNone/>
            </a:pPr>
            <a:r>
              <a:t/>
            </a:r>
            <a:endParaRPr sz="1900">
              <a:solidFill>
                <a:schemeClr val="dk2"/>
              </a:solidFill>
            </a:endParaRPr>
          </a:p>
          <a:p>
            <a:pPr indent="-349250" lvl="0" marL="457200" rtl="0" algn="l">
              <a:spcBef>
                <a:spcPts val="0"/>
              </a:spcBef>
              <a:spcAft>
                <a:spcPts val="0"/>
              </a:spcAft>
              <a:buClr>
                <a:schemeClr val="dk2"/>
              </a:buClr>
              <a:buSzPts val="1900"/>
              <a:buChar char="●"/>
            </a:pPr>
            <a:r>
              <a:rPr lang="es" sz="1900">
                <a:solidFill>
                  <a:schemeClr val="dk2"/>
                </a:solidFill>
              </a:rPr>
              <a:t>En la clase de hoy vamos a ver el método más común de clustering jerárquico: </a:t>
            </a:r>
            <a:r>
              <a:rPr b="1" lang="es" sz="1900">
                <a:solidFill>
                  <a:schemeClr val="dk2"/>
                </a:solidFill>
              </a:rPr>
              <a:t>bottom-up o “aglomerativo”.</a:t>
            </a:r>
            <a:endParaRPr b="1" sz="19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41"/>
          <p:cNvSpPr txBox="1"/>
          <p:nvPr/>
        </p:nvSpPr>
        <p:spPr>
          <a:xfrm>
            <a:off x="381000" y="273850"/>
            <a:ext cx="85239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2800">
                <a:solidFill>
                  <a:srgbClr val="0000FF"/>
                </a:solidFill>
              </a:rPr>
              <a:t>Hierarchical Clustering (Clustering Jerárquico)</a:t>
            </a:r>
            <a:endParaRPr b="1" sz="2500">
              <a:solidFill>
                <a:srgbClr val="0000FF"/>
              </a:solidFill>
            </a:endParaRPr>
          </a:p>
        </p:txBody>
      </p:sp>
      <p:sp>
        <p:nvSpPr>
          <p:cNvPr id="256" name="Google Shape;256;p41"/>
          <p:cNvSpPr txBox="1"/>
          <p:nvPr/>
        </p:nvSpPr>
        <p:spPr>
          <a:xfrm>
            <a:off x="484775" y="1147375"/>
            <a:ext cx="7848600" cy="224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000" u="sng">
                <a:solidFill>
                  <a:schemeClr val="dk2"/>
                </a:solidFill>
              </a:rPr>
              <a:t>Premisa básica: </a:t>
            </a:r>
            <a:endParaRPr b="1" sz="2000" u="sng">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s" sz="1900">
                <a:solidFill>
                  <a:schemeClr val="dk2"/>
                </a:solidFill>
              </a:rPr>
              <a:t>Cuando empieza, cada caso es un cluster. </a:t>
            </a:r>
            <a:endParaRPr sz="1900">
              <a:solidFill>
                <a:schemeClr val="dk2"/>
              </a:solidFill>
            </a:endParaRPr>
          </a:p>
          <a:p>
            <a:pPr indent="0" lvl="0" marL="0" rtl="0" algn="l">
              <a:spcBef>
                <a:spcPts val="0"/>
              </a:spcBef>
              <a:spcAft>
                <a:spcPts val="0"/>
              </a:spcAft>
              <a:buNone/>
            </a:pPr>
            <a:r>
              <a:rPr lang="es" sz="1900">
                <a:solidFill>
                  <a:schemeClr val="dk2"/>
                </a:solidFill>
              </a:rPr>
              <a:t>A continuación, identifica los clusters más cercanos y los une. Esos casos ahora integran un nuevo cluster más grande. </a:t>
            </a:r>
            <a:endParaRPr sz="1900">
              <a:solidFill>
                <a:schemeClr val="dk2"/>
              </a:solidFill>
            </a:endParaRPr>
          </a:p>
          <a:p>
            <a:pPr indent="0" lvl="0" marL="0" rtl="0" algn="l">
              <a:spcBef>
                <a:spcPts val="0"/>
              </a:spcBef>
              <a:spcAft>
                <a:spcPts val="0"/>
              </a:spcAft>
              <a:buNone/>
            </a:pPr>
            <a:r>
              <a:rPr lang="es" sz="1900">
                <a:solidFill>
                  <a:schemeClr val="dk2"/>
                </a:solidFill>
              </a:rPr>
              <a:t>Repite el procedimiento. </a:t>
            </a:r>
            <a:endParaRPr sz="1900">
              <a:solidFill>
                <a:schemeClr val="dk2"/>
              </a:solidFill>
            </a:endParaRPr>
          </a:p>
          <a:p>
            <a:pPr indent="0" lvl="0" marL="0" rtl="0" algn="l">
              <a:spcBef>
                <a:spcPts val="0"/>
              </a:spcBef>
              <a:spcAft>
                <a:spcPts val="0"/>
              </a:spcAft>
              <a:buNone/>
            </a:pPr>
            <a:r>
              <a:rPr lang="es" sz="1900">
                <a:solidFill>
                  <a:schemeClr val="dk2"/>
                </a:solidFill>
              </a:rPr>
              <a:t>Finaliza cuando todos los puntos forman parte de un único cluster.</a:t>
            </a:r>
            <a:endParaRPr sz="19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2"/>
          <p:cNvSpPr txBox="1"/>
          <p:nvPr/>
        </p:nvSpPr>
        <p:spPr>
          <a:xfrm>
            <a:off x="381000" y="273850"/>
            <a:ext cx="85239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2800">
                <a:solidFill>
                  <a:srgbClr val="0000FF"/>
                </a:solidFill>
              </a:rPr>
              <a:t>Hierarchical Clustering (Clustering Jerárquico)</a:t>
            </a:r>
            <a:endParaRPr b="1" sz="2500">
              <a:solidFill>
                <a:srgbClr val="0000FF"/>
              </a:solidFill>
            </a:endParaRPr>
          </a:p>
        </p:txBody>
      </p:sp>
      <p:pic>
        <p:nvPicPr>
          <p:cNvPr id="262" name="Google Shape;262;p42"/>
          <p:cNvPicPr preferRelativeResize="0"/>
          <p:nvPr/>
        </p:nvPicPr>
        <p:blipFill>
          <a:blip r:embed="rId3">
            <a:alphaModFix/>
          </a:blip>
          <a:stretch>
            <a:fillRect/>
          </a:stretch>
        </p:blipFill>
        <p:spPr>
          <a:xfrm>
            <a:off x="1612900" y="1041850"/>
            <a:ext cx="4857367" cy="3949251"/>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43"/>
          <p:cNvSpPr txBox="1"/>
          <p:nvPr/>
        </p:nvSpPr>
        <p:spPr>
          <a:xfrm>
            <a:off x="381000" y="273850"/>
            <a:ext cx="85239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2800">
                <a:solidFill>
                  <a:srgbClr val="0000FF"/>
                </a:solidFill>
              </a:rPr>
              <a:t>Hierarchical Clustering (Clustering Jerárquico)</a:t>
            </a:r>
            <a:endParaRPr b="1" sz="2500">
              <a:solidFill>
                <a:srgbClr val="0000FF"/>
              </a:solidFill>
            </a:endParaRPr>
          </a:p>
        </p:txBody>
      </p:sp>
      <p:pic>
        <p:nvPicPr>
          <p:cNvPr id="268" name="Google Shape;268;p43"/>
          <p:cNvPicPr preferRelativeResize="0"/>
          <p:nvPr/>
        </p:nvPicPr>
        <p:blipFill>
          <a:blip r:embed="rId3">
            <a:alphaModFix/>
          </a:blip>
          <a:stretch>
            <a:fillRect/>
          </a:stretch>
        </p:blipFill>
        <p:spPr>
          <a:xfrm>
            <a:off x="2286000" y="991050"/>
            <a:ext cx="4202679" cy="3949251"/>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4"/>
          <p:cNvSpPr txBox="1"/>
          <p:nvPr/>
        </p:nvSpPr>
        <p:spPr>
          <a:xfrm>
            <a:off x="381000" y="273850"/>
            <a:ext cx="85239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2800">
                <a:solidFill>
                  <a:srgbClr val="0000FF"/>
                </a:solidFill>
              </a:rPr>
              <a:t>Hierarchical Clustering (Clustering Jerárquico)</a:t>
            </a:r>
            <a:endParaRPr b="1" sz="2500">
              <a:solidFill>
                <a:srgbClr val="0000FF"/>
              </a:solidFill>
            </a:endParaRPr>
          </a:p>
        </p:txBody>
      </p:sp>
      <p:pic>
        <p:nvPicPr>
          <p:cNvPr id="274" name="Google Shape;274;p44"/>
          <p:cNvPicPr preferRelativeResize="0"/>
          <p:nvPr/>
        </p:nvPicPr>
        <p:blipFill>
          <a:blip r:embed="rId3">
            <a:alphaModFix/>
          </a:blip>
          <a:stretch>
            <a:fillRect/>
          </a:stretch>
        </p:blipFill>
        <p:spPr>
          <a:xfrm>
            <a:off x="2472875" y="1041850"/>
            <a:ext cx="4198240" cy="39492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45"/>
          <p:cNvSpPr txBox="1"/>
          <p:nvPr/>
        </p:nvSpPr>
        <p:spPr>
          <a:xfrm>
            <a:off x="381000" y="273850"/>
            <a:ext cx="85239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2800">
                <a:solidFill>
                  <a:srgbClr val="0000FF"/>
                </a:solidFill>
              </a:rPr>
              <a:t>Hierarchical Clustering (Clustering Jerárquico)</a:t>
            </a:r>
            <a:endParaRPr b="1" sz="2500">
              <a:solidFill>
                <a:srgbClr val="0000FF"/>
              </a:solidFill>
            </a:endParaRPr>
          </a:p>
        </p:txBody>
      </p:sp>
      <p:pic>
        <p:nvPicPr>
          <p:cNvPr id="280" name="Google Shape;280;p45"/>
          <p:cNvPicPr preferRelativeResize="0"/>
          <p:nvPr/>
        </p:nvPicPr>
        <p:blipFill>
          <a:blip r:embed="rId3">
            <a:alphaModFix/>
          </a:blip>
          <a:stretch>
            <a:fillRect/>
          </a:stretch>
        </p:blipFill>
        <p:spPr>
          <a:xfrm>
            <a:off x="2611425" y="1054550"/>
            <a:ext cx="3921141" cy="39492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46"/>
          <p:cNvSpPr txBox="1"/>
          <p:nvPr/>
        </p:nvSpPr>
        <p:spPr>
          <a:xfrm>
            <a:off x="381000" y="273850"/>
            <a:ext cx="85239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2800">
                <a:solidFill>
                  <a:srgbClr val="0000FF"/>
                </a:solidFill>
              </a:rPr>
              <a:t>Hierarchical Clustering (Clustering Jerárquico)</a:t>
            </a:r>
            <a:endParaRPr b="1" sz="2500">
              <a:solidFill>
                <a:srgbClr val="0000FF"/>
              </a:solidFill>
            </a:endParaRPr>
          </a:p>
        </p:txBody>
      </p:sp>
      <p:pic>
        <p:nvPicPr>
          <p:cNvPr id="286" name="Google Shape;286;p46"/>
          <p:cNvPicPr preferRelativeResize="0"/>
          <p:nvPr/>
        </p:nvPicPr>
        <p:blipFill>
          <a:blip r:embed="rId3">
            <a:alphaModFix/>
          </a:blip>
          <a:stretch>
            <a:fillRect/>
          </a:stretch>
        </p:blipFill>
        <p:spPr>
          <a:xfrm>
            <a:off x="2596913" y="1041850"/>
            <a:ext cx="4092080" cy="39492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47"/>
          <p:cNvSpPr txBox="1"/>
          <p:nvPr/>
        </p:nvSpPr>
        <p:spPr>
          <a:xfrm>
            <a:off x="381000" y="273850"/>
            <a:ext cx="85239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2800">
                <a:solidFill>
                  <a:srgbClr val="0000FF"/>
                </a:solidFill>
              </a:rPr>
              <a:t>Hierarchical Clustering (Clustering Jerárquico)</a:t>
            </a:r>
            <a:endParaRPr b="1" sz="2500">
              <a:solidFill>
                <a:srgbClr val="0000FF"/>
              </a:solidFill>
            </a:endParaRPr>
          </a:p>
        </p:txBody>
      </p:sp>
      <p:pic>
        <p:nvPicPr>
          <p:cNvPr id="292" name="Google Shape;292;p47"/>
          <p:cNvPicPr preferRelativeResize="0"/>
          <p:nvPr/>
        </p:nvPicPr>
        <p:blipFill>
          <a:blip r:embed="rId3">
            <a:alphaModFix/>
          </a:blip>
          <a:stretch>
            <a:fillRect/>
          </a:stretch>
        </p:blipFill>
        <p:spPr>
          <a:xfrm>
            <a:off x="1320800" y="1016450"/>
            <a:ext cx="6748296" cy="3949249"/>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8"/>
          <p:cNvSpPr txBox="1"/>
          <p:nvPr/>
        </p:nvSpPr>
        <p:spPr>
          <a:xfrm>
            <a:off x="381000" y="273850"/>
            <a:ext cx="85239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2800">
                <a:solidFill>
                  <a:srgbClr val="0000FF"/>
                </a:solidFill>
              </a:rPr>
              <a:t>Hierarchical Clustering (Clustering Jerárquico)</a:t>
            </a:r>
            <a:endParaRPr b="1" sz="2500">
              <a:solidFill>
                <a:srgbClr val="0000FF"/>
              </a:solidFill>
            </a:endParaRPr>
          </a:p>
        </p:txBody>
      </p:sp>
      <p:sp>
        <p:nvSpPr>
          <p:cNvPr id="298" name="Google Shape;298;p48"/>
          <p:cNvSpPr txBox="1"/>
          <p:nvPr/>
        </p:nvSpPr>
        <p:spPr>
          <a:xfrm>
            <a:off x="459375" y="1092150"/>
            <a:ext cx="7581900" cy="295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100">
                <a:solidFill>
                  <a:schemeClr val="dk2"/>
                </a:solidFill>
              </a:rPr>
              <a:t>¿Cómo funciona?</a:t>
            </a:r>
            <a:endParaRPr b="1" sz="2100">
              <a:solidFill>
                <a:schemeClr val="dk2"/>
              </a:solidFill>
            </a:endParaRPr>
          </a:p>
          <a:p>
            <a:pPr indent="0" lvl="0" marL="0" rtl="0" algn="l">
              <a:spcBef>
                <a:spcPts val="0"/>
              </a:spcBef>
              <a:spcAft>
                <a:spcPts val="0"/>
              </a:spcAft>
              <a:buNone/>
            </a:pPr>
            <a:r>
              <a:t/>
            </a:r>
            <a:endParaRPr sz="1900">
              <a:solidFill>
                <a:schemeClr val="dk2"/>
              </a:solidFill>
            </a:endParaRPr>
          </a:p>
          <a:p>
            <a:pPr indent="0" lvl="0" marL="0" rtl="0" algn="l">
              <a:spcBef>
                <a:spcPts val="0"/>
              </a:spcBef>
              <a:spcAft>
                <a:spcPts val="0"/>
              </a:spcAft>
              <a:buNone/>
            </a:pPr>
            <a:r>
              <a:rPr b="1" lang="es" sz="1900">
                <a:solidFill>
                  <a:schemeClr val="dk2"/>
                </a:solidFill>
                <a:highlight>
                  <a:srgbClr val="CFE2F3"/>
                </a:highlight>
              </a:rPr>
              <a:t>PASO 1</a:t>
            </a:r>
            <a:r>
              <a:rPr b="1" lang="es" sz="1900">
                <a:solidFill>
                  <a:schemeClr val="dk2"/>
                </a:solidFill>
              </a:rPr>
              <a:t> - Inicialización</a:t>
            </a:r>
            <a:r>
              <a:rPr b="1" lang="es" sz="1800">
                <a:solidFill>
                  <a:schemeClr val="dk2"/>
                </a:solidFill>
              </a:rPr>
              <a:t>:</a:t>
            </a:r>
            <a:r>
              <a:rPr lang="es" sz="1800">
                <a:solidFill>
                  <a:schemeClr val="dk2"/>
                </a:solidFill>
              </a:rPr>
              <a:t> Se comienza considerando que </a:t>
            </a:r>
            <a:r>
              <a:rPr b="1" lang="es" sz="1800">
                <a:solidFill>
                  <a:schemeClr val="dk2"/>
                </a:solidFill>
              </a:rPr>
              <a:t>cada punto de datos es un cluster individual</a:t>
            </a:r>
            <a:r>
              <a:rPr lang="es" sz="1800">
                <a:solidFill>
                  <a:schemeClr val="dk2"/>
                </a:solidFill>
              </a:rPr>
              <a:t>. En el principio, tenemos N clusters, donde N es el número de puntos de datos.</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b="1" lang="es" sz="1800">
                <a:solidFill>
                  <a:schemeClr val="dk2"/>
                </a:solidFill>
                <a:highlight>
                  <a:srgbClr val="C9DAF8"/>
                </a:highlight>
              </a:rPr>
              <a:t>PASO 2</a:t>
            </a:r>
            <a:r>
              <a:rPr b="1" lang="es" sz="1800">
                <a:solidFill>
                  <a:schemeClr val="dk2"/>
                </a:solidFill>
              </a:rPr>
              <a:t> - Cálculo de similitud:</a:t>
            </a:r>
            <a:r>
              <a:rPr lang="es" sz="1800">
                <a:solidFill>
                  <a:schemeClr val="dk2"/>
                </a:solidFill>
              </a:rPr>
              <a:t> Se calcula la </a:t>
            </a:r>
            <a:r>
              <a:rPr b="1" lang="es" sz="1800">
                <a:solidFill>
                  <a:schemeClr val="dk2"/>
                </a:solidFill>
              </a:rPr>
              <a:t>matriz de similitud o distancia entre todos los pares de clusters</a:t>
            </a:r>
            <a:r>
              <a:rPr lang="es" sz="1800">
                <a:solidFill>
                  <a:schemeClr val="dk2"/>
                </a:solidFill>
              </a:rPr>
              <a:t>. Hay varias formas de medir la similitud, como la distancia euclidiana, la distancia de Manhattan, la similitud de coseno, etc.</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9"/>
          <p:cNvSpPr txBox="1"/>
          <p:nvPr/>
        </p:nvSpPr>
        <p:spPr>
          <a:xfrm>
            <a:off x="381000" y="273850"/>
            <a:ext cx="85239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2800">
                <a:solidFill>
                  <a:srgbClr val="0000FF"/>
                </a:solidFill>
              </a:rPr>
              <a:t>Hierarchical Clustering (Clustering Jerárquico)</a:t>
            </a:r>
            <a:endParaRPr b="1" sz="2500">
              <a:solidFill>
                <a:srgbClr val="0000FF"/>
              </a:solidFill>
            </a:endParaRPr>
          </a:p>
        </p:txBody>
      </p:sp>
      <p:sp>
        <p:nvSpPr>
          <p:cNvPr id="304" name="Google Shape;304;p49"/>
          <p:cNvSpPr txBox="1"/>
          <p:nvPr/>
        </p:nvSpPr>
        <p:spPr>
          <a:xfrm>
            <a:off x="459375" y="1092150"/>
            <a:ext cx="7581900" cy="295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100">
                <a:solidFill>
                  <a:schemeClr val="dk2"/>
                </a:solidFill>
              </a:rPr>
              <a:t>¿Cómo funciona?</a:t>
            </a:r>
            <a:endParaRPr b="1" sz="2100">
              <a:solidFill>
                <a:schemeClr val="dk2"/>
              </a:solidFill>
            </a:endParaRPr>
          </a:p>
          <a:p>
            <a:pPr indent="0" lvl="0" marL="0" rtl="0" algn="l">
              <a:spcBef>
                <a:spcPts val="0"/>
              </a:spcBef>
              <a:spcAft>
                <a:spcPts val="0"/>
              </a:spcAft>
              <a:buNone/>
            </a:pPr>
            <a:r>
              <a:t/>
            </a:r>
            <a:endParaRPr sz="1900">
              <a:solidFill>
                <a:schemeClr val="dk2"/>
              </a:solidFill>
            </a:endParaRPr>
          </a:p>
          <a:p>
            <a:pPr indent="0" lvl="0" marL="0" rtl="0" algn="l">
              <a:spcBef>
                <a:spcPts val="0"/>
              </a:spcBef>
              <a:spcAft>
                <a:spcPts val="0"/>
              </a:spcAft>
              <a:buNone/>
            </a:pPr>
            <a:r>
              <a:rPr b="1" lang="es" sz="1800">
                <a:solidFill>
                  <a:schemeClr val="dk2"/>
                </a:solidFill>
                <a:highlight>
                  <a:srgbClr val="CFE2F3"/>
                </a:highlight>
              </a:rPr>
              <a:t>PASO 3 </a:t>
            </a:r>
            <a:r>
              <a:rPr b="1" lang="es" sz="1800">
                <a:solidFill>
                  <a:schemeClr val="dk2"/>
                </a:solidFill>
              </a:rPr>
              <a:t>- </a:t>
            </a:r>
            <a:r>
              <a:rPr b="1" lang="es" sz="1800">
                <a:solidFill>
                  <a:schemeClr val="dk2"/>
                </a:solidFill>
              </a:rPr>
              <a:t>Fusión de clusters:</a:t>
            </a:r>
            <a:r>
              <a:rPr lang="es" sz="1800">
                <a:solidFill>
                  <a:schemeClr val="dk2"/>
                </a:solidFill>
              </a:rPr>
              <a:t> Se fusionan los dos clusters más similares en uno solo. La elección de cuáles clusters fusionar puede basarse en </a:t>
            </a:r>
            <a:r>
              <a:rPr b="1" lang="es" sz="1800">
                <a:solidFill>
                  <a:schemeClr val="dk2"/>
                </a:solidFill>
              </a:rPr>
              <a:t>distintos </a:t>
            </a:r>
            <a:r>
              <a:rPr b="1" lang="es" sz="1800" u="sng">
                <a:solidFill>
                  <a:schemeClr val="dk2"/>
                </a:solidFill>
              </a:rPr>
              <a:t>métodos de vinculación</a:t>
            </a:r>
            <a:r>
              <a:rPr lang="es" sz="1800">
                <a:solidFill>
                  <a:schemeClr val="dk2"/>
                </a:solidFill>
              </a:rPr>
              <a:t>. Esto se repite en cada paso hasta que solo quede un cluster.</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b="1" lang="es" sz="1800">
                <a:solidFill>
                  <a:schemeClr val="dk2"/>
                </a:solidFill>
                <a:highlight>
                  <a:srgbClr val="CFE2F3"/>
                </a:highlight>
              </a:rPr>
              <a:t>PASO 4</a:t>
            </a:r>
            <a:r>
              <a:rPr b="1" lang="es" sz="1800">
                <a:solidFill>
                  <a:schemeClr val="dk2"/>
                </a:solidFill>
              </a:rPr>
              <a:t> - Construcción de la jerarquía:</a:t>
            </a:r>
            <a:r>
              <a:rPr lang="es" sz="1800">
                <a:solidFill>
                  <a:schemeClr val="dk2"/>
                </a:solidFill>
              </a:rPr>
              <a:t> A medida que los clusters se fusionan, </a:t>
            </a:r>
            <a:r>
              <a:rPr b="1" lang="es" sz="1800">
                <a:solidFill>
                  <a:schemeClr val="dk2"/>
                </a:solidFill>
              </a:rPr>
              <a:t>se construye una jerarquía en forma de árbol (dendrograma) </a:t>
            </a:r>
            <a:r>
              <a:rPr lang="es" sz="1800">
                <a:solidFill>
                  <a:schemeClr val="dk2"/>
                </a:solidFill>
              </a:rPr>
              <a:t>que muestra cómo se agrupan los datos en diferentes niveles de similitud. En el dendrograma, los clusters se fusionan en función de la distancia en el eje vertical.</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50"/>
          <p:cNvSpPr txBox="1"/>
          <p:nvPr/>
        </p:nvSpPr>
        <p:spPr>
          <a:xfrm>
            <a:off x="381000" y="273850"/>
            <a:ext cx="85239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2800">
                <a:solidFill>
                  <a:srgbClr val="0000FF"/>
                </a:solidFill>
              </a:rPr>
              <a:t>Hierarchical Clustering (Clustering Jerárquico)</a:t>
            </a:r>
            <a:endParaRPr b="1" sz="2500">
              <a:solidFill>
                <a:srgbClr val="0000FF"/>
              </a:solidFill>
            </a:endParaRPr>
          </a:p>
        </p:txBody>
      </p:sp>
      <p:sp>
        <p:nvSpPr>
          <p:cNvPr id="310" name="Google Shape;310;p50"/>
          <p:cNvSpPr txBox="1"/>
          <p:nvPr/>
        </p:nvSpPr>
        <p:spPr>
          <a:xfrm>
            <a:off x="459375" y="1092150"/>
            <a:ext cx="7581900" cy="295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100">
                <a:solidFill>
                  <a:schemeClr val="dk2"/>
                </a:solidFill>
              </a:rPr>
              <a:t>¿Cómo funciona?</a:t>
            </a:r>
            <a:endParaRPr b="1" sz="2100">
              <a:solidFill>
                <a:schemeClr val="dk2"/>
              </a:solidFill>
            </a:endParaRPr>
          </a:p>
          <a:p>
            <a:pPr indent="0" lvl="0" marL="0" rtl="0" algn="l">
              <a:spcBef>
                <a:spcPts val="0"/>
              </a:spcBef>
              <a:spcAft>
                <a:spcPts val="0"/>
              </a:spcAft>
              <a:buNone/>
            </a:pPr>
            <a:r>
              <a:t/>
            </a:r>
            <a:endParaRPr sz="1900">
              <a:solidFill>
                <a:schemeClr val="dk2"/>
              </a:solidFill>
            </a:endParaRPr>
          </a:p>
          <a:p>
            <a:pPr indent="0" lvl="0" marL="0" rtl="0" algn="l">
              <a:spcBef>
                <a:spcPts val="0"/>
              </a:spcBef>
              <a:spcAft>
                <a:spcPts val="0"/>
              </a:spcAft>
              <a:buNone/>
            </a:pPr>
            <a:r>
              <a:t/>
            </a:r>
            <a:endParaRPr sz="1900">
              <a:solidFill>
                <a:schemeClr val="dk2"/>
              </a:solidFill>
            </a:endParaRPr>
          </a:p>
          <a:p>
            <a:pPr indent="0" lvl="0" marL="0" rtl="0" algn="l">
              <a:spcBef>
                <a:spcPts val="0"/>
              </a:spcBef>
              <a:spcAft>
                <a:spcPts val="0"/>
              </a:spcAft>
              <a:buNone/>
            </a:pPr>
            <a:r>
              <a:rPr b="1" lang="es" sz="1800">
                <a:solidFill>
                  <a:schemeClr val="dk2"/>
                </a:solidFill>
                <a:highlight>
                  <a:srgbClr val="CFE2F3"/>
                </a:highlight>
              </a:rPr>
              <a:t>PASO 5 </a:t>
            </a:r>
            <a:r>
              <a:rPr b="1" lang="es" sz="1800">
                <a:solidFill>
                  <a:schemeClr val="dk2"/>
                </a:solidFill>
              </a:rPr>
              <a:t>- </a:t>
            </a:r>
            <a:r>
              <a:rPr b="1" lang="es" sz="1800">
                <a:solidFill>
                  <a:schemeClr val="dk2"/>
                </a:solidFill>
              </a:rPr>
              <a:t>Selección de clusters:</a:t>
            </a:r>
            <a:r>
              <a:rPr lang="es" sz="1800">
                <a:solidFill>
                  <a:schemeClr val="dk2"/>
                </a:solidFill>
              </a:rPr>
              <a:t> Para determinar el número óptimo de clusters, se puede examinar el dendrograma y decidir en qué nivel de similitud desea cortar el árbol.</a:t>
            </a:r>
            <a:endParaRPr sz="1800">
              <a:solidFill>
                <a:schemeClr val="dk2"/>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51"/>
          <p:cNvSpPr txBox="1"/>
          <p:nvPr/>
        </p:nvSpPr>
        <p:spPr>
          <a:xfrm>
            <a:off x="381000" y="273850"/>
            <a:ext cx="85239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2800">
                <a:solidFill>
                  <a:srgbClr val="0000FF"/>
                </a:solidFill>
              </a:rPr>
              <a:t>Hierarchical Clustering (Clustering Jerárquico)</a:t>
            </a:r>
            <a:endParaRPr b="1" sz="2500">
              <a:solidFill>
                <a:srgbClr val="0000FF"/>
              </a:solidFill>
            </a:endParaRPr>
          </a:p>
        </p:txBody>
      </p:sp>
      <p:sp>
        <p:nvSpPr>
          <p:cNvPr id="316" name="Google Shape;316;p51"/>
          <p:cNvSpPr txBox="1"/>
          <p:nvPr/>
        </p:nvSpPr>
        <p:spPr>
          <a:xfrm>
            <a:off x="484775" y="969575"/>
            <a:ext cx="26163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Veamos otro ejemplo: </a:t>
            </a:r>
            <a:endParaRPr sz="1800">
              <a:solidFill>
                <a:schemeClr val="dk2"/>
              </a:solidFill>
            </a:endParaRPr>
          </a:p>
        </p:txBody>
      </p:sp>
      <p:pic>
        <p:nvPicPr>
          <p:cNvPr id="317" name="Google Shape;317;p51"/>
          <p:cNvPicPr preferRelativeResize="0"/>
          <p:nvPr/>
        </p:nvPicPr>
        <p:blipFill>
          <a:blip r:embed="rId3">
            <a:alphaModFix/>
          </a:blip>
          <a:stretch>
            <a:fillRect/>
          </a:stretch>
        </p:blipFill>
        <p:spPr>
          <a:xfrm>
            <a:off x="3621575" y="1092650"/>
            <a:ext cx="4394654" cy="394925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52"/>
          <p:cNvSpPr txBox="1"/>
          <p:nvPr/>
        </p:nvSpPr>
        <p:spPr>
          <a:xfrm>
            <a:off x="381000" y="273850"/>
            <a:ext cx="85239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2800">
                <a:solidFill>
                  <a:srgbClr val="0000FF"/>
                </a:solidFill>
              </a:rPr>
              <a:t>Hierarchical Clustering (Clustering Jerárquico)</a:t>
            </a:r>
            <a:endParaRPr b="1" sz="2500">
              <a:solidFill>
                <a:srgbClr val="0000FF"/>
              </a:solidFill>
            </a:endParaRPr>
          </a:p>
        </p:txBody>
      </p:sp>
      <p:pic>
        <p:nvPicPr>
          <p:cNvPr id="323" name="Google Shape;323;p52"/>
          <p:cNvPicPr preferRelativeResize="0"/>
          <p:nvPr/>
        </p:nvPicPr>
        <p:blipFill>
          <a:blip r:embed="rId3">
            <a:alphaModFix/>
          </a:blip>
          <a:stretch>
            <a:fillRect/>
          </a:stretch>
        </p:blipFill>
        <p:spPr>
          <a:xfrm>
            <a:off x="1104900" y="1029150"/>
            <a:ext cx="7236809" cy="394925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53"/>
          <p:cNvSpPr txBox="1"/>
          <p:nvPr/>
        </p:nvSpPr>
        <p:spPr>
          <a:xfrm>
            <a:off x="381000" y="273850"/>
            <a:ext cx="85239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2800">
                <a:solidFill>
                  <a:srgbClr val="0000FF"/>
                </a:solidFill>
              </a:rPr>
              <a:t>Métodos de vinculación </a:t>
            </a:r>
            <a:endParaRPr b="1" sz="2500">
              <a:solidFill>
                <a:srgbClr val="0000FF"/>
              </a:solidFill>
            </a:endParaRPr>
          </a:p>
        </p:txBody>
      </p:sp>
      <p:sp>
        <p:nvSpPr>
          <p:cNvPr id="329" name="Google Shape;329;p53"/>
          <p:cNvSpPr txBox="1"/>
          <p:nvPr/>
        </p:nvSpPr>
        <p:spPr>
          <a:xfrm>
            <a:off x="459375" y="1130425"/>
            <a:ext cx="8445600" cy="90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900">
                <a:solidFill>
                  <a:schemeClr val="dk2"/>
                </a:solidFill>
              </a:rPr>
              <a:t>Hay varias formas de medir la distancia entre los conglomerados para decidir la forma de fusionarlos (PASO 3). </a:t>
            </a:r>
            <a:endParaRPr sz="1900">
              <a:solidFill>
                <a:schemeClr val="dk2"/>
              </a:solidFill>
            </a:endParaRPr>
          </a:p>
          <a:p>
            <a:pPr indent="0" lvl="0" marL="0" rtl="0" algn="l">
              <a:spcBef>
                <a:spcPts val="0"/>
              </a:spcBef>
              <a:spcAft>
                <a:spcPts val="0"/>
              </a:spcAft>
              <a:buNone/>
            </a:pPr>
            <a:r>
              <a:rPr lang="es" sz="1900">
                <a:solidFill>
                  <a:schemeClr val="dk2"/>
                </a:solidFill>
              </a:rPr>
              <a:t>A menudo, se denominan </a:t>
            </a:r>
            <a:r>
              <a:rPr b="1" lang="es" sz="1900">
                <a:solidFill>
                  <a:schemeClr val="dk2"/>
                </a:solidFill>
              </a:rPr>
              <a:t>métodos de vinculación</a:t>
            </a:r>
            <a:r>
              <a:rPr lang="es" sz="1900">
                <a:solidFill>
                  <a:schemeClr val="dk2"/>
                </a:solidFill>
              </a:rPr>
              <a:t>. </a:t>
            </a:r>
            <a:endParaRPr sz="1900">
              <a:solidFill>
                <a:schemeClr val="dk2"/>
              </a:solidFill>
            </a:endParaRPr>
          </a:p>
          <a:p>
            <a:pPr indent="0" lvl="0" marL="0" rtl="0" algn="l">
              <a:spcBef>
                <a:spcPts val="0"/>
              </a:spcBef>
              <a:spcAft>
                <a:spcPts val="0"/>
              </a:spcAft>
              <a:buNone/>
            </a:pPr>
            <a:r>
              <a:t/>
            </a:r>
            <a:endParaRPr sz="1900">
              <a:solidFill>
                <a:schemeClr val="dk2"/>
              </a:solidFill>
            </a:endParaRPr>
          </a:p>
          <a:p>
            <a:pPr indent="0" lvl="0" marL="0" rtl="0" algn="l">
              <a:spcBef>
                <a:spcPts val="0"/>
              </a:spcBef>
              <a:spcAft>
                <a:spcPts val="0"/>
              </a:spcAft>
              <a:buNone/>
            </a:pPr>
            <a:r>
              <a:rPr i="1" lang="es" sz="1900">
                <a:solidFill>
                  <a:schemeClr val="dk2"/>
                </a:solidFill>
              </a:rPr>
              <a:t>Una cuestión importante es la elección de una métrica de distancia a utilizar. Hasta ahora, hemos utilizado la </a:t>
            </a:r>
            <a:r>
              <a:rPr b="1" i="1" lang="es" sz="1900">
                <a:solidFill>
                  <a:schemeClr val="dk2"/>
                </a:solidFill>
              </a:rPr>
              <a:t>distancia euclidiana</a:t>
            </a:r>
            <a:r>
              <a:rPr i="1" lang="es" sz="1900">
                <a:solidFill>
                  <a:schemeClr val="dk2"/>
                </a:solidFill>
              </a:rPr>
              <a:t> como medida de disimilitud. Pero a veces otras medidas de disimilitud pueden ser preferido: distancias de Minkowski, Manhattan, etc.</a:t>
            </a:r>
            <a:endParaRPr i="1" sz="1900">
              <a:solidFill>
                <a:schemeClr val="dk2"/>
              </a:solidFill>
            </a:endParaRPr>
          </a:p>
          <a:p>
            <a:pPr indent="0" lvl="0" marL="0" rtl="0" algn="l">
              <a:spcBef>
                <a:spcPts val="0"/>
              </a:spcBef>
              <a:spcAft>
                <a:spcPts val="0"/>
              </a:spcAft>
              <a:buNone/>
            </a:pPr>
            <a:r>
              <a:t/>
            </a:r>
            <a:endParaRPr sz="1900">
              <a:solidFill>
                <a:schemeClr val="dk2"/>
              </a:solidFill>
            </a:endParaRPr>
          </a:p>
          <a:p>
            <a:pPr indent="0" lvl="0" marL="0" rtl="0" algn="l">
              <a:spcBef>
                <a:spcPts val="0"/>
              </a:spcBef>
              <a:spcAft>
                <a:spcPts val="0"/>
              </a:spcAft>
              <a:buNone/>
            </a:pPr>
            <a:r>
              <a:t/>
            </a:r>
            <a:endParaRPr sz="1900">
              <a:solidFill>
                <a:schemeClr val="dk2"/>
              </a:solidFill>
            </a:endParaRPr>
          </a:p>
          <a:p>
            <a:pPr indent="0" lvl="0" marL="0" rtl="0" algn="l">
              <a:spcBef>
                <a:spcPts val="0"/>
              </a:spcBef>
              <a:spcAft>
                <a:spcPts val="0"/>
              </a:spcAft>
              <a:buNone/>
            </a:pPr>
            <a:r>
              <a:rPr lang="es" sz="1900">
                <a:solidFill>
                  <a:schemeClr val="dk2"/>
                </a:solidFill>
                <a:highlight>
                  <a:srgbClr val="CFE2F3"/>
                </a:highlight>
              </a:rPr>
              <a:t>Algunos de </a:t>
            </a:r>
            <a:r>
              <a:rPr b="1" lang="es" sz="1900">
                <a:solidFill>
                  <a:schemeClr val="dk2"/>
                </a:solidFill>
                <a:highlight>
                  <a:srgbClr val="CFE2F3"/>
                </a:highlight>
              </a:rPr>
              <a:t>los métodos de vinculación comunes</a:t>
            </a:r>
            <a:r>
              <a:rPr lang="es" sz="1900">
                <a:solidFill>
                  <a:schemeClr val="dk2"/>
                </a:solidFill>
                <a:highlight>
                  <a:srgbClr val="CFE2F3"/>
                </a:highlight>
              </a:rPr>
              <a:t> son:</a:t>
            </a:r>
            <a:endParaRPr sz="1900">
              <a:solidFill>
                <a:schemeClr val="dk2"/>
              </a:solidFill>
              <a:highlight>
                <a:srgbClr val="CFE2F3"/>
              </a:highlight>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54"/>
          <p:cNvSpPr txBox="1"/>
          <p:nvPr/>
        </p:nvSpPr>
        <p:spPr>
          <a:xfrm>
            <a:off x="381000" y="273850"/>
            <a:ext cx="85239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2800">
                <a:solidFill>
                  <a:srgbClr val="0000FF"/>
                </a:solidFill>
              </a:rPr>
              <a:t>Métodos de vinculación </a:t>
            </a:r>
            <a:endParaRPr b="1" sz="2500">
              <a:solidFill>
                <a:srgbClr val="0000FF"/>
              </a:solidFill>
            </a:endParaRPr>
          </a:p>
        </p:txBody>
      </p:sp>
      <p:sp>
        <p:nvSpPr>
          <p:cNvPr id="335" name="Google Shape;335;p54"/>
          <p:cNvSpPr txBox="1"/>
          <p:nvPr/>
        </p:nvSpPr>
        <p:spPr>
          <a:xfrm>
            <a:off x="459375" y="1130425"/>
            <a:ext cx="7124700" cy="9018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Char char="●"/>
            </a:pPr>
            <a:r>
              <a:rPr b="1" lang="es" sz="1800">
                <a:solidFill>
                  <a:schemeClr val="dk2"/>
                </a:solidFill>
                <a:highlight>
                  <a:srgbClr val="CFE2F3"/>
                </a:highlight>
              </a:rPr>
              <a:t>Complete link: Máxima disimilitud entre conglomerados. </a:t>
            </a:r>
            <a:endParaRPr b="1" sz="1800">
              <a:solidFill>
                <a:schemeClr val="dk2"/>
              </a:solidFill>
              <a:highlight>
                <a:srgbClr val="CFE2F3"/>
              </a:highlight>
            </a:endParaRPr>
          </a:p>
          <a:p>
            <a:pPr indent="0" lvl="0" marL="457200" rtl="0" algn="l">
              <a:spcBef>
                <a:spcPts val="0"/>
              </a:spcBef>
              <a:spcAft>
                <a:spcPts val="0"/>
              </a:spcAft>
              <a:buNone/>
            </a:pPr>
            <a:r>
              <a:rPr lang="es" sz="1800">
                <a:solidFill>
                  <a:schemeClr val="dk2"/>
                </a:solidFill>
              </a:rPr>
              <a:t>Calcula todas las diferencias por pares entre las observaciones en el conglomerado A y el observaciones en el conglomerado B, y registra el mayor de estas disimilitudes.</a:t>
            </a:r>
            <a:endParaRPr sz="1800">
              <a:solidFill>
                <a:schemeClr val="dk2"/>
              </a:solidFill>
            </a:endParaRPr>
          </a:p>
          <a:p>
            <a:pPr indent="0" lvl="0" marL="0" rtl="0" algn="l">
              <a:spcBef>
                <a:spcPts val="0"/>
              </a:spcBef>
              <a:spcAft>
                <a:spcPts val="0"/>
              </a:spcAft>
              <a:buNone/>
            </a:pPr>
            <a:r>
              <a:t/>
            </a:r>
            <a:endParaRPr sz="1900">
              <a:solidFill>
                <a:schemeClr val="dk2"/>
              </a:solidFill>
            </a:endParaRPr>
          </a:p>
          <a:p>
            <a:pPr indent="0" lvl="0" marL="0" rtl="0" algn="l">
              <a:spcBef>
                <a:spcPts val="0"/>
              </a:spcBef>
              <a:spcAft>
                <a:spcPts val="0"/>
              </a:spcAft>
              <a:buNone/>
            </a:pPr>
            <a:r>
              <a:t/>
            </a:r>
            <a:endParaRPr sz="1900">
              <a:solidFill>
                <a:schemeClr val="dk2"/>
              </a:solidFill>
            </a:endParaRPr>
          </a:p>
          <a:p>
            <a:pPr indent="0" lvl="0" marL="0" rtl="0" algn="l">
              <a:spcBef>
                <a:spcPts val="0"/>
              </a:spcBef>
              <a:spcAft>
                <a:spcPts val="0"/>
              </a:spcAft>
              <a:buNone/>
            </a:pPr>
            <a:r>
              <a:t/>
            </a:r>
            <a:endParaRPr sz="1900">
              <a:solidFill>
                <a:schemeClr val="dk2"/>
              </a:solidFill>
            </a:endParaRPr>
          </a:p>
          <a:p>
            <a:pPr indent="0" lvl="0" marL="0" rtl="0" algn="l">
              <a:spcBef>
                <a:spcPts val="0"/>
              </a:spcBef>
              <a:spcAft>
                <a:spcPts val="0"/>
              </a:spcAft>
              <a:buNone/>
            </a:pPr>
            <a:r>
              <a:t/>
            </a:r>
            <a:endParaRPr sz="1900">
              <a:solidFill>
                <a:schemeClr val="dk2"/>
              </a:solidFill>
            </a:endParaRPr>
          </a:p>
        </p:txBody>
      </p:sp>
      <p:pic>
        <p:nvPicPr>
          <p:cNvPr id="336" name="Google Shape;336;p54"/>
          <p:cNvPicPr preferRelativeResize="0"/>
          <p:nvPr/>
        </p:nvPicPr>
        <p:blipFill>
          <a:blip r:embed="rId3">
            <a:alphaModFix/>
          </a:blip>
          <a:stretch>
            <a:fillRect/>
          </a:stretch>
        </p:blipFill>
        <p:spPr>
          <a:xfrm>
            <a:off x="2235200" y="2571750"/>
            <a:ext cx="4307475" cy="210757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55"/>
          <p:cNvSpPr txBox="1"/>
          <p:nvPr/>
        </p:nvSpPr>
        <p:spPr>
          <a:xfrm>
            <a:off x="381000" y="273850"/>
            <a:ext cx="85239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2800">
                <a:solidFill>
                  <a:srgbClr val="0000FF"/>
                </a:solidFill>
              </a:rPr>
              <a:t>Métodos de vinculación </a:t>
            </a:r>
            <a:endParaRPr b="1" sz="2500">
              <a:solidFill>
                <a:srgbClr val="0000FF"/>
              </a:solidFill>
            </a:endParaRPr>
          </a:p>
        </p:txBody>
      </p:sp>
      <p:sp>
        <p:nvSpPr>
          <p:cNvPr id="342" name="Google Shape;342;p55"/>
          <p:cNvSpPr txBox="1"/>
          <p:nvPr/>
        </p:nvSpPr>
        <p:spPr>
          <a:xfrm>
            <a:off x="459375" y="1130425"/>
            <a:ext cx="7124700" cy="9018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Char char="●"/>
            </a:pPr>
            <a:r>
              <a:rPr b="1" lang="es" sz="1800">
                <a:solidFill>
                  <a:schemeClr val="dk2"/>
                </a:solidFill>
                <a:highlight>
                  <a:srgbClr val="CFE2F3"/>
                </a:highlight>
              </a:rPr>
              <a:t>Single Link: Mínima</a:t>
            </a:r>
            <a:r>
              <a:rPr b="1" lang="es" sz="1800">
                <a:solidFill>
                  <a:schemeClr val="dk2"/>
                </a:solidFill>
                <a:highlight>
                  <a:srgbClr val="CFE2F3"/>
                </a:highlight>
              </a:rPr>
              <a:t> disimilitud entre conglomerados.</a:t>
            </a:r>
            <a:endParaRPr b="1" sz="1800">
              <a:solidFill>
                <a:schemeClr val="dk2"/>
              </a:solidFill>
              <a:highlight>
                <a:srgbClr val="CFE2F3"/>
              </a:highlight>
            </a:endParaRPr>
          </a:p>
          <a:p>
            <a:pPr indent="0" lvl="0" marL="457200" rtl="0" algn="l">
              <a:spcBef>
                <a:spcPts val="0"/>
              </a:spcBef>
              <a:spcAft>
                <a:spcPts val="0"/>
              </a:spcAft>
              <a:buNone/>
            </a:pPr>
            <a:r>
              <a:rPr lang="es" sz="1800">
                <a:solidFill>
                  <a:schemeClr val="dk2"/>
                </a:solidFill>
              </a:rPr>
              <a:t>Calcula todas las diferencias por pares entre las observaciones en el conglomerado A y el observaciones en el conglomerado B, y registra la más pequeña de estas disimilitudes. </a:t>
            </a:r>
            <a:endParaRPr sz="1800">
              <a:solidFill>
                <a:schemeClr val="dk2"/>
              </a:solidFill>
            </a:endParaRPr>
          </a:p>
          <a:p>
            <a:pPr indent="0" lvl="0" marL="0" rtl="0" algn="l">
              <a:spcBef>
                <a:spcPts val="0"/>
              </a:spcBef>
              <a:spcAft>
                <a:spcPts val="0"/>
              </a:spcAft>
              <a:buNone/>
            </a:pPr>
            <a:r>
              <a:t/>
            </a:r>
            <a:endParaRPr sz="1900">
              <a:solidFill>
                <a:schemeClr val="dk2"/>
              </a:solidFill>
            </a:endParaRPr>
          </a:p>
          <a:p>
            <a:pPr indent="0" lvl="0" marL="0" rtl="0" algn="l">
              <a:spcBef>
                <a:spcPts val="0"/>
              </a:spcBef>
              <a:spcAft>
                <a:spcPts val="0"/>
              </a:spcAft>
              <a:buNone/>
            </a:pPr>
            <a:r>
              <a:t/>
            </a:r>
            <a:endParaRPr sz="1900">
              <a:solidFill>
                <a:schemeClr val="dk2"/>
              </a:solidFill>
            </a:endParaRPr>
          </a:p>
          <a:p>
            <a:pPr indent="0" lvl="0" marL="0" rtl="0" algn="l">
              <a:spcBef>
                <a:spcPts val="0"/>
              </a:spcBef>
              <a:spcAft>
                <a:spcPts val="0"/>
              </a:spcAft>
              <a:buNone/>
            </a:pPr>
            <a:r>
              <a:t/>
            </a:r>
            <a:endParaRPr sz="1900">
              <a:solidFill>
                <a:schemeClr val="dk2"/>
              </a:solidFill>
            </a:endParaRPr>
          </a:p>
        </p:txBody>
      </p:sp>
      <p:pic>
        <p:nvPicPr>
          <p:cNvPr id="343" name="Google Shape;343;p55"/>
          <p:cNvPicPr preferRelativeResize="0"/>
          <p:nvPr/>
        </p:nvPicPr>
        <p:blipFill>
          <a:blip r:embed="rId3">
            <a:alphaModFix/>
          </a:blip>
          <a:stretch>
            <a:fillRect/>
          </a:stretch>
        </p:blipFill>
        <p:spPr>
          <a:xfrm>
            <a:off x="2057400" y="2472100"/>
            <a:ext cx="4751975" cy="22523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6"/>
          <p:cNvSpPr txBox="1"/>
          <p:nvPr/>
        </p:nvSpPr>
        <p:spPr>
          <a:xfrm>
            <a:off x="381000" y="273850"/>
            <a:ext cx="85239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2800">
                <a:solidFill>
                  <a:srgbClr val="0000FF"/>
                </a:solidFill>
              </a:rPr>
              <a:t>Métodos de vinculación </a:t>
            </a:r>
            <a:endParaRPr b="1" sz="2500">
              <a:solidFill>
                <a:srgbClr val="0000FF"/>
              </a:solidFill>
            </a:endParaRPr>
          </a:p>
        </p:txBody>
      </p:sp>
      <p:sp>
        <p:nvSpPr>
          <p:cNvPr id="349" name="Google Shape;349;p56"/>
          <p:cNvSpPr txBox="1"/>
          <p:nvPr/>
        </p:nvSpPr>
        <p:spPr>
          <a:xfrm>
            <a:off x="459375" y="1130425"/>
            <a:ext cx="7861200" cy="9018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Char char="●"/>
            </a:pPr>
            <a:r>
              <a:rPr b="1" lang="es" sz="1800">
                <a:solidFill>
                  <a:schemeClr val="dk2"/>
                </a:solidFill>
                <a:highlight>
                  <a:srgbClr val="CFE2F3"/>
                </a:highlight>
              </a:rPr>
              <a:t>Average link: Disimilitud media entre grupos. </a:t>
            </a:r>
            <a:endParaRPr b="1" sz="1800">
              <a:solidFill>
                <a:schemeClr val="dk2"/>
              </a:solidFill>
              <a:highlight>
                <a:srgbClr val="CFE2F3"/>
              </a:highlight>
            </a:endParaRPr>
          </a:p>
          <a:p>
            <a:pPr indent="0" lvl="0" marL="457200" rtl="0" algn="l">
              <a:spcBef>
                <a:spcPts val="0"/>
              </a:spcBef>
              <a:spcAft>
                <a:spcPts val="0"/>
              </a:spcAft>
              <a:buNone/>
            </a:pPr>
            <a:r>
              <a:rPr lang="es" sz="1800">
                <a:solidFill>
                  <a:schemeClr val="dk2"/>
                </a:solidFill>
              </a:rPr>
              <a:t>Calcula todas las diferencias por pares entre las observaciones en el conglomerado A y el observaciones en el conglomerado B y registra el promedio de estas disimilitudes.</a:t>
            </a:r>
            <a:endParaRPr sz="1800">
              <a:solidFill>
                <a:schemeClr val="dk2"/>
              </a:solidFill>
            </a:endParaRPr>
          </a:p>
          <a:p>
            <a:pPr indent="0" lvl="0" marL="0" rtl="0" algn="l">
              <a:spcBef>
                <a:spcPts val="0"/>
              </a:spcBef>
              <a:spcAft>
                <a:spcPts val="0"/>
              </a:spcAft>
              <a:buNone/>
            </a:pPr>
            <a:r>
              <a:t/>
            </a:r>
            <a:endParaRPr sz="1900">
              <a:solidFill>
                <a:schemeClr val="dk2"/>
              </a:solidFill>
            </a:endParaRPr>
          </a:p>
          <a:p>
            <a:pPr indent="0" lvl="0" marL="0" rtl="0" algn="l">
              <a:spcBef>
                <a:spcPts val="0"/>
              </a:spcBef>
              <a:spcAft>
                <a:spcPts val="0"/>
              </a:spcAft>
              <a:buNone/>
            </a:pPr>
            <a:r>
              <a:t/>
            </a:r>
            <a:endParaRPr sz="1900">
              <a:solidFill>
                <a:schemeClr val="dk2"/>
              </a:solidFill>
            </a:endParaRPr>
          </a:p>
          <a:p>
            <a:pPr indent="0" lvl="0" marL="0" rtl="0" algn="l">
              <a:spcBef>
                <a:spcPts val="0"/>
              </a:spcBef>
              <a:spcAft>
                <a:spcPts val="0"/>
              </a:spcAft>
              <a:buNone/>
            </a:pPr>
            <a:r>
              <a:t/>
            </a:r>
            <a:endParaRPr sz="1900">
              <a:solidFill>
                <a:schemeClr val="dk2"/>
              </a:solidFill>
            </a:endParaRPr>
          </a:p>
        </p:txBody>
      </p:sp>
      <p:pic>
        <p:nvPicPr>
          <p:cNvPr id="350" name="Google Shape;350;p56"/>
          <p:cNvPicPr preferRelativeResize="0"/>
          <p:nvPr/>
        </p:nvPicPr>
        <p:blipFill>
          <a:blip r:embed="rId3">
            <a:alphaModFix/>
          </a:blip>
          <a:stretch>
            <a:fillRect/>
          </a:stretch>
        </p:blipFill>
        <p:spPr>
          <a:xfrm>
            <a:off x="1841500" y="2444750"/>
            <a:ext cx="4713875" cy="234482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57"/>
          <p:cNvSpPr txBox="1"/>
          <p:nvPr/>
        </p:nvSpPr>
        <p:spPr>
          <a:xfrm>
            <a:off x="381000" y="273850"/>
            <a:ext cx="85239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2800">
                <a:solidFill>
                  <a:srgbClr val="0000FF"/>
                </a:solidFill>
              </a:rPr>
              <a:t>Métodos de vinculación </a:t>
            </a:r>
            <a:endParaRPr b="1" sz="2500">
              <a:solidFill>
                <a:srgbClr val="0000FF"/>
              </a:solidFill>
            </a:endParaRPr>
          </a:p>
        </p:txBody>
      </p:sp>
      <p:sp>
        <p:nvSpPr>
          <p:cNvPr id="356" name="Google Shape;356;p57"/>
          <p:cNvSpPr txBox="1"/>
          <p:nvPr/>
        </p:nvSpPr>
        <p:spPr>
          <a:xfrm>
            <a:off x="459375" y="952625"/>
            <a:ext cx="7861200" cy="9018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Char char="●"/>
            </a:pPr>
            <a:r>
              <a:rPr b="1" lang="es" sz="1800">
                <a:solidFill>
                  <a:schemeClr val="dk2"/>
                </a:solidFill>
                <a:highlight>
                  <a:srgbClr val="CFE2F3"/>
                </a:highlight>
              </a:rPr>
              <a:t>Centroid link: </a:t>
            </a:r>
            <a:r>
              <a:rPr b="1" lang="es" sz="1800">
                <a:solidFill>
                  <a:schemeClr val="dk2"/>
                </a:solidFill>
                <a:highlight>
                  <a:srgbClr val="CFE2F3"/>
                </a:highlight>
              </a:rPr>
              <a:t>Distancia</a:t>
            </a:r>
            <a:r>
              <a:rPr b="1" lang="es" sz="1800">
                <a:solidFill>
                  <a:schemeClr val="dk2"/>
                </a:solidFill>
                <a:highlight>
                  <a:srgbClr val="CFE2F3"/>
                </a:highlight>
              </a:rPr>
              <a:t> entre centroides. </a:t>
            </a:r>
            <a:endParaRPr b="1" sz="1800">
              <a:solidFill>
                <a:schemeClr val="dk2"/>
              </a:solidFill>
              <a:highlight>
                <a:srgbClr val="CFE2F3"/>
              </a:highlight>
            </a:endParaRPr>
          </a:p>
          <a:p>
            <a:pPr indent="0" lvl="0" marL="457200" rtl="0" algn="l">
              <a:spcBef>
                <a:spcPts val="0"/>
              </a:spcBef>
              <a:spcAft>
                <a:spcPts val="0"/>
              </a:spcAft>
              <a:buNone/>
            </a:pPr>
            <a:r>
              <a:rPr lang="es" sz="1800">
                <a:solidFill>
                  <a:schemeClr val="dk2"/>
                </a:solidFill>
              </a:rPr>
              <a:t>Cálculo de disimilitud entre el centroide del conglomerado A (una media vector de longitud p) y el centroide para el grupo B. </a:t>
            </a:r>
            <a:endParaRPr sz="1800">
              <a:solidFill>
                <a:schemeClr val="dk2"/>
              </a:solidFill>
            </a:endParaRPr>
          </a:p>
          <a:p>
            <a:pPr indent="0" lvl="0" marL="0" rtl="0" algn="l">
              <a:spcBef>
                <a:spcPts val="0"/>
              </a:spcBef>
              <a:spcAft>
                <a:spcPts val="0"/>
              </a:spcAft>
              <a:buNone/>
            </a:pPr>
            <a:r>
              <a:t/>
            </a:r>
            <a:endParaRPr sz="1900">
              <a:solidFill>
                <a:schemeClr val="dk2"/>
              </a:solidFill>
            </a:endParaRPr>
          </a:p>
          <a:p>
            <a:pPr indent="0" lvl="0" marL="0" rtl="0" algn="l">
              <a:spcBef>
                <a:spcPts val="0"/>
              </a:spcBef>
              <a:spcAft>
                <a:spcPts val="0"/>
              </a:spcAft>
              <a:buNone/>
            </a:pPr>
            <a:r>
              <a:t/>
            </a:r>
            <a:endParaRPr sz="1900">
              <a:solidFill>
                <a:schemeClr val="dk2"/>
              </a:solidFill>
            </a:endParaRPr>
          </a:p>
          <a:p>
            <a:pPr indent="0" lvl="0" marL="0" rtl="0" algn="l">
              <a:spcBef>
                <a:spcPts val="0"/>
              </a:spcBef>
              <a:spcAft>
                <a:spcPts val="0"/>
              </a:spcAft>
              <a:buNone/>
            </a:pPr>
            <a:r>
              <a:t/>
            </a:r>
            <a:endParaRPr sz="1900">
              <a:solidFill>
                <a:schemeClr val="dk2"/>
              </a:solidFill>
            </a:endParaRPr>
          </a:p>
        </p:txBody>
      </p:sp>
      <p:pic>
        <p:nvPicPr>
          <p:cNvPr id="357" name="Google Shape;357;p57"/>
          <p:cNvPicPr preferRelativeResize="0"/>
          <p:nvPr/>
        </p:nvPicPr>
        <p:blipFill>
          <a:blip r:embed="rId3">
            <a:alphaModFix/>
          </a:blip>
          <a:stretch>
            <a:fillRect/>
          </a:stretch>
        </p:blipFill>
        <p:spPr>
          <a:xfrm>
            <a:off x="2330518" y="2006500"/>
            <a:ext cx="3831156" cy="1663025"/>
          </a:xfrm>
          <a:prstGeom prst="rect">
            <a:avLst/>
          </a:prstGeom>
          <a:noFill/>
          <a:ln>
            <a:noFill/>
          </a:ln>
        </p:spPr>
      </p:pic>
      <p:sp>
        <p:nvSpPr>
          <p:cNvPr id="358" name="Google Shape;358;p57"/>
          <p:cNvSpPr txBox="1"/>
          <p:nvPr/>
        </p:nvSpPr>
        <p:spPr>
          <a:xfrm>
            <a:off x="515400" y="3821600"/>
            <a:ext cx="8255100" cy="698400"/>
          </a:xfrm>
          <a:prstGeom prst="rect">
            <a:avLst/>
          </a:prstGeom>
          <a:noFill/>
          <a:ln>
            <a:noFill/>
          </a:ln>
        </p:spPr>
        <p:txBody>
          <a:bodyPr anchorCtr="0" anchor="t" bIns="91425" lIns="91425" spcFirstLastPara="1" rIns="91425" wrap="square" tIns="91425">
            <a:noAutofit/>
          </a:bodyPr>
          <a:lstStyle/>
          <a:p>
            <a:pPr indent="-336550" lvl="0" marL="457200" rtl="0" algn="l">
              <a:spcBef>
                <a:spcPts val="0"/>
              </a:spcBef>
              <a:spcAft>
                <a:spcPts val="0"/>
              </a:spcAft>
              <a:buClr>
                <a:schemeClr val="dk2"/>
              </a:buClr>
              <a:buSzPts val="1700"/>
              <a:buChar char="●"/>
            </a:pPr>
            <a:r>
              <a:rPr b="1" lang="es" sz="1700">
                <a:solidFill>
                  <a:schemeClr val="dk2"/>
                </a:solidFill>
                <a:highlight>
                  <a:srgbClr val="CFE2F3"/>
                </a:highlight>
              </a:rPr>
              <a:t>Ward link: Minimizar la variabilidad intra-cluster. </a:t>
            </a:r>
            <a:endParaRPr b="1" sz="1700">
              <a:solidFill>
                <a:schemeClr val="dk2"/>
              </a:solidFill>
              <a:highlight>
                <a:srgbClr val="CFE2F3"/>
              </a:highlight>
            </a:endParaRPr>
          </a:p>
          <a:p>
            <a:pPr indent="0" lvl="0" marL="457200" rtl="0" algn="l">
              <a:spcBef>
                <a:spcPts val="0"/>
              </a:spcBef>
              <a:spcAft>
                <a:spcPts val="0"/>
              </a:spcAft>
              <a:buNone/>
            </a:pPr>
            <a:r>
              <a:rPr lang="es" sz="1700">
                <a:solidFill>
                  <a:schemeClr val="dk2"/>
                </a:solidFill>
              </a:rPr>
              <a:t>Se basa en minimizar la suma total de cuadrados dentro del grupo de la fusión de dos grupos. Este método fusiona dos grupos de manera que la fusión da como resultado la suma de cuadrados más pequeña.</a:t>
            </a:r>
            <a:endParaRPr sz="1700">
              <a:solidFill>
                <a:schemeClr val="dk2"/>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8"/>
          <p:cNvSpPr txBox="1"/>
          <p:nvPr/>
        </p:nvSpPr>
        <p:spPr>
          <a:xfrm>
            <a:off x="233850" y="457650"/>
            <a:ext cx="8523900" cy="1111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2800">
                <a:solidFill>
                  <a:srgbClr val="0000FF"/>
                </a:solidFill>
              </a:rPr>
              <a:t>Clustering </a:t>
            </a:r>
            <a:r>
              <a:rPr b="1" lang="es" sz="2800">
                <a:solidFill>
                  <a:srgbClr val="0000FF"/>
                </a:solidFill>
              </a:rPr>
              <a:t>Jerárquico</a:t>
            </a:r>
            <a:r>
              <a:rPr b="1" lang="es" sz="2800">
                <a:solidFill>
                  <a:srgbClr val="0000FF"/>
                </a:solidFill>
              </a:rPr>
              <a:t>: Desventajas a tener en mente</a:t>
            </a:r>
            <a:endParaRPr b="1" sz="2500">
              <a:solidFill>
                <a:srgbClr val="0000FF"/>
              </a:solidFill>
            </a:endParaRPr>
          </a:p>
        </p:txBody>
      </p:sp>
      <p:sp>
        <p:nvSpPr>
          <p:cNvPr id="364" name="Google Shape;364;p58"/>
          <p:cNvSpPr txBox="1"/>
          <p:nvPr/>
        </p:nvSpPr>
        <p:spPr>
          <a:xfrm>
            <a:off x="357775" y="1807775"/>
            <a:ext cx="8420100" cy="17400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Char char="●"/>
            </a:pPr>
            <a:r>
              <a:rPr lang="es" sz="1800">
                <a:solidFill>
                  <a:schemeClr val="dk2"/>
                </a:solidFill>
              </a:rPr>
              <a:t>Son computacionalmente muy costosos (es recomendable aplicarlo en muestras pequeñas)</a:t>
            </a:r>
            <a:endParaRPr sz="1800">
              <a:solidFill>
                <a:schemeClr val="dk2"/>
              </a:solidFill>
            </a:endParaRPr>
          </a:p>
          <a:p>
            <a:pPr indent="0" lvl="0" marL="45720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Char char="●"/>
            </a:pPr>
            <a:r>
              <a:rPr lang="es" sz="1800">
                <a:solidFill>
                  <a:schemeClr val="dk2"/>
                </a:solidFill>
              </a:rPr>
              <a:t>Al igual que K-Medias, asigna un cluster a cada dato, por lo que los clusters encontrados pueden distorsionarse fuertemente debido a la presencia de valores atípicos que no pertenecen a </a:t>
            </a:r>
            <a:r>
              <a:rPr lang="es" sz="1800">
                <a:solidFill>
                  <a:schemeClr val="dk2"/>
                </a:solidFill>
              </a:rPr>
              <a:t>ningún</a:t>
            </a:r>
            <a:r>
              <a:rPr lang="es" sz="1800">
                <a:solidFill>
                  <a:schemeClr val="dk2"/>
                </a:solidFill>
              </a:rPr>
              <a:t> grupo </a:t>
            </a:r>
            <a:endParaRPr sz="1800">
              <a:solidFill>
                <a:schemeClr val="dk2"/>
              </a:solidFill>
            </a:endParaRPr>
          </a:p>
          <a:p>
            <a:pPr indent="0" lvl="0" marL="45720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Char char="●"/>
            </a:pPr>
            <a:r>
              <a:rPr lang="es" sz="1800">
                <a:solidFill>
                  <a:schemeClr val="dk2"/>
                </a:solidFill>
              </a:rPr>
              <a:t>Al igual que K-Medias, son sensibles a valores atípicos (poco robustos)</a:t>
            </a:r>
            <a:endParaRPr sz="18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