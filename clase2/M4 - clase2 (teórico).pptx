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Archiv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Archiv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chiv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chivo-boldItalic.fntdata"/><Relationship Id="rId30" Type="http://schemas.openxmlformats.org/officeDocument/2006/relationships/font" Target="fonts/Archiv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0769f5917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0769f5917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769f5917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769f5917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0769f5917d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0769f5917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769f5917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769f5917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769f5917d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769f5917d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0769f5917d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0769f5917d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0769f5917d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0769f5917d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0769f5917d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0769f5917d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0769f5917d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0769f5917d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0769f5917d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0769f5917d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0769f5917d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0769f5917d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769f5917d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0769f5917d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0769f5917d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0769f5917d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769f5917d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0769f5917d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c1ed7863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c1ed7863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c1ed7863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c1ed7863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c1ed7863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5c1ed7863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c1ed7863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5c1ed7863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5c1ed7863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5c1ed7863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c1ed7863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5c1ed7863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5c1ed7863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5c1ed7863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hristophm.github.io/interpretable-ml-book/tree.html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681575" y="4659525"/>
            <a:ext cx="29052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95959"/>
                </a:solidFill>
              </a:rPr>
              <a:t>COMISIÓN 2</a:t>
            </a:r>
            <a:r>
              <a:rPr b="1" lang="es" sz="1600">
                <a:solidFill>
                  <a:srgbClr val="595959"/>
                </a:solidFill>
              </a:rPr>
              <a:t> </a:t>
            </a:r>
            <a:endParaRPr b="1" sz="1600">
              <a:solidFill>
                <a:srgbClr val="595959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48274" l="0" r="0" t="0"/>
          <a:stretch/>
        </p:blipFill>
        <p:spPr>
          <a:xfrm>
            <a:off x="152400" y="938200"/>
            <a:ext cx="8839200" cy="141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0" l="0" r="0" t="75659"/>
          <a:stretch/>
        </p:blipFill>
        <p:spPr>
          <a:xfrm>
            <a:off x="152400" y="2814077"/>
            <a:ext cx="8839199" cy="975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350" y="206450"/>
            <a:ext cx="3600125" cy="6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283350" y="1123350"/>
            <a:ext cx="8541300" cy="22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 u="sng">
                <a:solidFill>
                  <a:schemeClr val="dk2"/>
                </a:solidFill>
              </a:rPr>
              <a:t>Premisa básica:</a:t>
            </a:r>
            <a:r>
              <a:rPr lang="es" sz="1700">
                <a:solidFill>
                  <a:schemeClr val="dk2"/>
                </a:solidFill>
              </a:rPr>
              <a:t> D</a:t>
            </a:r>
            <a:r>
              <a:rPr lang="es" sz="1700">
                <a:solidFill>
                  <a:schemeClr val="dk2"/>
                </a:solidFill>
              </a:rPr>
              <a:t>ivide el conjunto de datos en </a:t>
            </a:r>
            <a:r>
              <a:rPr b="1" lang="es" sz="1700">
                <a:solidFill>
                  <a:schemeClr val="dk2"/>
                </a:solidFill>
              </a:rPr>
              <a:t>subconjuntos más pequeños</a:t>
            </a:r>
            <a:r>
              <a:rPr lang="es" sz="1700">
                <a:solidFill>
                  <a:schemeClr val="dk2"/>
                </a:solidFill>
              </a:rPr>
              <a:t> con el objetivo de encontrar </a:t>
            </a:r>
            <a:r>
              <a:rPr b="1" lang="es" sz="1700">
                <a:solidFill>
                  <a:schemeClr val="dk2"/>
                </a:solidFill>
              </a:rPr>
              <a:t>una serie de </a:t>
            </a:r>
            <a:r>
              <a:rPr b="1" lang="es" sz="1700">
                <a:solidFill>
                  <a:schemeClr val="dk2"/>
                </a:solidFill>
              </a:rPr>
              <a:t>reglas de decisión</a:t>
            </a:r>
            <a:r>
              <a:rPr lang="es" sz="1700">
                <a:solidFill>
                  <a:schemeClr val="dk2"/>
                </a:solidFill>
              </a:rPr>
              <a:t> que le permitan separar lo más posible las clases de la variable categórica que busca predecir (en el caso que se trate de una tarea de clasificación).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</a:rPr>
              <a:t>¿Con qué criterio selecciona las variables y los puntos de corte que utiliza para hacer las particiones? </a:t>
            </a:r>
            <a:r>
              <a:rPr lang="es" sz="1700">
                <a:solidFill>
                  <a:schemeClr val="dk2"/>
                </a:solidFill>
              </a:rPr>
              <a:t>Hace la selección</a:t>
            </a:r>
            <a:r>
              <a:rPr lang="es" sz="1700">
                <a:solidFill>
                  <a:schemeClr val="dk2"/>
                </a:solidFill>
              </a:rPr>
              <a:t> que le permite </a:t>
            </a:r>
            <a:r>
              <a:rPr b="1" lang="es" sz="1700">
                <a:solidFill>
                  <a:schemeClr val="dk2"/>
                </a:solidFill>
              </a:rPr>
              <a:t>minimizar</a:t>
            </a:r>
            <a:r>
              <a:rPr b="1" lang="es" sz="1700">
                <a:solidFill>
                  <a:schemeClr val="dk2"/>
                </a:solidFill>
              </a:rPr>
              <a:t> la impureza</a:t>
            </a:r>
            <a:r>
              <a:rPr lang="es" sz="1700">
                <a:solidFill>
                  <a:schemeClr val="dk2"/>
                </a:solidFill>
              </a:rPr>
              <a:t> de los nodos (métricas: índice de gini - entropía)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</a:rPr>
              <a:t>¿Qué forma tienen las reglas de decisión?</a:t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</a:rPr>
              <a:t>Las reglas de decisión son de tipo </a:t>
            </a:r>
            <a:r>
              <a:rPr b="1" lang="es" sz="1700">
                <a:solidFill>
                  <a:srgbClr val="3C78D8"/>
                </a:solidFill>
              </a:rPr>
              <a:t>IF-THEN</a:t>
            </a:r>
            <a:r>
              <a:rPr b="1" lang="es" sz="1700">
                <a:solidFill>
                  <a:schemeClr val="dk2"/>
                </a:solidFill>
              </a:rPr>
              <a:t>: </a:t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rgbClr val="3C78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3C78D8"/>
                </a:solidFill>
              </a:rPr>
              <a:t>SI</a:t>
            </a:r>
            <a:r>
              <a:rPr lang="es" sz="1700">
                <a:solidFill>
                  <a:schemeClr val="dk2"/>
                </a:solidFill>
              </a:rPr>
              <a:t> Pronóstico= “Soleado” </a:t>
            </a:r>
            <a:r>
              <a:rPr b="1" lang="es" sz="1700">
                <a:solidFill>
                  <a:schemeClr val="dk2"/>
                </a:solidFill>
              </a:rPr>
              <a:t>Y </a:t>
            </a:r>
            <a:r>
              <a:rPr lang="es" sz="1700">
                <a:solidFill>
                  <a:schemeClr val="dk2"/>
                </a:solidFill>
              </a:rPr>
              <a:t>Humedad= “Normal”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3C78D8"/>
                </a:solidFill>
              </a:rPr>
              <a:t>ENTONCES</a:t>
            </a:r>
            <a:r>
              <a:rPr lang="es" sz="1700">
                <a:solidFill>
                  <a:schemeClr val="dk2"/>
                </a:solidFill>
              </a:rPr>
              <a:t> Jugar= “Sí”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3C78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1825" y="3615875"/>
            <a:ext cx="1151313" cy="107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5">
            <a:alphaModFix/>
          </a:blip>
          <a:srcRect b="0" l="20597" r="0" t="0"/>
          <a:stretch/>
        </p:blipFill>
        <p:spPr>
          <a:xfrm>
            <a:off x="7991125" y="4217250"/>
            <a:ext cx="511975" cy="47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5">
            <a:alphaModFix/>
          </a:blip>
          <a:srcRect b="0" l="20597" r="0" t="0"/>
          <a:stretch/>
        </p:blipFill>
        <p:spPr>
          <a:xfrm>
            <a:off x="6655250" y="3457625"/>
            <a:ext cx="511975" cy="4785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5169350" y="206450"/>
            <a:ext cx="38100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417425" y="285275"/>
            <a:ext cx="278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000FF"/>
                </a:solidFill>
                <a:highlight>
                  <a:srgbClr val="CFE2F3"/>
                </a:highlight>
              </a:rPr>
              <a:t>REPASO DE LA CLASE 1</a:t>
            </a:r>
            <a:endParaRPr b="1" sz="1500">
              <a:solidFill>
                <a:srgbClr val="0000FF"/>
              </a:solidFill>
              <a:highlight>
                <a:srgbClr val="CFE2F3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252200" y="930788"/>
            <a:ext cx="4179000" cy="3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VENTAJAS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La estructura de árbol es ideal para capturar las </a:t>
            </a:r>
            <a:r>
              <a:rPr b="1" lang="es" sz="1600">
                <a:solidFill>
                  <a:schemeClr val="dk2"/>
                </a:solidFill>
              </a:rPr>
              <a:t>interacciones</a:t>
            </a:r>
            <a:r>
              <a:rPr lang="es" sz="1600">
                <a:solidFill>
                  <a:schemeClr val="dk2"/>
                </a:solidFill>
              </a:rPr>
              <a:t> entre las características en los datos.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Las reglas de decisión hacen que su  </a:t>
            </a:r>
            <a:r>
              <a:rPr b="1" lang="es" sz="1600">
                <a:solidFill>
                  <a:schemeClr val="dk2"/>
                </a:solidFill>
              </a:rPr>
              <a:t>interpretación</a:t>
            </a:r>
            <a:r>
              <a:rPr lang="es" sz="1600">
                <a:solidFill>
                  <a:schemeClr val="dk2"/>
                </a:solidFill>
              </a:rPr>
              <a:t> sea bastante simple.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La estructura de árbol también tiene una </a:t>
            </a:r>
            <a:r>
              <a:rPr b="1" lang="es" sz="1600">
                <a:solidFill>
                  <a:schemeClr val="dk2"/>
                </a:solidFill>
              </a:rPr>
              <a:t>visualización</a:t>
            </a:r>
            <a:r>
              <a:rPr lang="es" sz="1600">
                <a:solidFill>
                  <a:schemeClr val="dk2"/>
                </a:solidFill>
              </a:rPr>
              <a:t> natural, con sus nodos y aristas.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2"/>
                </a:solidFill>
              </a:rPr>
              <a:t>Tienen </a:t>
            </a:r>
            <a:r>
              <a:rPr b="1" lang="es" sz="1600">
                <a:solidFill>
                  <a:schemeClr val="dk2"/>
                </a:solidFill>
              </a:rPr>
              <a:t>potencia explicativa</a:t>
            </a:r>
            <a:r>
              <a:rPr lang="es" sz="1600">
                <a:solidFill>
                  <a:schemeClr val="dk2"/>
                </a:solidFill>
              </a:rPr>
              <a:t>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431200" y="930800"/>
            <a:ext cx="4655400" cy="37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DESVENTAJAS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Los árboles </a:t>
            </a:r>
            <a:r>
              <a:rPr b="1" lang="es" sz="1600">
                <a:solidFill>
                  <a:schemeClr val="dk2"/>
                </a:solidFill>
              </a:rPr>
              <a:t>fallan en manejar relaciones lineales</a:t>
            </a:r>
            <a:r>
              <a:rPr lang="es" sz="1600">
                <a:solidFill>
                  <a:schemeClr val="dk2"/>
                </a:solidFill>
              </a:rPr>
              <a:t>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Son </a:t>
            </a:r>
            <a:r>
              <a:rPr b="1" lang="es" sz="1600">
                <a:solidFill>
                  <a:schemeClr val="dk2"/>
                </a:solidFill>
              </a:rPr>
              <a:t>poco robustos.</a:t>
            </a:r>
            <a:r>
              <a:rPr lang="es" sz="1600">
                <a:solidFill>
                  <a:schemeClr val="dk2"/>
                </a:solidFill>
              </a:rPr>
              <a:t> Pequeños cambios en la característica de entrada pueden tener un gran impacto en el resultado predicho, lo cual generalmente no es deseable.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Son bastante </a:t>
            </a:r>
            <a:r>
              <a:rPr b="1" lang="es" sz="1600">
                <a:solidFill>
                  <a:schemeClr val="dk2"/>
                </a:solidFill>
              </a:rPr>
              <a:t>inestables</a:t>
            </a:r>
            <a:r>
              <a:rPr lang="es" sz="1600">
                <a:solidFill>
                  <a:schemeClr val="dk2"/>
                </a:solidFill>
              </a:rPr>
              <a:t>. Unos pocos cambios en el conjunto de datos de entrenamiento pueden crear un árbol completamente diferente.</a:t>
            </a:r>
            <a:r>
              <a:rPr lang="es" sz="1700">
                <a:solidFill>
                  <a:schemeClr val="dk2"/>
                </a:solidFill>
              </a:rPr>
              <a:t>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highlight>
                  <a:srgbClr val="FFE599"/>
                </a:highlight>
              </a:rPr>
              <a:t>Tienen </a:t>
            </a:r>
            <a:r>
              <a:rPr b="1" lang="es" sz="1600">
                <a:solidFill>
                  <a:schemeClr val="dk2"/>
                </a:solidFill>
                <a:highlight>
                  <a:srgbClr val="FFE599"/>
                </a:highlight>
              </a:rPr>
              <a:t>baja capacidad predictiva</a:t>
            </a:r>
            <a:r>
              <a:rPr lang="es" sz="1600">
                <a:solidFill>
                  <a:schemeClr val="dk2"/>
                </a:solidFill>
                <a:highlight>
                  <a:srgbClr val="FFE599"/>
                </a:highlight>
              </a:rPr>
              <a:t>.</a:t>
            </a:r>
            <a:endParaRPr sz="1600">
              <a:solidFill>
                <a:schemeClr val="dk2"/>
              </a:solidFill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68725" y="4731125"/>
            <a:ext cx="477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2"/>
                </a:solidFill>
              </a:rPr>
              <a:t>Fuente: </a:t>
            </a:r>
            <a:r>
              <a:rPr lang="es" sz="1100" u="sng">
                <a:solidFill>
                  <a:schemeClr val="hlink"/>
                </a:solidFill>
                <a:hlinkClick r:id="rId3"/>
              </a:rPr>
              <a:t>https://christophm.github.io/interpretable-ml-book/tree.html</a:t>
            </a:r>
            <a:r>
              <a:rPr lang="es" sz="1100">
                <a:solidFill>
                  <a:schemeClr val="dk2"/>
                </a:solidFill>
              </a:rPr>
              <a:t> 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6417425" y="285275"/>
            <a:ext cx="278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000FF"/>
                </a:solidFill>
                <a:highlight>
                  <a:srgbClr val="CFE2F3"/>
                </a:highlight>
              </a:rPr>
              <a:t>REPASO DE LA CLASE 1</a:t>
            </a:r>
            <a:endParaRPr b="1" sz="1500">
              <a:solidFill>
                <a:srgbClr val="0000FF"/>
              </a:solidFill>
              <a:highlight>
                <a:srgbClr val="CFE2F3"/>
              </a:highlight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713" y="159225"/>
            <a:ext cx="3600125" cy="63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287800" y="1103925"/>
            <a:ext cx="4607700" cy="3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2"/>
                </a:solidFill>
              </a:rPr>
              <a:t>¿Qué opción tenemos si queremos </a:t>
            </a:r>
            <a:r>
              <a:rPr b="1" lang="es" sz="2200">
                <a:solidFill>
                  <a:schemeClr val="dk2"/>
                </a:solidFill>
                <a:highlight>
                  <a:srgbClr val="FFE599"/>
                </a:highlight>
              </a:rPr>
              <a:t>mejorar la capacidad predictiva</a:t>
            </a:r>
            <a:r>
              <a:rPr b="1" lang="es" sz="2200">
                <a:solidFill>
                  <a:schemeClr val="dk2"/>
                </a:solidFill>
              </a:rPr>
              <a:t> </a:t>
            </a:r>
            <a:r>
              <a:rPr lang="es" sz="2200">
                <a:solidFill>
                  <a:schemeClr val="dk2"/>
                </a:solidFill>
              </a:rPr>
              <a:t>de los </a:t>
            </a:r>
            <a:r>
              <a:rPr lang="es" sz="2200">
                <a:solidFill>
                  <a:schemeClr val="dk2"/>
                </a:solidFill>
              </a:rPr>
              <a:t>árboles</a:t>
            </a:r>
            <a:r>
              <a:rPr lang="es" sz="2200">
                <a:solidFill>
                  <a:schemeClr val="dk2"/>
                </a:solidFill>
              </a:rPr>
              <a:t> de decisión? 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dk2"/>
                </a:solidFill>
              </a:rPr>
              <a:t>Combinar varios </a:t>
            </a:r>
            <a:r>
              <a:rPr b="1" lang="es" sz="2200">
                <a:solidFill>
                  <a:schemeClr val="dk2"/>
                </a:solidFill>
              </a:rPr>
              <a:t>árboles</a:t>
            </a:r>
            <a:r>
              <a:rPr b="1" lang="es" sz="2200">
                <a:solidFill>
                  <a:schemeClr val="dk2"/>
                </a:solidFill>
              </a:rPr>
              <a:t>. </a:t>
            </a:r>
            <a:endParaRPr b="1"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2"/>
                </a:solidFill>
              </a:rPr>
              <a:t>Es decir, trabajar con </a:t>
            </a:r>
            <a:r>
              <a:rPr b="1" lang="es" sz="2200" u="sng">
                <a:solidFill>
                  <a:schemeClr val="dk2"/>
                </a:solidFill>
              </a:rPr>
              <a:t>ensambles de </a:t>
            </a:r>
            <a:r>
              <a:rPr b="1" lang="es" sz="2200" u="sng">
                <a:solidFill>
                  <a:schemeClr val="dk2"/>
                </a:solidFill>
              </a:rPr>
              <a:t>árboles</a:t>
            </a:r>
            <a:r>
              <a:rPr b="1" lang="es" sz="2200" u="sng">
                <a:solidFill>
                  <a:schemeClr val="dk2"/>
                </a:solidFill>
              </a:rPr>
              <a:t> de decisión</a:t>
            </a:r>
            <a:r>
              <a:rPr lang="es" sz="2200">
                <a:solidFill>
                  <a:schemeClr val="dk2"/>
                </a:solidFill>
              </a:rPr>
              <a:t>.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287800" y="313750"/>
            <a:ext cx="5453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Ensambles de </a:t>
            </a: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árboles</a:t>
            </a: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 de decisión</a:t>
            </a:r>
            <a:endParaRPr b="1" sz="24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9425" y="944050"/>
            <a:ext cx="1692750" cy="1894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2800" y="3012000"/>
            <a:ext cx="1692750" cy="1953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0875" y="1207049"/>
            <a:ext cx="1378200" cy="15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0875" y="3144300"/>
            <a:ext cx="1399450" cy="15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/>
        </p:nvSpPr>
        <p:spPr>
          <a:xfrm>
            <a:off x="287800" y="313750"/>
            <a:ext cx="76200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Tipos de e</a:t>
            </a: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nsambles de árboles de decisión</a:t>
            </a:r>
            <a:endParaRPr b="1" sz="24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287800" y="1016225"/>
            <a:ext cx="8501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</a:rPr>
              <a:t>Los árboles de decisión </a:t>
            </a:r>
            <a:r>
              <a:rPr lang="es" sz="1900" u="sng">
                <a:solidFill>
                  <a:schemeClr val="dk2"/>
                </a:solidFill>
              </a:rPr>
              <a:t>suelen ensamblarse principalmente de dos maneras</a:t>
            </a:r>
            <a:r>
              <a:rPr lang="es" sz="1900">
                <a:solidFill>
                  <a:schemeClr val="dk2"/>
                </a:solidFill>
              </a:rPr>
              <a:t>:</a:t>
            </a:r>
            <a:endParaRPr sz="1900">
              <a:solidFill>
                <a:schemeClr val="dk2"/>
              </a:solidFill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347325" y="1742500"/>
            <a:ext cx="83463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es" sz="2000">
                <a:solidFill>
                  <a:schemeClr val="dk2"/>
                </a:solidFill>
                <a:highlight>
                  <a:srgbClr val="CFE2F3"/>
                </a:highlight>
              </a:rPr>
              <a:t>Método</a:t>
            </a:r>
            <a:r>
              <a:rPr b="1" lang="es" sz="2000">
                <a:solidFill>
                  <a:schemeClr val="dk2"/>
                </a:solidFill>
                <a:highlight>
                  <a:srgbClr val="CFE2F3"/>
                </a:highlight>
              </a:rPr>
              <a:t> de Bagging (abreviatura de Bootstrap Aggregating)</a:t>
            </a:r>
            <a:endParaRPr b="1" sz="2000">
              <a:solidFill>
                <a:schemeClr val="dk2"/>
              </a:solidFill>
              <a:highlight>
                <a:srgbClr val="CFE2F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chemeClr val="dk2"/>
                </a:solidFill>
              </a:rPr>
              <a:t>Premisa básica:</a:t>
            </a:r>
            <a:r>
              <a:rPr lang="es" sz="1800">
                <a:solidFill>
                  <a:schemeClr val="dk2"/>
                </a:solidFill>
              </a:rPr>
              <a:t> Construir varios modelos independientes y luego promediar sus resultados. Por este motivo, también se los suele denominar “métodos de averaging”. (CLASE DE HOY!)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es" sz="2000">
                <a:solidFill>
                  <a:schemeClr val="dk2"/>
                </a:solidFill>
                <a:highlight>
                  <a:srgbClr val="CFE2F3"/>
                </a:highlight>
              </a:rPr>
              <a:t>Método de Boosting</a:t>
            </a:r>
            <a:endParaRPr b="1" sz="2000">
              <a:solidFill>
                <a:schemeClr val="dk2"/>
              </a:solidFill>
              <a:highlight>
                <a:srgbClr val="CFE2F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chemeClr val="dk2"/>
                </a:solidFill>
              </a:rPr>
              <a:t>Premisa básica:</a:t>
            </a:r>
            <a:r>
              <a:rPr lang="es" sz="1800">
                <a:solidFill>
                  <a:schemeClr val="dk2"/>
                </a:solidFill>
              </a:rPr>
              <a:t> Construir una secuencia de modelos donde cada nuevo modelo trata de corregir los errores del anterior.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/>
        </p:nvSpPr>
        <p:spPr>
          <a:xfrm>
            <a:off x="287800" y="313750"/>
            <a:ext cx="82986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Método de Bagging (Bootstrap Aggregating)</a:t>
            </a:r>
            <a:endParaRPr b="1" sz="24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4502600" y="954938"/>
            <a:ext cx="83940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E06666"/>
                </a:solidFill>
              </a:rPr>
              <a:t>B</a:t>
            </a:r>
            <a:r>
              <a:rPr b="1" lang="es" sz="2200">
                <a:solidFill>
                  <a:srgbClr val="6AA84F"/>
                </a:solidFill>
              </a:rPr>
              <a:t>agging</a:t>
            </a:r>
            <a:r>
              <a:rPr b="1" lang="es" sz="2200">
                <a:solidFill>
                  <a:schemeClr val="dk2"/>
                </a:solidFill>
              </a:rPr>
              <a:t>: </a:t>
            </a:r>
            <a:r>
              <a:rPr b="1" lang="es" sz="2200">
                <a:solidFill>
                  <a:srgbClr val="E06666"/>
                </a:solidFill>
              </a:rPr>
              <a:t>B</a:t>
            </a:r>
            <a:r>
              <a:rPr b="1" lang="es" sz="2200">
                <a:solidFill>
                  <a:schemeClr val="dk2"/>
                </a:solidFill>
              </a:rPr>
              <a:t>ootstrap </a:t>
            </a:r>
            <a:r>
              <a:rPr b="1" lang="es" sz="2200">
                <a:solidFill>
                  <a:srgbClr val="6AA84F"/>
                </a:solidFill>
              </a:rPr>
              <a:t>Agg</a:t>
            </a:r>
            <a:r>
              <a:rPr b="1" lang="es" sz="2200">
                <a:solidFill>
                  <a:schemeClr val="dk2"/>
                </a:solidFill>
              </a:rPr>
              <a:t>regat</a:t>
            </a:r>
            <a:r>
              <a:rPr b="1" lang="es" sz="2200">
                <a:solidFill>
                  <a:srgbClr val="6AA84F"/>
                </a:solidFill>
              </a:rPr>
              <a:t>ing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442575" y="1667575"/>
            <a:ext cx="5119800" cy="3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490200" y="1742500"/>
            <a:ext cx="5072100" cy="3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287800" y="1441350"/>
            <a:ext cx="8298600" cy="15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2"/>
                </a:solidFill>
              </a:rPr>
              <a:t>¿Cómo funciona este método?</a:t>
            </a:r>
            <a:endParaRPr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  <a:highlight>
                  <a:srgbClr val="CFE2F3"/>
                </a:highlight>
              </a:rPr>
              <a:t>PASO 1 - Generación de muestras:</a:t>
            </a:r>
            <a:r>
              <a:rPr b="1" lang="es" sz="1700">
                <a:solidFill>
                  <a:schemeClr val="dk2"/>
                </a:solidFill>
              </a:rPr>
              <a:t> </a:t>
            </a:r>
            <a:r>
              <a:rPr lang="es" sz="1700">
                <a:solidFill>
                  <a:schemeClr val="dk2"/>
                </a:solidFill>
              </a:rPr>
              <a:t>Se generan varias muestras aleatorias de los </a:t>
            </a:r>
            <a:r>
              <a:rPr b="1" lang="es" sz="1700">
                <a:solidFill>
                  <a:schemeClr val="dk2"/>
                </a:solidFill>
              </a:rPr>
              <a:t>datos de entrenamiento </a:t>
            </a:r>
            <a:r>
              <a:rPr lang="es" sz="1700">
                <a:solidFill>
                  <a:schemeClr val="dk2"/>
                </a:solidFill>
              </a:rPr>
              <a:t>originales mediante una técnica llamada </a:t>
            </a:r>
            <a:r>
              <a:rPr b="1" lang="es" sz="1700">
                <a:solidFill>
                  <a:srgbClr val="E06666"/>
                </a:solidFill>
              </a:rPr>
              <a:t>BOOTSTRAP</a:t>
            </a:r>
            <a:r>
              <a:rPr lang="es" sz="1700">
                <a:solidFill>
                  <a:schemeClr val="dk2"/>
                </a:solidFill>
              </a:rPr>
              <a:t>.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</a:rPr>
              <a:t>Esta técnica implica generar </a:t>
            </a:r>
            <a:r>
              <a:rPr b="1" lang="es" sz="1700">
                <a:solidFill>
                  <a:schemeClr val="dk2"/>
                </a:solidFill>
              </a:rPr>
              <a:t>múltiples subconjuntos del conjunto de datos</a:t>
            </a:r>
            <a:r>
              <a:rPr lang="es" sz="1700">
                <a:solidFill>
                  <a:schemeClr val="dk2"/>
                </a:solidFill>
              </a:rPr>
              <a:t>, </a:t>
            </a:r>
            <a:r>
              <a:rPr b="1" lang="es" sz="1700">
                <a:solidFill>
                  <a:schemeClr val="dk2"/>
                </a:solidFill>
              </a:rPr>
              <a:t>seleccionando aleatoriamente instancias </a:t>
            </a:r>
            <a:r>
              <a:rPr b="1" lang="es" sz="1700" u="sng">
                <a:solidFill>
                  <a:schemeClr val="dk2"/>
                </a:solidFill>
              </a:rPr>
              <a:t>con reemplazo</a:t>
            </a:r>
            <a:r>
              <a:rPr b="1" lang="es" sz="1700">
                <a:solidFill>
                  <a:schemeClr val="dk2"/>
                </a:solidFill>
              </a:rPr>
              <a:t>.</a:t>
            </a:r>
            <a:r>
              <a:rPr lang="es" sz="1700">
                <a:solidFill>
                  <a:schemeClr val="dk2"/>
                </a:solidFill>
              </a:rPr>
              <a:t>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chemeClr val="dk2"/>
                </a:solidFill>
              </a:rPr>
              <a:t>¿Qué </a:t>
            </a:r>
            <a:r>
              <a:rPr b="1" lang="es" sz="1700">
                <a:solidFill>
                  <a:schemeClr val="dk2"/>
                </a:solidFill>
              </a:rPr>
              <a:t>significa</a:t>
            </a:r>
            <a:r>
              <a:rPr b="1" lang="es" sz="1700">
                <a:solidFill>
                  <a:schemeClr val="dk2"/>
                </a:solidFill>
              </a:rPr>
              <a:t> </a:t>
            </a:r>
            <a:r>
              <a:rPr b="1" lang="es" sz="1700" u="sng">
                <a:solidFill>
                  <a:schemeClr val="dk2"/>
                </a:solidFill>
              </a:rPr>
              <a:t>con reemplazo</a:t>
            </a:r>
            <a:r>
              <a:rPr b="1" lang="es" sz="1700">
                <a:solidFill>
                  <a:schemeClr val="dk2"/>
                </a:solidFill>
              </a:rPr>
              <a:t>? </a:t>
            </a:r>
            <a:r>
              <a:rPr lang="es" sz="1700">
                <a:solidFill>
                  <a:schemeClr val="dk2"/>
                </a:solidFill>
              </a:rPr>
              <a:t>Algunas instancias pueden aparecer más de una vez en un subconjunto y otras pueden no aparecer.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4502600" y="958738"/>
            <a:ext cx="4536300" cy="528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/>
        </p:nvSpPr>
        <p:spPr>
          <a:xfrm>
            <a:off x="442575" y="1667575"/>
            <a:ext cx="5119800" cy="3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490200" y="1742500"/>
            <a:ext cx="5072100" cy="3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287800" y="1227025"/>
            <a:ext cx="8298600" cy="15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2"/>
                </a:solidFill>
              </a:rPr>
              <a:t>¿Cómo funciona este método?</a:t>
            </a:r>
            <a:endParaRPr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  <a:highlight>
                  <a:srgbClr val="CFE2F3"/>
                </a:highlight>
              </a:rPr>
              <a:t>PASO 2 </a:t>
            </a:r>
            <a:r>
              <a:rPr b="1" lang="es" sz="1700">
                <a:solidFill>
                  <a:schemeClr val="dk2"/>
                </a:solidFill>
                <a:highlight>
                  <a:srgbClr val="CFE2F3"/>
                </a:highlight>
              </a:rPr>
              <a:t>- Entrenamiento de modelos independientes:</a:t>
            </a:r>
            <a:r>
              <a:rPr b="1" lang="es" sz="1700">
                <a:solidFill>
                  <a:schemeClr val="dk2"/>
                </a:solidFill>
              </a:rPr>
              <a:t> </a:t>
            </a:r>
            <a:r>
              <a:rPr lang="es" sz="1700">
                <a:solidFill>
                  <a:schemeClr val="dk2"/>
                </a:solidFill>
              </a:rPr>
              <a:t>Para cada muestra generada, se entrena un modelo independiente (un modelo independiente = un árbol de decisión). Estos árboles suelen ser profundos / complejos.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</a:rPr>
              <a:t>La </a:t>
            </a:r>
            <a:r>
              <a:rPr b="1" lang="es" sz="1700">
                <a:solidFill>
                  <a:schemeClr val="dk2"/>
                </a:solidFill>
              </a:rPr>
              <a:t>cantidad de árboles de decisión </a:t>
            </a:r>
            <a:r>
              <a:rPr lang="es" sz="1700">
                <a:solidFill>
                  <a:schemeClr val="dk2"/>
                </a:solidFill>
              </a:rPr>
              <a:t>que van a formar parte del ensamble </a:t>
            </a:r>
            <a:r>
              <a:rPr b="1" lang="es" sz="1700" u="sng">
                <a:solidFill>
                  <a:schemeClr val="dk2"/>
                </a:solidFill>
              </a:rPr>
              <a:t>es un </a:t>
            </a:r>
            <a:r>
              <a:rPr b="1" lang="es" sz="1700" u="sng">
                <a:solidFill>
                  <a:schemeClr val="dk2"/>
                </a:solidFill>
              </a:rPr>
              <a:t>hiperparámetro</a:t>
            </a:r>
            <a:r>
              <a:rPr lang="es" sz="1700">
                <a:solidFill>
                  <a:schemeClr val="dk2"/>
                </a:solidFill>
              </a:rPr>
              <a:t> que vamos a definir durante el proceso de entrenamiento. 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  <a:highlight>
                <a:srgbClr val="CFE2F3"/>
              </a:highlight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287800" y="313750"/>
            <a:ext cx="82986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Método de Bagging (Bootstrap Aggregating)</a:t>
            </a:r>
            <a:endParaRPr b="1" sz="24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/>
        </p:nvSpPr>
        <p:spPr>
          <a:xfrm>
            <a:off x="442575" y="1667575"/>
            <a:ext cx="5119800" cy="3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490200" y="1742500"/>
            <a:ext cx="5072100" cy="3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287800" y="1131775"/>
            <a:ext cx="8298600" cy="15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2"/>
                </a:solidFill>
              </a:rPr>
              <a:t>¿Cómo funciona este método?</a:t>
            </a:r>
            <a:endParaRPr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  <a:highlight>
                  <a:srgbClr val="CFE2F3"/>
                </a:highlight>
              </a:rPr>
              <a:t>PASO 3 - Agregación de resultados:</a:t>
            </a:r>
            <a:r>
              <a:rPr b="1" lang="es" sz="1700">
                <a:solidFill>
                  <a:schemeClr val="dk2"/>
                </a:solidFill>
              </a:rPr>
              <a:t> </a:t>
            </a:r>
            <a:r>
              <a:rPr lang="es" sz="1700">
                <a:solidFill>
                  <a:schemeClr val="dk2"/>
                </a:solidFill>
              </a:rPr>
              <a:t>Una vez que los distintos </a:t>
            </a:r>
            <a:r>
              <a:rPr lang="es" sz="1700">
                <a:solidFill>
                  <a:schemeClr val="dk2"/>
                </a:solidFill>
              </a:rPr>
              <a:t>árboles</a:t>
            </a:r>
            <a:r>
              <a:rPr lang="es" sz="1700">
                <a:solidFill>
                  <a:schemeClr val="dk2"/>
                </a:solidFill>
              </a:rPr>
              <a:t> fueron </a:t>
            </a:r>
            <a:r>
              <a:rPr lang="es" sz="1700">
                <a:solidFill>
                  <a:schemeClr val="dk2"/>
                </a:solidFill>
              </a:rPr>
              <a:t>entrenados</a:t>
            </a:r>
            <a:r>
              <a:rPr lang="es" sz="1700">
                <a:solidFill>
                  <a:schemeClr val="dk2"/>
                </a:solidFill>
              </a:rPr>
              <a:t> en las distintas muestras, </a:t>
            </a:r>
            <a:r>
              <a:rPr b="1" lang="es" sz="1700">
                <a:solidFill>
                  <a:srgbClr val="6AA84F"/>
                </a:solidFill>
              </a:rPr>
              <a:t>se combinan sus predicciones</a:t>
            </a:r>
            <a:r>
              <a:rPr lang="es" sz="1700">
                <a:solidFill>
                  <a:schemeClr val="dk2"/>
                </a:solidFill>
              </a:rPr>
              <a:t> para obtener una predicción final.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es" sz="1700">
                <a:solidFill>
                  <a:schemeClr val="dk2"/>
                </a:solidFill>
              </a:rPr>
              <a:t>Para problemas de</a:t>
            </a:r>
            <a:r>
              <a:rPr b="1" lang="es" sz="1700">
                <a:solidFill>
                  <a:schemeClr val="dk2"/>
                </a:solidFill>
              </a:rPr>
              <a:t> clasificación</a:t>
            </a:r>
            <a:r>
              <a:rPr lang="es" sz="1700">
                <a:solidFill>
                  <a:schemeClr val="dk2"/>
                </a:solidFill>
              </a:rPr>
              <a:t>, las predicciones se combinan mediante </a:t>
            </a:r>
            <a:r>
              <a:rPr b="1" lang="es" sz="1700">
                <a:solidFill>
                  <a:schemeClr val="dk2"/>
                </a:solidFill>
              </a:rPr>
              <a:t>votación por mayoría:</a:t>
            </a:r>
            <a:r>
              <a:rPr lang="es" sz="1700">
                <a:solidFill>
                  <a:schemeClr val="dk2"/>
                </a:solidFill>
              </a:rPr>
              <a:t> cada modelo emite un "voto" por una clase y se elige la clase con más votos.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-"/>
            </a:pPr>
            <a:r>
              <a:rPr lang="es" sz="1700">
                <a:solidFill>
                  <a:schemeClr val="dk2"/>
                </a:solidFill>
              </a:rPr>
              <a:t>Para problemas de </a:t>
            </a:r>
            <a:r>
              <a:rPr b="1" lang="es" sz="1700">
                <a:solidFill>
                  <a:schemeClr val="dk2"/>
                </a:solidFill>
              </a:rPr>
              <a:t>regresión</a:t>
            </a:r>
            <a:r>
              <a:rPr lang="es" sz="1700">
                <a:solidFill>
                  <a:schemeClr val="dk2"/>
                </a:solidFill>
              </a:rPr>
              <a:t>, las predicciones se combinan </a:t>
            </a:r>
            <a:r>
              <a:rPr b="1" lang="es" sz="1700">
                <a:solidFill>
                  <a:schemeClr val="dk2"/>
                </a:solidFill>
              </a:rPr>
              <a:t>promediando</a:t>
            </a:r>
            <a:r>
              <a:rPr lang="es" sz="1700">
                <a:solidFill>
                  <a:schemeClr val="dk2"/>
                </a:solidFill>
              </a:rPr>
              <a:t> los resultados de todos los modelos.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  <a:highlight>
                <a:srgbClr val="CFE2F3"/>
              </a:highlight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287800" y="313750"/>
            <a:ext cx="82986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Método de Bagging (Bootstrap Aggregating)</a:t>
            </a:r>
            <a:endParaRPr b="1" sz="24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/>
        </p:nvSpPr>
        <p:spPr>
          <a:xfrm>
            <a:off x="442575" y="1334200"/>
            <a:ext cx="5119800" cy="3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490200" y="1409125"/>
            <a:ext cx="5072100" cy="3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575" y="1186175"/>
            <a:ext cx="5779699" cy="339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/>
        </p:nvSpPr>
        <p:spPr>
          <a:xfrm>
            <a:off x="6979125" y="2406250"/>
            <a:ext cx="10596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700">
                <a:solidFill>
                  <a:schemeClr val="dk2"/>
                </a:solidFill>
                <a:highlight>
                  <a:srgbClr val="CFE2F3"/>
                </a:highlight>
              </a:rPr>
              <a:t> </a:t>
            </a:r>
            <a:r>
              <a:rPr b="1" lang="es" sz="1700">
                <a:solidFill>
                  <a:schemeClr val="dk2"/>
                </a:solidFill>
                <a:highlight>
                  <a:srgbClr val="CFE2F3"/>
                </a:highlight>
              </a:rPr>
              <a:t>PASO 1  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6919575" y="3228400"/>
            <a:ext cx="10596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  <a:highlight>
                  <a:srgbClr val="CFE2F3"/>
                </a:highlight>
              </a:rPr>
              <a:t> </a:t>
            </a:r>
            <a:r>
              <a:rPr b="1" lang="es" sz="1700">
                <a:solidFill>
                  <a:schemeClr val="dk2"/>
                </a:solidFill>
                <a:highlight>
                  <a:srgbClr val="CFE2F3"/>
                </a:highlight>
              </a:rPr>
              <a:t>PASO 2 </a:t>
            </a:r>
            <a:endParaRPr sz="1800">
              <a:solidFill>
                <a:schemeClr val="dk2"/>
              </a:solidFill>
              <a:highlight>
                <a:srgbClr val="CFE2F3"/>
              </a:highlight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6919575" y="3880850"/>
            <a:ext cx="10596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2"/>
                </a:solidFill>
                <a:highlight>
                  <a:srgbClr val="CFE2F3"/>
                </a:highlight>
              </a:rPr>
              <a:t> </a:t>
            </a:r>
            <a:r>
              <a:rPr b="1" lang="es" sz="1700">
                <a:solidFill>
                  <a:schemeClr val="dk2"/>
                </a:solidFill>
                <a:highlight>
                  <a:srgbClr val="CFE2F3"/>
                </a:highlight>
              </a:rPr>
              <a:t>PASO 3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30" name="Google Shape;130;p21"/>
          <p:cNvCxnSpPr/>
          <p:nvPr/>
        </p:nvCxnSpPr>
        <p:spPr>
          <a:xfrm rot="10800000">
            <a:off x="6359875" y="2635450"/>
            <a:ext cx="702600" cy="6000"/>
          </a:xfrm>
          <a:prstGeom prst="straightConnector1">
            <a:avLst/>
          </a:prstGeom>
          <a:noFill/>
          <a:ln cap="flat" cmpd="sng" w="38100">
            <a:solidFill>
              <a:srgbClr val="CFE2F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1"/>
          <p:cNvCxnSpPr/>
          <p:nvPr/>
        </p:nvCxnSpPr>
        <p:spPr>
          <a:xfrm rot="10800000">
            <a:off x="6359875" y="3457600"/>
            <a:ext cx="702600" cy="6000"/>
          </a:xfrm>
          <a:prstGeom prst="straightConnector1">
            <a:avLst/>
          </a:prstGeom>
          <a:noFill/>
          <a:ln cap="flat" cmpd="sng" w="38100">
            <a:solidFill>
              <a:srgbClr val="CFE2F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21"/>
          <p:cNvCxnSpPr/>
          <p:nvPr/>
        </p:nvCxnSpPr>
        <p:spPr>
          <a:xfrm rot="10800000">
            <a:off x="6359875" y="4110050"/>
            <a:ext cx="702600" cy="6000"/>
          </a:xfrm>
          <a:prstGeom prst="straightConnector1">
            <a:avLst/>
          </a:prstGeom>
          <a:noFill/>
          <a:ln cap="flat" cmpd="sng" w="38100">
            <a:solidFill>
              <a:srgbClr val="CFE2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21"/>
          <p:cNvSpPr txBox="1"/>
          <p:nvPr/>
        </p:nvSpPr>
        <p:spPr>
          <a:xfrm>
            <a:off x="287800" y="313750"/>
            <a:ext cx="82986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Método de Bagging (Bootstrap Aggregating)</a:t>
            </a:r>
            <a:endParaRPr b="1" sz="24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/>
        </p:nvSpPr>
        <p:spPr>
          <a:xfrm>
            <a:off x="442575" y="1667575"/>
            <a:ext cx="5119800" cy="3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275875" y="992500"/>
            <a:ext cx="82986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2"/>
                </a:solidFill>
              </a:rPr>
              <a:t>¿Cómo se ve </a:t>
            </a:r>
            <a:r>
              <a:rPr b="1" lang="es" sz="2100">
                <a:solidFill>
                  <a:schemeClr val="dk2"/>
                </a:solidFill>
              </a:rPr>
              <a:t>un ensamble de </a:t>
            </a:r>
            <a:r>
              <a:rPr b="1" lang="es" sz="2100">
                <a:solidFill>
                  <a:schemeClr val="dk2"/>
                </a:solidFill>
              </a:rPr>
              <a:t>árboles</a:t>
            </a:r>
            <a:r>
              <a:rPr b="1" lang="es" sz="2100">
                <a:solidFill>
                  <a:schemeClr val="dk2"/>
                </a:solidFill>
              </a:rPr>
              <a:t> de regresión en dos dimensiones</a:t>
            </a:r>
            <a:r>
              <a:rPr lang="es" sz="2100">
                <a:solidFill>
                  <a:schemeClr val="dk2"/>
                </a:solidFill>
              </a:rPr>
              <a:t>?</a:t>
            </a:r>
            <a:endParaRPr sz="2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  <a:highlight>
                <a:srgbClr val="CFE2F3"/>
              </a:highlight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275875" y="313750"/>
            <a:ext cx="82986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Método de Bagging (Bootstrap Aggregating)</a:t>
            </a:r>
            <a:endParaRPr b="1" sz="24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225" y="1864975"/>
            <a:ext cx="6767174" cy="264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/>
        </p:nvSpPr>
        <p:spPr>
          <a:xfrm>
            <a:off x="442575" y="1667575"/>
            <a:ext cx="5119800" cy="3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275875" y="992500"/>
            <a:ext cx="82986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2"/>
                </a:solidFill>
              </a:rPr>
              <a:t>¿Cómo se ve </a:t>
            </a:r>
            <a:r>
              <a:rPr b="1" lang="es" sz="2100">
                <a:solidFill>
                  <a:schemeClr val="dk2"/>
                </a:solidFill>
              </a:rPr>
              <a:t>un ensamble de árboles de regresión en dos dimensiones</a:t>
            </a:r>
            <a:r>
              <a:rPr lang="es" sz="2100">
                <a:solidFill>
                  <a:schemeClr val="dk2"/>
                </a:solidFill>
              </a:rPr>
              <a:t>?</a:t>
            </a:r>
            <a:endParaRPr sz="2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  <a:highlight>
                <a:srgbClr val="CFE2F3"/>
              </a:highlight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275875" y="313750"/>
            <a:ext cx="82986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Método de Bagging (Bootstrap Aggregating)</a:t>
            </a:r>
            <a:endParaRPr b="1" sz="24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225" y="1929550"/>
            <a:ext cx="7220475" cy="292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/>
        </p:nvSpPr>
        <p:spPr>
          <a:xfrm>
            <a:off x="442575" y="1667575"/>
            <a:ext cx="5119800" cy="3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490200" y="1742500"/>
            <a:ext cx="3798000" cy="3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375000" y="980500"/>
            <a:ext cx="83940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287800" y="1599625"/>
            <a:ext cx="4703100" cy="30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383050" y="1492475"/>
            <a:ext cx="62745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375000" y="907388"/>
            <a:ext cx="8298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2"/>
                </a:solidFill>
              </a:rPr>
              <a:t>¿Qué </a:t>
            </a:r>
            <a:r>
              <a:rPr b="1" lang="es" sz="2100">
                <a:solidFill>
                  <a:schemeClr val="dk2"/>
                </a:solidFill>
              </a:rPr>
              <a:t>ventajas</a:t>
            </a:r>
            <a:r>
              <a:rPr lang="es" sz="2100">
                <a:solidFill>
                  <a:schemeClr val="dk2"/>
                </a:solidFill>
              </a:rPr>
              <a:t> tiene trabajar con </a:t>
            </a:r>
            <a:r>
              <a:rPr b="1" lang="es" sz="2100">
                <a:solidFill>
                  <a:schemeClr val="dk2"/>
                </a:solidFill>
              </a:rPr>
              <a:t>ensambles tipo bagging</a:t>
            </a:r>
            <a:r>
              <a:rPr lang="es" sz="2100">
                <a:solidFill>
                  <a:schemeClr val="dk2"/>
                </a:solidFill>
              </a:rPr>
              <a:t> en lugar de utilizar un único </a:t>
            </a:r>
            <a:r>
              <a:rPr lang="es" sz="2100">
                <a:solidFill>
                  <a:schemeClr val="dk2"/>
                </a:solidFill>
              </a:rPr>
              <a:t>árbol</a:t>
            </a:r>
            <a:r>
              <a:rPr lang="es" sz="2100">
                <a:solidFill>
                  <a:schemeClr val="dk2"/>
                </a:solidFill>
              </a:rPr>
              <a:t> de decisión?</a:t>
            </a:r>
            <a:endParaRPr sz="2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  <a:highlight>
                <a:srgbClr val="CFE2F3"/>
              </a:highlight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589300" y="5664425"/>
            <a:ext cx="68580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- Reducción de la varianza: Bagging reduce la variabilidad del modelo, lo que significa que los modelos son menos sensibles a cambios pequeños en los datos de entrenamiento. Al promediar varios modelos independientes, se obtiene un modelo final más robusto.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 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- **Mejora la precisión**: Al utilizar múltiples versiones del modelo, Bagging suele mejorar la precisión de las predicciones en comparación con un solo modelo de base.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- **Menos sobreajuste (overfitting)**: Aunque cada modelo individual puede sobreajustar los datos de entrenamiento, la combinación de múltiples modelos ayuda a mitigar el sobreajuste, haciendo que el modelo generalice mejor a nuevos datos.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4716925" y="1873475"/>
            <a:ext cx="36672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375000" y="1790225"/>
            <a:ext cx="75249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>
                <a:solidFill>
                  <a:srgbClr val="6AA84F"/>
                </a:solidFill>
              </a:rPr>
              <a:t>REDUCEN EL ERROR POR VARIANZA </a:t>
            </a:r>
            <a:endParaRPr b="1" sz="1600" u="sng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2"/>
                </a:solidFill>
              </a:rPr>
              <a:t>Una de las </a:t>
            </a:r>
            <a:r>
              <a:rPr b="1" lang="es" sz="1600">
                <a:solidFill>
                  <a:schemeClr val="dk2"/>
                </a:solidFill>
              </a:rPr>
              <a:t>desventajas de los árboles de decisión simples</a:t>
            </a:r>
            <a:r>
              <a:rPr lang="es" sz="1600">
                <a:solidFill>
                  <a:schemeClr val="dk2"/>
                </a:solidFill>
              </a:rPr>
              <a:t> es que son poco robustos: pequeños cambios en la característica de entrada pueden tener un gran impacto en el resultado predicho.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Es decir,</a:t>
            </a:r>
            <a:r>
              <a:rPr lang="es" sz="1600">
                <a:solidFill>
                  <a:schemeClr val="dk2"/>
                </a:solidFill>
              </a:rPr>
              <a:t> </a:t>
            </a:r>
            <a:r>
              <a:rPr b="1" lang="es" sz="1600">
                <a:solidFill>
                  <a:schemeClr val="dk2"/>
                </a:solidFill>
              </a:rPr>
              <a:t>son modelos con una alta variabilidad:</a:t>
            </a:r>
            <a:r>
              <a:rPr lang="es" sz="1600">
                <a:solidFill>
                  <a:schemeClr val="dk2"/>
                </a:solidFill>
              </a:rPr>
              <a:t> tienden a ajustarse demasiado a los datos de entrenamiento.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Los métodos de bagging reducen el error por varianza.</a:t>
            </a:r>
            <a:r>
              <a:rPr lang="es" sz="1600">
                <a:solidFill>
                  <a:schemeClr val="dk2"/>
                </a:solidFill>
              </a:rPr>
              <a:t>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Al </a:t>
            </a:r>
            <a:r>
              <a:rPr b="1" lang="es" sz="1600" u="sng">
                <a:solidFill>
                  <a:schemeClr val="dk2"/>
                </a:solidFill>
              </a:rPr>
              <a:t>promediar los resultados varios modelos independientes entrenados en distintos subconjuntos, se obtiene un modelo final más robusto</a:t>
            </a:r>
            <a:r>
              <a:rPr b="1" lang="es" sz="1600">
                <a:solidFill>
                  <a:schemeClr val="dk2"/>
                </a:solidFill>
              </a:rPr>
              <a:t>.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275875" y="313750"/>
            <a:ext cx="82986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Método de Bagging (Bootstrap Aggregating)</a:t>
            </a:r>
            <a:endParaRPr b="1" sz="24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/>
        </p:nvSpPr>
        <p:spPr>
          <a:xfrm>
            <a:off x="442575" y="1667575"/>
            <a:ext cx="5119800" cy="3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490200" y="1742500"/>
            <a:ext cx="3798000" cy="3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375000" y="980500"/>
            <a:ext cx="83940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287800" y="1599625"/>
            <a:ext cx="4703100" cy="30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383050" y="1492475"/>
            <a:ext cx="62745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375000" y="907388"/>
            <a:ext cx="8298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2"/>
                </a:solidFill>
              </a:rPr>
              <a:t>¿Qué </a:t>
            </a:r>
            <a:r>
              <a:rPr b="1" lang="es" sz="2100">
                <a:solidFill>
                  <a:schemeClr val="dk2"/>
                </a:solidFill>
              </a:rPr>
              <a:t>ventajas</a:t>
            </a:r>
            <a:r>
              <a:rPr lang="es" sz="2100">
                <a:solidFill>
                  <a:schemeClr val="dk2"/>
                </a:solidFill>
              </a:rPr>
              <a:t> tiene trabajar con </a:t>
            </a:r>
            <a:r>
              <a:rPr b="1" lang="es" sz="2100">
                <a:solidFill>
                  <a:schemeClr val="dk2"/>
                </a:solidFill>
              </a:rPr>
              <a:t>ensambles tipo bagging</a:t>
            </a:r>
            <a:r>
              <a:rPr lang="es" sz="2100">
                <a:solidFill>
                  <a:schemeClr val="dk2"/>
                </a:solidFill>
              </a:rPr>
              <a:t> en lugar de utilizar un único árbol de decisión?</a:t>
            </a:r>
            <a:endParaRPr sz="2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  <a:highlight>
                <a:srgbClr val="CFE2F3"/>
              </a:highlight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589300" y="5664425"/>
            <a:ext cx="68580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- Reducción de la varianza: Bagging reduce la variabilidad del modelo, lo que significa que los modelos son menos sensibles a cambios pequeños en los datos de entrenamiento. Al promediar varios modelos independientes, se obtiene un modelo final más robusto.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 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- **Mejora la precisión**: Al utilizar múltiples versiones del modelo, Bagging suele mejorar la precisión de las predicciones en comparación con un solo modelo de base.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- **Menos sobreajuste (overfitting)**: Aunque cada modelo individual puede sobreajustar los datos de entrenamiento, la combinación de múltiples modelos ayuda a mitigar el sobreajuste, haciendo que el modelo generalice mejor a nuevos datos.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4716925" y="1873475"/>
            <a:ext cx="36672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375000" y="1790225"/>
            <a:ext cx="75249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>
                <a:solidFill>
                  <a:srgbClr val="6AA84F"/>
                </a:solidFill>
              </a:rPr>
              <a:t>MEJORAN LA PRECISIÓN DEL MODELO</a:t>
            </a:r>
            <a:r>
              <a:rPr b="1" lang="es" sz="1600" u="sng">
                <a:solidFill>
                  <a:srgbClr val="6AA84F"/>
                </a:solidFill>
              </a:rPr>
              <a:t> </a:t>
            </a:r>
            <a:endParaRPr b="1" sz="1600" u="sng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El hecho de que las </a:t>
            </a:r>
            <a:r>
              <a:rPr b="1" lang="es" sz="1600">
                <a:solidFill>
                  <a:schemeClr val="dk2"/>
                </a:solidFill>
              </a:rPr>
              <a:t>muestras</a:t>
            </a:r>
            <a:r>
              <a:rPr lang="es" sz="1600">
                <a:solidFill>
                  <a:schemeClr val="dk2"/>
                </a:solidFill>
              </a:rPr>
              <a:t> se generen </a:t>
            </a:r>
            <a:r>
              <a:rPr b="1" lang="es" sz="1600">
                <a:solidFill>
                  <a:schemeClr val="dk2"/>
                </a:solidFill>
              </a:rPr>
              <a:t>con reemplazo</a:t>
            </a:r>
            <a:r>
              <a:rPr lang="es" sz="1600">
                <a:solidFill>
                  <a:schemeClr val="dk2"/>
                </a:solidFill>
              </a:rPr>
              <a:t> (es decir, un mismo caso puede formar parte de distintos subconjuntos) genera </a:t>
            </a:r>
            <a:r>
              <a:rPr lang="es" sz="1600">
                <a:solidFill>
                  <a:schemeClr val="dk2"/>
                </a:solidFill>
              </a:rPr>
              <a:t>los distintos </a:t>
            </a:r>
            <a:r>
              <a:rPr lang="es" sz="1600">
                <a:solidFill>
                  <a:schemeClr val="dk2"/>
                </a:solidFill>
              </a:rPr>
              <a:t>árboles</a:t>
            </a:r>
            <a:r>
              <a:rPr lang="es" sz="1600">
                <a:solidFill>
                  <a:schemeClr val="dk2"/>
                </a:solidFill>
              </a:rPr>
              <a:t> del ensamble comentan </a:t>
            </a:r>
            <a:r>
              <a:rPr b="1" lang="es" sz="1600" u="sng">
                <a:solidFill>
                  <a:schemeClr val="dk2"/>
                </a:solidFill>
              </a:rPr>
              <a:t>distintos errores ante los mismos casos</a:t>
            </a:r>
            <a:r>
              <a:rPr lang="es" sz="1600">
                <a:solidFill>
                  <a:schemeClr val="dk2"/>
                </a:solidFill>
              </a:rPr>
              <a:t>.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Esto permite mejorar la precisión de las predicciones</a:t>
            </a:r>
            <a:r>
              <a:rPr lang="es" sz="1600">
                <a:solidFill>
                  <a:schemeClr val="dk2"/>
                </a:solidFill>
              </a:rPr>
              <a:t> en comparación con un solo modelo de base (en comparación con un único árbol de decisión).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275875" y="313750"/>
            <a:ext cx="82986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Método de Bagging (Bootstrap Aggregating)</a:t>
            </a:r>
            <a:endParaRPr b="1" sz="24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/>
        </p:nvSpPr>
        <p:spPr>
          <a:xfrm>
            <a:off x="442575" y="1667575"/>
            <a:ext cx="5119800" cy="3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490200" y="1742500"/>
            <a:ext cx="3798000" cy="3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375000" y="980500"/>
            <a:ext cx="83940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287800" y="1599625"/>
            <a:ext cx="4703100" cy="30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383050" y="1492475"/>
            <a:ext cx="62745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375000" y="907388"/>
            <a:ext cx="8298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2"/>
                </a:solidFill>
              </a:rPr>
              <a:t>¿Qué </a:t>
            </a:r>
            <a:r>
              <a:rPr b="1" lang="es" sz="2100">
                <a:solidFill>
                  <a:schemeClr val="dk2"/>
                </a:solidFill>
              </a:rPr>
              <a:t>ventajas</a:t>
            </a:r>
            <a:r>
              <a:rPr lang="es" sz="2100">
                <a:solidFill>
                  <a:schemeClr val="dk2"/>
                </a:solidFill>
              </a:rPr>
              <a:t> tiene trabajar con </a:t>
            </a:r>
            <a:r>
              <a:rPr b="1" lang="es" sz="2100">
                <a:solidFill>
                  <a:schemeClr val="dk2"/>
                </a:solidFill>
              </a:rPr>
              <a:t>ensambles tipo bagging</a:t>
            </a:r>
            <a:r>
              <a:rPr lang="es" sz="2100">
                <a:solidFill>
                  <a:schemeClr val="dk2"/>
                </a:solidFill>
              </a:rPr>
              <a:t> en lugar de utilizar un único árbol de decisión?</a:t>
            </a:r>
            <a:endParaRPr sz="2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  <a:highlight>
                <a:srgbClr val="CFE2F3"/>
              </a:highlight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4716925" y="1873475"/>
            <a:ext cx="36672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442575" y="1873475"/>
            <a:ext cx="75249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>
                <a:solidFill>
                  <a:srgbClr val="6AA84F"/>
                </a:solidFill>
              </a:rPr>
              <a:t>MENOS SOBREAJUSTE (OVERFITTING) </a:t>
            </a:r>
            <a:endParaRPr b="1" sz="1600" u="sng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Si bien los </a:t>
            </a:r>
            <a:r>
              <a:rPr b="1" lang="es" sz="1600">
                <a:solidFill>
                  <a:schemeClr val="dk2"/>
                </a:solidFill>
              </a:rPr>
              <a:t>árboles</a:t>
            </a:r>
            <a:r>
              <a:rPr b="1" lang="es" sz="1600">
                <a:solidFill>
                  <a:schemeClr val="dk2"/>
                </a:solidFill>
              </a:rPr>
              <a:t> de decisión independientes</a:t>
            </a:r>
            <a:r>
              <a:rPr lang="es" sz="1600">
                <a:solidFill>
                  <a:schemeClr val="dk2"/>
                </a:solidFill>
              </a:rPr>
              <a:t> que forman parte del ensamble tienden a ser árboles </a:t>
            </a:r>
            <a:r>
              <a:rPr b="1" lang="es" sz="1600">
                <a:solidFill>
                  <a:schemeClr val="dk2"/>
                </a:solidFill>
              </a:rPr>
              <a:t>profundos</a:t>
            </a:r>
            <a:r>
              <a:rPr lang="es" sz="1600">
                <a:solidFill>
                  <a:schemeClr val="dk2"/>
                </a:solidFill>
              </a:rPr>
              <a:t> (que se sobreajustan a los datos de entrenamiento), </a:t>
            </a:r>
            <a:r>
              <a:rPr b="1" lang="es" sz="1600">
                <a:solidFill>
                  <a:schemeClr val="dk2"/>
                </a:solidFill>
              </a:rPr>
              <a:t>cada uno de ellos solo ve un único subconjunto</a:t>
            </a:r>
            <a:r>
              <a:rPr lang="es" sz="1600">
                <a:solidFill>
                  <a:schemeClr val="dk2"/>
                </a:solidFill>
              </a:rPr>
              <a:t> de los datos de entrenamiento (recordemos que trabajamos con muestras bootstrap).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</a:rPr>
              <a:t>La </a:t>
            </a:r>
            <a:r>
              <a:rPr b="1" lang="es" sz="1600">
                <a:solidFill>
                  <a:schemeClr val="dk2"/>
                </a:solidFill>
              </a:rPr>
              <a:t>combinación de estos </a:t>
            </a:r>
            <a:r>
              <a:rPr b="1" lang="es" sz="1600">
                <a:solidFill>
                  <a:schemeClr val="dk2"/>
                </a:solidFill>
              </a:rPr>
              <a:t>árboles</a:t>
            </a:r>
            <a:r>
              <a:rPr b="1" lang="es" sz="1600">
                <a:solidFill>
                  <a:schemeClr val="dk2"/>
                </a:solidFill>
              </a:rPr>
              <a:t> profundos entrenados en unos pocos datos ayuda a mitigar el sobreajuste</a:t>
            </a:r>
            <a:r>
              <a:rPr lang="es" sz="1600">
                <a:solidFill>
                  <a:schemeClr val="dk2"/>
                </a:solidFill>
              </a:rPr>
              <a:t>, haciendo que el modelo final (el ensamble) tenga mayor capacidad de generalización.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>
              <a:solidFill>
                <a:srgbClr val="6AA84F"/>
              </a:solidFill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275875" y="313750"/>
            <a:ext cx="82986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Método de Bagging (Bootstrap Aggregating)</a:t>
            </a:r>
            <a:endParaRPr b="1" sz="24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/>
        </p:nvSpPr>
        <p:spPr>
          <a:xfrm>
            <a:off x="490200" y="1742500"/>
            <a:ext cx="3798000" cy="3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375000" y="980500"/>
            <a:ext cx="83940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287800" y="1599625"/>
            <a:ext cx="4703100" cy="30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383050" y="1492475"/>
            <a:ext cx="62745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375000" y="1252718"/>
            <a:ext cx="8298600" cy="3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 u="sng">
                <a:solidFill>
                  <a:schemeClr val="dk2"/>
                </a:solidFill>
              </a:rPr>
              <a:t>Ejemplos de ensambles Bagging:</a:t>
            </a:r>
            <a:endParaRPr sz="2100" u="sng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s" sz="2100">
                <a:solidFill>
                  <a:schemeClr val="dk2"/>
                </a:solidFill>
              </a:rPr>
              <a:t>Bagging (ensamble clásico): </a:t>
            </a:r>
            <a:r>
              <a:rPr b="1" lang="es" sz="21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bag_tree()</a:t>
            </a:r>
            <a:endParaRPr b="1" sz="21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b="1" lang="es" sz="2100">
                <a:solidFill>
                  <a:schemeClr val="dk2"/>
                </a:solidFill>
              </a:rPr>
              <a:t>Random Forest</a:t>
            </a:r>
            <a:r>
              <a:rPr lang="es" sz="2100">
                <a:solidFill>
                  <a:schemeClr val="dk2"/>
                </a:solidFill>
              </a:rPr>
              <a:t> +  Extra Trees (ensambles tipo bagging pero con algunas particularidades)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  <a:highlight>
                <a:srgbClr val="CFE2F3"/>
              </a:highlight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287800" y="313725"/>
            <a:ext cx="82986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Método de Bagging (Bootstrap Aggregating)</a:t>
            </a:r>
            <a:endParaRPr b="1" sz="24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/>
        </p:nvSpPr>
        <p:spPr>
          <a:xfrm>
            <a:off x="375000" y="980500"/>
            <a:ext cx="83940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383050" y="1492475"/>
            <a:ext cx="62745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7" name="Google Shape;207;p28"/>
          <p:cNvSpPr txBox="1"/>
          <p:nvPr/>
        </p:nvSpPr>
        <p:spPr>
          <a:xfrm>
            <a:off x="5111700" y="1885475"/>
            <a:ext cx="35085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Para cada partición de cada uno de los árboles de decisión (modelos) </a:t>
            </a:r>
            <a:r>
              <a:rPr b="1" lang="es" sz="1800">
                <a:solidFill>
                  <a:schemeClr val="dk2"/>
                </a:solidFill>
              </a:rPr>
              <a:t>no se evalúan todas las variables predictoras sino sólo una muestra aleatoria de </a:t>
            </a:r>
            <a:r>
              <a:rPr b="1" lang="es" sz="1800">
                <a:solidFill>
                  <a:srgbClr val="9900FF"/>
                </a:solidFill>
              </a:rPr>
              <a:t>N</a:t>
            </a:r>
            <a:r>
              <a:rPr b="1" lang="es" sz="1800">
                <a:solidFill>
                  <a:schemeClr val="dk2"/>
                </a:solidFill>
              </a:rPr>
              <a:t> variables predictoras</a:t>
            </a:r>
            <a:r>
              <a:rPr lang="es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  <a:highlight>
                <a:srgbClr val="CFE2F3"/>
              </a:highlight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202238" y="206550"/>
            <a:ext cx="39930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Random Forest</a:t>
            </a:r>
            <a:endParaRPr b="1" sz="24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9" name="Google Shape;209;p28"/>
          <p:cNvSpPr txBox="1"/>
          <p:nvPr/>
        </p:nvSpPr>
        <p:spPr>
          <a:xfrm>
            <a:off x="184400" y="3396475"/>
            <a:ext cx="4536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</a:rPr>
              <a:t>NUEVO PASO: MUESTRA ALEATORIA DE </a:t>
            </a:r>
            <a:r>
              <a:rPr b="1" lang="es" sz="1200">
                <a:solidFill>
                  <a:srgbClr val="9900FF"/>
                </a:solidFill>
              </a:rPr>
              <a:t>N</a:t>
            </a:r>
            <a:r>
              <a:rPr b="1" lang="es" sz="1200">
                <a:solidFill>
                  <a:schemeClr val="dk2"/>
                </a:solidFill>
              </a:rPr>
              <a:t> PREDICTORES</a:t>
            </a:r>
            <a:r>
              <a:rPr lang="es" sz="1800">
                <a:solidFill>
                  <a:schemeClr val="dk2"/>
                </a:solidFill>
                <a:highlight>
                  <a:srgbClr val="CFE2F3"/>
                </a:highlight>
              </a:rPr>
              <a:t> </a:t>
            </a:r>
            <a:endParaRPr sz="1800">
              <a:solidFill>
                <a:schemeClr val="dk2"/>
              </a:solidFill>
              <a:highlight>
                <a:srgbClr val="CFE2F3"/>
              </a:highlight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202250" y="3477813"/>
            <a:ext cx="4500600" cy="345300"/>
          </a:xfrm>
          <a:prstGeom prst="rect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8"/>
          <p:cNvSpPr txBox="1"/>
          <p:nvPr/>
        </p:nvSpPr>
        <p:spPr>
          <a:xfrm>
            <a:off x="4384250" y="477050"/>
            <a:ext cx="4536300" cy="13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200">
                <a:solidFill>
                  <a:schemeClr val="dk2"/>
                </a:solidFill>
              </a:rPr>
              <a:t>¿Cuál es </a:t>
            </a:r>
            <a:r>
              <a:rPr b="1" lang="es" sz="2200">
                <a:solidFill>
                  <a:schemeClr val="dk2"/>
                </a:solidFill>
              </a:rPr>
              <a:t>el cambio</a:t>
            </a:r>
            <a:r>
              <a:rPr lang="es" sz="2200">
                <a:solidFill>
                  <a:schemeClr val="dk2"/>
                </a:solidFill>
              </a:rPr>
              <a:t> que introduce </a:t>
            </a:r>
            <a:r>
              <a:rPr b="1" lang="es" sz="2200">
                <a:solidFill>
                  <a:schemeClr val="dk2"/>
                </a:solidFill>
              </a:rPr>
              <a:t>Random Forest</a:t>
            </a:r>
            <a:r>
              <a:rPr lang="es" sz="2200">
                <a:solidFill>
                  <a:schemeClr val="dk2"/>
                </a:solidFill>
              </a:rPr>
              <a:t> en relación a un ensamble clásico de Bagging?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2" name="Google Shape;212;p28"/>
          <p:cNvSpPr/>
          <p:nvPr/>
        </p:nvSpPr>
        <p:spPr>
          <a:xfrm>
            <a:off x="5000625" y="2004450"/>
            <a:ext cx="3560100" cy="2077800"/>
          </a:xfrm>
          <a:prstGeom prst="rect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825" y="1064600"/>
            <a:ext cx="4096426" cy="233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250" y="3904463"/>
            <a:ext cx="3993001" cy="933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/>
          <p:nvPr/>
        </p:nvSpPr>
        <p:spPr>
          <a:xfrm>
            <a:off x="375000" y="980500"/>
            <a:ext cx="83940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202238" y="206550"/>
            <a:ext cx="39930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Random Forest</a:t>
            </a:r>
            <a:endParaRPr b="1" sz="24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21" name="Google Shape;221;p29"/>
          <p:cNvSpPr txBox="1"/>
          <p:nvPr/>
        </p:nvSpPr>
        <p:spPr>
          <a:xfrm>
            <a:off x="202250" y="849500"/>
            <a:ext cx="65865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2"/>
                </a:solidFill>
              </a:rPr>
              <a:t>¿Por qué este cambio genera una </a:t>
            </a:r>
            <a:r>
              <a:rPr b="1" lang="es" sz="2200">
                <a:solidFill>
                  <a:schemeClr val="dk2"/>
                </a:solidFill>
              </a:rPr>
              <a:t>mejora</a:t>
            </a:r>
            <a:r>
              <a:rPr lang="es" sz="2200">
                <a:solidFill>
                  <a:schemeClr val="dk2"/>
                </a:solidFill>
              </a:rPr>
              <a:t>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327450" y="1599650"/>
            <a:ext cx="8489100" cy="30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</a:rPr>
              <a:t>Si entre las variables disponibles hay </a:t>
            </a:r>
            <a:r>
              <a:rPr b="1" lang="es" sz="1900">
                <a:solidFill>
                  <a:schemeClr val="dk2"/>
                </a:solidFill>
              </a:rPr>
              <a:t>predictores fuertes</a:t>
            </a:r>
            <a:r>
              <a:rPr lang="es" sz="1900">
                <a:solidFill>
                  <a:schemeClr val="dk2"/>
                </a:solidFill>
              </a:rPr>
              <a:t> (ej: sexo en la predicción de realiza_trabajo_domestico), </a:t>
            </a:r>
            <a:r>
              <a:rPr b="1" lang="es" sz="1900">
                <a:solidFill>
                  <a:schemeClr val="dk2"/>
                </a:solidFill>
              </a:rPr>
              <a:t>es probable que la mayoría de  </a:t>
            </a:r>
            <a:r>
              <a:rPr b="1" lang="es" sz="1900" u="sng">
                <a:solidFill>
                  <a:schemeClr val="dk2"/>
                </a:solidFill>
              </a:rPr>
              <a:t>los árboles del ensamble sean muy similares entre sí</a:t>
            </a:r>
            <a:r>
              <a:rPr lang="es" sz="1900" u="sng">
                <a:solidFill>
                  <a:schemeClr val="dk2"/>
                </a:solidFill>
              </a:rPr>
              <a:t> </a:t>
            </a:r>
            <a:r>
              <a:rPr lang="es" sz="1900">
                <a:solidFill>
                  <a:schemeClr val="dk2"/>
                </a:solidFill>
              </a:rPr>
              <a:t>y queden correlacionados. 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¿Y por qué esto es un problema?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Recordemos una de las ventajas</a:t>
            </a:r>
            <a:r>
              <a:rPr lang="es" sz="1800">
                <a:solidFill>
                  <a:schemeClr val="dk2"/>
                </a:solidFill>
              </a:rPr>
              <a:t> asociadas a los ensambles de árboles de clasificación: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/>
        </p:nvSpPr>
        <p:spPr>
          <a:xfrm>
            <a:off x="442575" y="1667575"/>
            <a:ext cx="5119800" cy="3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8" name="Google Shape;228;p30"/>
          <p:cNvSpPr txBox="1"/>
          <p:nvPr/>
        </p:nvSpPr>
        <p:spPr>
          <a:xfrm>
            <a:off x="490200" y="1742500"/>
            <a:ext cx="3798000" cy="3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9" name="Google Shape;229;p30"/>
          <p:cNvSpPr txBox="1"/>
          <p:nvPr/>
        </p:nvSpPr>
        <p:spPr>
          <a:xfrm>
            <a:off x="375000" y="980500"/>
            <a:ext cx="83940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30" name="Google Shape;230;p30"/>
          <p:cNvSpPr txBox="1"/>
          <p:nvPr/>
        </p:nvSpPr>
        <p:spPr>
          <a:xfrm>
            <a:off x="287800" y="1599625"/>
            <a:ext cx="4703100" cy="30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1" name="Google Shape;231;p30"/>
          <p:cNvSpPr txBox="1"/>
          <p:nvPr/>
        </p:nvSpPr>
        <p:spPr>
          <a:xfrm>
            <a:off x="383050" y="1492475"/>
            <a:ext cx="62745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2" name="Google Shape;232;p30"/>
          <p:cNvSpPr txBox="1"/>
          <p:nvPr/>
        </p:nvSpPr>
        <p:spPr>
          <a:xfrm>
            <a:off x="375000" y="907388"/>
            <a:ext cx="8298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2"/>
                </a:solidFill>
              </a:rPr>
              <a:t>¿Qué </a:t>
            </a:r>
            <a:r>
              <a:rPr b="1" lang="es" sz="2100">
                <a:solidFill>
                  <a:schemeClr val="dk2"/>
                </a:solidFill>
              </a:rPr>
              <a:t>ventajas</a:t>
            </a:r>
            <a:r>
              <a:rPr lang="es" sz="2100">
                <a:solidFill>
                  <a:schemeClr val="dk2"/>
                </a:solidFill>
              </a:rPr>
              <a:t> tiene trabajar con </a:t>
            </a:r>
            <a:r>
              <a:rPr b="1" lang="es" sz="2100">
                <a:solidFill>
                  <a:schemeClr val="dk2"/>
                </a:solidFill>
              </a:rPr>
              <a:t>ensambles tipo bagging</a:t>
            </a:r>
            <a:r>
              <a:rPr lang="es" sz="2100">
                <a:solidFill>
                  <a:schemeClr val="dk2"/>
                </a:solidFill>
              </a:rPr>
              <a:t> en lugar de utilizar un único árbol de decisión?</a:t>
            </a:r>
            <a:endParaRPr sz="2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  <a:highlight>
                <a:srgbClr val="CFE2F3"/>
              </a:highlight>
            </a:endParaRPr>
          </a:p>
        </p:txBody>
      </p:sp>
      <p:sp>
        <p:nvSpPr>
          <p:cNvPr id="233" name="Google Shape;233;p30"/>
          <p:cNvSpPr txBox="1"/>
          <p:nvPr/>
        </p:nvSpPr>
        <p:spPr>
          <a:xfrm>
            <a:off x="589300" y="5664425"/>
            <a:ext cx="68580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- Reducción de la varianza: Bagging reduce la variabilidad del modelo, lo que significa que los modelos son menos sensibles a cambios pequeños en los datos de entrenamiento. Al promediar varios modelos independientes, se obtiene un modelo final más robusto.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 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- **Mejora la precisión**: Al utilizar múltiples versiones del modelo, Bagging suele mejorar la precisión de las predicciones en comparación con un solo modelo de base.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- **Menos sobreajuste (overfitting)**: Aunque cada modelo individual puede sobreajustar los datos de entrenamiento, la combinación de múltiples modelos ayuda a mitigar el sobreajuste, haciendo que el modelo generalice mejor a nuevos datos.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4" name="Google Shape;234;p30"/>
          <p:cNvSpPr txBox="1"/>
          <p:nvPr/>
        </p:nvSpPr>
        <p:spPr>
          <a:xfrm>
            <a:off x="4716925" y="1873475"/>
            <a:ext cx="36672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375000" y="1790225"/>
            <a:ext cx="75249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>
                <a:solidFill>
                  <a:srgbClr val="6AA84F"/>
                </a:solidFill>
              </a:rPr>
              <a:t>REDUCEN EL ERROR POR VARIANZA </a:t>
            </a:r>
            <a:endParaRPr b="1" sz="1600" u="sng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2"/>
                </a:solidFill>
              </a:rPr>
              <a:t>Una de las </a:t>
            </a:r>
            <a:r>
              <a:rPr b="1" lang="es" sz="1600">
                <a:solidFill>
                  <a:schemeClr val="dk2"/>
                </a:solidFill>
              </a:rPr>
              <a:t>desventajas de los árboles de decisión simples</a:t>
            </a:r>
            <a:r>
              <a:rPr lang="es" sz="1600">
                <a:solidFill>
                  <a:schemeClr val="dk2"/>
                </a:solidFill>
              </a:rPr>
              <a:t> es que son poco robustos: pequeños cambios en la característica de entrada pueden tener un gran impacto en el resultado predicho.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Es decir,</a:t>
            </a:r>
            <a:r>
              <a:rPr lang="es" sz="1600">
                <a:solidFill>
                  <a:schemeClr val="dk2"/>
                </a:solidFill>
              </a:rPr>
              <a:t> </a:t>
            </a:r>
            <a:r>
              <a:rPr b="1" lang="es" sz="1600">
                <a:solidFill>
                  <a:schemeClr val="dk2"/>
                </a:solidFill>
              </a:rPr>
              <a:t>son modelos con una alta variabilidad:</a:t>
            </a:r>
            <a:r>
              <a:rPr lang="es" sz="1600">
                <a:solidFill>
                  <a:schemeClr val="dk2"/>
                </a:solidFill>
              </a:rPr>
              <a:t> tienden a ajustarse demasiado a los datos de entrenamiento.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Los métodos de bagging reducen el error por varianza.</a:t>
            </a:r>
            <a:r>
              <a:rPr lang="es" sz="1600">
                <a:solidFill>
                  <a:schemeClr val="dk2"/>
                </a:solidFill>
              </a:rPr>
              <a:t>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Al </a:t>
            </a:r>
            <a:r>
              <a:rPr b="1" lang="es" sz="1600" u="sng">
                <a:solidFill>
                  <a:schemeClr val="dk2"/>
                </a:solidFill>
              </a:rPr>
              <a:t>promediar los resultados varios modelos independientes entrenados en distintos subconjuntos, se obtiene un modelo final más robusto</a:t>
            </a:r>
            <a:r>
              <a:rPr b="1" lang="es" sz="1600">
                <a:solidFill>
                  <a:schemeClr val="dk2"/>
                </a:solidFill>
              </a:rPr>
              <a:t>.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36" name="Google Shape;236;p30"/>
          <p:cNvSpPr txBox="1"/>
          <p:nvPr/>
        </p:nvSpPr>
        <p:spPr>
          <a:xfrm>
            <a:off x="287800" y="359600"/>
            <a:ext cx="82986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Método de Bagging </a:t>
            </a:r>
            <a:endParaRPr b="1" sz="24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7" name="Google Shape;237;p30"/>
          <p:cNvSpPr txBox="1"/>
          <p:nvPr/>
        </p:nvSpPr>
        <p:spPr>
          <a:xfrm>
            <a:off x="5184575" y="179775"/>
            <a:ext cx="4803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000FF"/>
                </a:solidFill>
                <a:highlight>
                  <a:srgbClr val="CFE2F3"/>
                </a:highlight>
              </a:rPr>
              <a:t>RECORDEMOS LAS VENTAJAS DE LAS</a:t>
            </a:r>
            <a:endParaRPr b="1" sz="1500">
              <a:solidFill>
                <a:srgbClr val="0000FF"/>
              </a:solidFill>
              <a:highlight>
                <a:srgbClr val="CFE2F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000FF"/>
                </a:solidFill>
                <a:highlight>
                  <a:srgbClr val="CFE2F3"/>
                </a:highlight>
              </a:rPr>
              <a:t>QUE HABLAMOS HACE UN MOMENTO</a:t>
            </a:r>
            <a:endParaRPr b="1">
              <a:solidFill>
                <a:srgbClr val="0000FF"/>
              </a:solidFill>
              <a:highlight>
                <a:srgbClr val="CFE2F3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/>
        </p:nvSpPr>
        <p:spPr>
          <a:xfrm>
            <a:off x="442575" y="1667575"/>
            <a:ext cx="5119800" cy="3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3" name="Google Shape;243;p31"/>
          <p:cNvSpPr txBox="1"/>
          <p:nvPr/>
        </p:nvSpPr>
        <p:spPr>
          <a:xfrm>
            <a:off x="490200" y="1742500"/>
            <a:ext cx="3798000" cy="3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375000" y="980500"/>
            <a:ext cx="83940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45" name="Google Shape;245;p31"/>
          <p:cNvSpPr txBox="1"/>
          <p:nvPr/>
        </p:nvSpPr>
        <p:spPr>
          <a:xfrm>
            <a:off x="287800" y="1599625"/>
            <a:ext cx="4703100" cy="30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6" name="Google Shape;246;p31"/>
          <p:cNvSpPr txBox="1"/>
          <p:nvPr/>
        </p:nvSpPr>
        <p:spPr>
          <a:xfrm>
            <a:off x="383050" y="1492475"/>
            <a:ext cx="62745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375000" y="907388"/>
            <a:ext cx="8298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2"/>
                </a:solidFill>
              </a:rPr>
              <a:t>¿Qué </a:t>
            </a:r>
            <a:r>
              <a:rPr b="1" lang="es" sz="2100">
                <a:solidFill>
                  <a:schemeClr val="dk2"/>
                </a:solidFill>
              </a:rPr>
              <a:t>ventajas</a:t>
            </a:r>
            <a:r>
              <a:rPr lang="es" sz="2100">
                <a:solidFill>
                  <a:schemeClr val="dk2"/>
                </a:solidFill>
              </a:rPr>
              <a:t> tiene trabajar con </a:t>
            </a:r>
            <a:r>
              <a:rPr b="1" lang="es" sz="2100">
                <a:solidFill>
                  <a:schemeClr val="dk2"/>
                </a:solidFill>
              </a:rPr>
              <a:t>ensambles tipo bagging</a:t>
            </a:r>
            <a:r>
              <a:rPr lang="es" sz="2100">
                <a:solidFill>
                  <a:schemeClr val="dk2"/>
                </a:solidFill>
              </a:rPr>
              <a:t> en lugar de utilizar un único árbol de decisión?</a:t>
            </a:r>
            <a:endParaRPr sz="2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  <a:highlight>
                <a:srgbClr val="CFE2F3"/>
              </a:highlight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589300" y="5664425"/>
            <a:ext cx="6858000" cy="24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- Reducción de la varianza: Bagging reduce la variabilidad del modelo, lo que significa que los modelos son menos sensibles a cambios pequeños en los datos de entrenamiento. Al promediar varios modelos independientes, se obtiene un modelo final más robusto.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 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- **Mejora la precisión**: Al utilizar múltiples versiones del modelo, Bagging suele mejorar la precisión de las predicciones en comparación con un solo modelo de base.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- **Menos sobreajuste (overfitting)**: Aunque cada modelo individual puede sobreajustar los datos de entrenamiento, la combinación de múltiples modelos ayuda a mitigar el sobreajuste, haciendo que el modelo generalice mejor a nuevos datos.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9" name="Google Shape;249;p31"/>
          <p:cNvSpPr txBox="1"/>
          <p:nvPr/>
        </p:nvSpPr>
        <p:spPr>
          <a:xfrm>
            <a:off x="4716925" y="1873475"/>
            <a:ext cx="36672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375000" y="1790225"/>
            <a:ext cx="75249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 u="sng">
                <a:solidFill>
                  <a:srgbClr val="6AA84F"/>
                </a:solidFill>
              </a:rPr>
              <a:t>REDUCEN EL ERROR POR VARIANZA </a:t>
            </a:r>
            <a:endParaRPr b="1" sz="1600" u="sng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2"/>
                </a:solidFill>
              </a:rPr>
              <a:t>Una de las </a:t>
            </a:r>
            <a:r>
              <a:rPr b="1" lang="es" sz="1600">
                <a:solidFill>
                  <a:schemeClr val="dk2"/>
                </a:solidFill>
              </a:rPr>
              <a:t>desventajas de los árboles de decisión simples</a:t>
            </a:r>
            <a:r>
              <a:rPr lang="es" sz="1600">
                <a:solidFill>
                  <a:schemeClr val="dk2"/>
                </a:solidFill>
              </a:rPr>
              <a:t> es que son poco robustos: pequeños cambios en la característica de entrada pueden tener un gran impacto en el resultado predicho.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Es decir,</a:t>
            </a:r>
            <a:r>
              <a:rPr lang="es" sz="1600">
                <a:solidFill>
                  <a:schemeClr val="dk2"/>
                </a:solidFill>
              </a:rPr>
              <a:t> </a:t>
            </a:r>
            <a:r>
              <a:rPr b="1" lang="es" sz="1600">
                <a:solidFill>
                  <a:schemeClr val="dk2"/>
                </a:solidFill>
              </a:rPr>
              <a:t>son modelos con una alta variabilidad:</a:t>
            </a:r>
            <a:r>
              <a:rPr lang="es" sz="1600">
                <a:solidFill>
                  <a:schemeClr val="dk2"/>
                </a:solidFill>
              </a:rPr>
              <a:t> tienden a ajustarse demasiado a los datos de entrenamiento.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Los métodos de bagging reducen el error por varianza.</a:t>
            </a:r>
            <a:r>
              <a:rPr lang="es" sz="1600">
                <a:solidFill>
                  <a:schemeClr val="dk2"/>
                </a:solidFill>
              </a:rPr>
              <a:t>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</a:rPr>
              <a:t>Al </a:t>
            </a:r>
            <a:r>
              <a:rPr b="1" lang="es" sz="1600" u="sng">
                <a:solidFill>
                  <a:schemeClr val="dk2"/>
                </a:solidFill>
              </a:rPr>
              <a:t>promediar los resultados varios modelos independientes entrenados en distintos subconjuntos, se obtiene un modelo final más robusto</a:t>
            </a:r>
            <a:r>
              <a:rPr b="1" lang="es" sz="1600">
                <a:solidFill>
                  <a:schemeClr val="dk2"/>
                </a:solidFill>
              </a:rPr>
              <a:t>.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51" name="Google Shape;251;p31"/>
          <p:cNvSpPr txBox="1"/>
          <p:nvPr/>
        </p:nvSpPr>
        <p:spPr>
          <a:xfrm>
            <a:off x="275875" y="313750"/>
            <a:ext cx="82986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Método de Bagging (Bootstrap Aggregating)</a:t>
            </a:r>
            <a:endParaRPr b="1" sz="24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52" name="Google Shape;252;p31"/>
          <p:cNvSpPr/>
          <p:nvPr/>
        </p:nvSpPr>
        <p:spPr>
          <a:xfrm>
            <a:off x="2061825" y="2814050"/>
            <a:ext cx="5655600" cy="1371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1"/>
          <p:cNvSpPr txBox="1"/>
          <p:nvPr/>
        </p:nvSpPr>
        <p:spPr>
          <a:xfrm>
            <a:off x="2133250" y="2948800"/>
            <a:ext cx="5391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Para que esto ocurra </a:t>
            </a:r>
            <a:r>
              <a:rPr b="1" lang="es" sz="1800">
                <a:solidFill>
                  <a:schemeClr val="dk2"/>
                </a:solidFill>
              </a:rPr>
              <a:t>necesitamos que los árboles del ensamble sean distintos entre sí</a:t>
            </a:r>
            <a:r>
              <a:rPr lang="es" sz="1800">
                <a:solidFill>
                  <a:schemeClr val="dk2"/>
                </a:solidFill>
              </a:rPr>
              <a:t>. Es decir, necesitamos que no estén correlacionados.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/>
        </p:nvSpPr>
        <p:spPr>
          <a:xfrm>
            <a:off x="375000" y="980500"/>
            <a:ext cx="83940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59" name="Google Shape;259;p32"/>
          <p:cNvSpPr txBox="1"/>
          <p:nvPr/>
        </p:nvSpPr>
        <p:spPr>
          <a:xfrm>
            <a:off x="202238" y="206550"/>
            <a:ext cx="39930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Random Forest</a:t>
            </a:r>
            <a:endParaRPr b="1" sz="24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0" name="Google Shape;260;p32"/>
          <p:cNvSpPr txBox="1"/>
          <p:nvPr/>
        </p:nvSpPr>
        <p:spPr>
          <a:xfrm>
            <a:off x="202250" y="849500"/>
            <a:ext cx="65865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2"/>
                </a:solidFill>
              </a:rPr>
              <a:t>¿Por qué este cambio genera una </a:t>
            </a:r>
            <a:r>
              <a:rPr b="1" lang="es" sz="2200">
                <a:solidFill>
                  <a:schemeClr val="dk2"/>
                </a:solidFill>
              </a:rPr>
              <a:t>mejora</a:t>
            </a:r>
            <a:r>
              <a:rPr lang="es" sz="2200">
                <a:solidFill>
                  <a:schemeClr val="dk2"/>
                </a:solidFill>
              </a:rPr>
              <a:t>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1" name="Google Shape;261;p32"/>
          <p:cNvSpPr txBox="1"/>
          <p:nvPr/>
        </p:nvSpPr>
        <p:spPr>
          <a:xfrm>
            <a:off x="327450" y="1599650"/>
            <a:ext cx="8489100" cy="30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2"/>
                </a:solidFill>
              </a:rPr>
              <a:t>Si entre las variables disponibles hay </a:t>
            </a:r>
            <a:r>
              <a:rPr b="1" lang="es" sz="1900">
                <a:solidFill>
                  <a:schemeClr val="dk2"/>
                </a:solidFill>
              </a:rPr>
              <a:t>predictores fuertes</a:t>
            </a:r>
            <a:r>
              <a:rPr lang="es" sz="1900">
                <a:solidFill>
                  <a:schemeClr val="dk2"/>
                </a:solidFill>
              </a:rPr>
              <a:t> (ej: sexo en la predicción de realiza_trabajo_domestico), </a:t>
            </a:r>
            <a:r>
              <a:rPr b="1" lang="es" sz="1900">
                <a:solidFill>
                  <a:schemeClr val="dk2"/>
                </a:solidFill>
              </a:rPr>
              <a:t>es probable que la mayoría de  </a:t>
            </a:r>
            <a:r>
              <a:rPr b="1" lang="es" sz="1900" u="sng">
                <a:solidFill>
                  <a:schemeClr val="dk2"/>
                </a:solidFill>
              </a:rPr>
              <a:t>los árboles del ensamble sean muy similares entre sí</a:t>
            </a:r>
            <a:r>
              <a:rPr lang="es" sz="1900" u="sng">
                <a:solidFill>
                  <a:schemeClr val="dk2"/>
                </a:solidFill>
              </a:rPr>
              <a:t> </a:t>
            </a:r>
            <a:r>
              <a:rPr lang="es" sz="1900">
                <a:solidFill>
                  <a:schemeClr val="dk2"/>
                </a:solidFill>
              </a:rPr>
              <a:t>y queden correlacionados. 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900">
                <a:solidFill>
                  <a:schemeClr val="dk2"/>
                </a:solidFill>
              </a:rPr>
              <a:t>Seleccionando un subconjunto aleatorio de las variables en cada división, contrarrestamos la correlación entre los árboles del ensamble, haciendo que el modelo final sea más robusto.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2" name="Google Shape;262;p32"/>
          <p:cNvSpPr/>
          <p:nvPr/>
        </p:nvSpPr>
        <p:spPr>
          <a:xfrm>
            <a:off x="252075" y="3242675"/>
            <a:ext cx="8691600" cy="1428600"/>
          </a:xfrm>
          <a:prstGeom prst="rect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/>
          <p:nvPr/>
        </p:nvSpPr>
        <p:spPr>
          <a:xfrm>
            <a:off x="375000" y="980500"/>
            <a:ext cx="83940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68" name="Google Shape;268;p33"/>
          <p:cNvSpPr txBox="1"/>
          <p:nvPr/>
        </p:nvSpPr>
        <p:spPr>
          <a:xfrm>
            <a:off x="202238" y="206550"/>
            <a:ext cx="39930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Random Forest</a:t>
            </a:r>
            <a:endParaRPr b="1" sz="24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69" name="Google Shape;269;p33"/>
          <p:cNvSpPr txBox="1"/>
          <p:nvPr/>
        </p:nvSpPr>
        <p:spPr>
          <a:xfrm>
            <a:off x="202250" y="849500"/>
            <a:ext cx="83010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2"/>
                </a:solidFill>
              </a:rPr>
              <a:t>¿Cómo definimos el </a:t>
            </a:r>
            <a:r>
              <a:rPr b="1" lang="es" sz="2200">
                <a:solidFill>
                  <a:schemeClr val="dk2"/>
                </a:solidFill>
              </a:rPr>
              <a:t>número de variables (N)</a:t>
            </a:r>
            <a:r>
              <a:rPr lang="es" sz="2200">
                <a:solidFill>
                  <a:schemeClr val="dk2"/>
                </a:solidFill>
              </a:rPr>
              <a:t> que debe tener la muestra de predictores?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0" name="Google Shape;270;p33"/>
          <p:cNvSpPr txBox="1"/>
          <p:nvPr/>
        </p:nvSpPr>
        <p:spPr>
          <a:xfrm>
            <a:off x="716425" y="1897275"/>
            <a:ext cx="7739100" cy="25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s" sz="2000">
                <a:solidFill>
                  <a:schemeClr val="dk2"/>
                </a:solidFill>
              </a:rPr>
              <a:t>Para problemas de </a:t>
            </a:r>
            <a:r>
              <a:rPr b="1" lang="es" sz="2000">
                <a:solidFill>
                  <a:schemeClr val="dk2"/>
                </a:solidFill>
              </a:rPr>
              <a:t>clasificación </a:t>
            </a:r>
            <a:r>
              <a:rPr lang="es" sz="2000">
                <a:solidFill>
                  <a:schemeClr val="dk2"/>
                </a:solidFill>
              </a:rPr>
              <a:t>se suelen utilizar </a:t>
            </a:r>
            <a:r>
              <a:rPr b="1" lang="es" sz="2000">
                <a:solidFill>
                  <a:schemeClr val="dk2"/>
                </a:solidFill>
              </a:rPr>
              <a:t>√p </a:t>
            </a:r>
            <a:endParaRPr b="1" sz="2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s" sz="2000">
                <a:solidFill>
                  <a:schemeClr val="dk2"/>
                </a:solidFill>
              </a:rPr>
              <a:t>Para problemas de </a:t>
            </a:r>
            <a:r>
              <a:rPr b="1" lang="es" sz="2000">
                <a:solidFill>
                  <a:schemeClr val="dk2"/>
                </a:solidFill>
              </a:rPr>
              <a:t>regresión</a:t>
            </a:r>
            <a:r>
              <a:rPr lang="es" sz="2000">
                <a:solidFill>
                  <a:schemeClr val="dk2"/>
                </a:solidFill>
              </a:rPr>
              <a:t> se suelen utilizar </a:t>
            </a:r>
            <a:r>
              <a:rPr b="1" lang="es" sz="2000">
                <a:solidFill>
                  <a:schemeClr val="dk2"/>
                </a:solidFill>
              </a:rPr>
              <a:t>p/3</a:t>
            </a:r>
            <a:endParaRPr b="1" sz="2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s" sz="2000">
                <a:solidFill>
                  <a:schemeClr val="dk2"/>
                </a:solidFill>
              </a:rPr>
              <a:t>Pero también puede considerarse como un </a:t>
            </a:r>
            <a:r>
              <a:rPr b="1" lang="es" sz="2000">
                <a:solidFill>
                  <a:schemeClr val="dk2"/>
                </a:solidFill>
              </a:rPr>
              <a:t>hiperparámetro</a:t>
            </a:r>
            <a:r>
              <a:rPr lang="es" sz="2000">
                <a:solidFill>
                  <a:schemeClr val="dk2"/>
                </a:solidFill>
              </a:rPr>
              <a:t> a optimizar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p= total de variables predictoras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/>
        </p:nvSpPr>
        <p:spPr>
          <a:xfrm>
            <a:off x="375000" y="980500"/>
            <a:ext cx="83940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76" name="Google Shape;276;p34"/>
          <p:cNvSpPr txBox="1"/>
          <p:nvPr/>
        </p:nvSpPr>
        <p:spPr>
          <a:xfrm>
            <a:off x="202238" y="206550"/>
            <a:ext cx="39930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00FF"/>
                </a:solidFill>
                <a:latin typeface="Archivo"/>
                <a:ea typeface="Archivo"/>
                <a:cs typeface="Archivo"/>
                <a:sym typeface="Archivo"/>
              </a:rPr>
              <a:t>Random Forest</a:t>
            </a:r>
            <a:endParaRPr b="1" sz="2400">
              <a:solidFill>
                <a:srgbClr val="0000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277" name="Google Shape;2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500" y="839150"/>
            <a:ext cx="6725724" cy="404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