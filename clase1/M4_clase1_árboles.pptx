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358761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358761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358761ed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358761ed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358761ed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358761e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358761ed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358761ed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358761ed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358761ed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358761ed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358761ed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358761ed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358761ed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358761ed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358761ed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358761ed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358761ed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358761ed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358761ed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358761ed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358761ed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358761ed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358761ed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d358761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d358761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358761ed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358761ed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365cae1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365cae1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365cae17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365cae17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365cae1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365cae1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365cae17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365cae1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365cae17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d365cae17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365cae17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d365cae17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d371ab69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d371ab69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371ab69d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371ab69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371ab69d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371ab69d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371ab69d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d371ab69d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371ab69d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371ab69d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371ab69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371ab69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d371ab69d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d371ab69d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371ab69d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d371ab69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371ab69d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d371ab69d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371ab69d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d371ab69d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d371ab69d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d371ab69d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d371ab69de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d371ab69de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371ab69d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d371ab69d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d371ab69d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d371ab69d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d371ab69d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d371ab69d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d371ab69de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d371ab69de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d371ab69de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d371ab69d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d371ab69d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d371ab69d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d371ab69de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d371ab69de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d371ab69d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d371ab69d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d371ab69d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d371ab69d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d371ab69de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d371ab69de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d371ab69de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d371ab69de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hyperlink" Target="https://research.aimultiple.com/handwriting-recognitio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christophm.github.io/interpretable-ml-book/tree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5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Relationship Id="rId4" Type="http://schemas.openxmlformats.org/officeDocument/2006/relationships/hyperlink" Target="https://christophm.github.io/interpretable-ml-book/tre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9575"/>
            <a:ext cx="8839199" cy="400583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681575" y="4659525"/>
            <a:ext cx="2905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COMISIÓN 2</a:t>
            </a:r>
            <a:r>
              <a:rPr b="1" lang="es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200025"/>
            <a:ext cx="5112200" cy="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668800" y="1480550"/>
            <a:ext cx="76914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¿Podría una computadora </a:t>
            </a:r>
            <a:r>
              <a:rPr b="1" lang="es" sz="1900">
                <a:solidFill>
                  <a:schemeClr val="dk2"/>
                </a:solidFill>
              </a:rPr>
              <a:t>ir más allá de “lo que sea que sepamos decirle que haga”</a:t>
            </a:r>
            <a:r>
              <a:rPr lang="es" sz="1900">
                <a:solidFill>
                  <a:schemeClr val="dk2"/>
                </a:solidFill>
              </a:rPr>
              <a:t> y realmente “aprender” por su cuenta como realizar una determinada tarea?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¿Podría ser posible </a:t>
            </a:r>
            <a:r>
              <a:rPr b="1" lang="es" sz="1900">
                <a:solidFill>
                  <a:schemeClr val="dk2"/>
                </a:solidFill>
              </a:rPr>
              <a:t>el aprendizaje automático de ciertas reglas</a:t>
            </a:r>
            <a:r>
              <a:rPr lang="es" sz="1900">
                <a:solidFill>
                  <a:schemeClr val="dk2"/>
                </a:solidFill>
              </a:rPr>
              <a:t> a partir de los datos?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200025"/>
            <a:ext cx="5112200" cy="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299700" y="1151250"/>
            <a:ext cx="84057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dk2"/>
                </a:solidFill>
              </a:rPr>
              <a:t>Algunas definiciones:</a:t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2"/>
                </a:solidFill>
              </a:rPr>
              <a:t>“Campo de estudio que le da a las computadoras la habilidad de aprender sin ser programadas de manera explícita”</a:t>
            </a:r>
            <a:r>
              <a:rPr lang="es" sz="1800">
                <a:solidFill>
                  <a:schemeClr val="dk2"/>
                </a:solidFill>
              </a:rPr>
              <a:t>. </a:t>
            </a:r>
            <a:r>
              <a:rPr lang="es" sz="1800">
                <a:solidFill>
                  <a:schemeClr val="dk2"/>
                </a:solidFill>
              </a:rPr>
              <a:t>Samuel (1959).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“</a:t>
            </a:r>
            <a:r>
              <a:rPr i="1" lang="es" sz="1800">
                <a:solidFill>
                  <a:schemeClr val="dk2"/>
                </a:solidFill>
              </a:rPr>
              <a:t>Se dice que un programa de computadora aprende de una experiencia E con respecto a una clase de tareas T y una medida de performance P, </a:t>
            </a:r>
            <a:r>
              <a:rPr b="1" i="1" lang="es" sz="1800">
                <a:solidFill>
                  <a:schemeClr val="dk2"/>
                </a:solidFill>
              </a:rPr>
              <a:t>si su performance en las tareas T, medidas por P, mejoran con la experiencia E</a:t>
            </a:r>
            <a:r>
              <a:rPr i="1" lang="es" sz="1800">
                <a:solidFill>
                  <a:schemeClr val="dk2"/>
                </a:solidFill>
              </a:rPr>
              <a:t>”</a:t>
            </a:r>
            <a:r>
              <a:rPr lang="es" sz="1800">
                <a:solidFill>
                  <a:schemeClr val="dk2"/>
                </a:solidFill>
              </a:rPr>
              <a:t>. Mitchell (1998).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200025"/>
            <a:ext cx="5112200" cy="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34700" y="1032175"/>
            <a:ext cx="88746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¿A qué nos referimos con “una tarea”, “una medida de </a:t>
            </a:r>
            <a:r>
              <a:rPr lang="es" sz="1800">
                <a:solidFill>
                  <a:schemeClr val="dk2"/>
                </a:solidFill>
              </a:rPr>
              <a:t>performance</a:t>
            </a:r>
            <a:r>
              <a:rPr lang="es" sz="1800">
                <a:solidFill>
                  <a:schemeClr val="dk2"/>
                </a:solidFill>
              </a:rPr>
              <a:t>” y “experiencia”?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49750" y="1587625"/>
            <a:ext cx="4407600" cy="3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 u="sng">
                <a:solidFill>
                  <a:schemeClr val="dk2"/>
                </a:solidFill>
              </a:rPr>
              <a:t>Ejemplo:</a:t>
            </a:r>
            <a:r>
              <a:rPr lang="es" sz="1700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Una tarea: </a:t>
            </a:r>
            <a:r>
              <a:rPr lang="es" sz="1700">
                <a:solidFill>
                  <a:schemeClr val="dk2"/>
                </a:solidFill>
              </a:rPr>
              <a:t>Reconocimiento de escritura a mano (handwriting recognition)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Medida de performance:</a:t>
            </a:r>
            <a:r>
              <a:rPr lang="es" sz="1700">
                <a:solidFill>
                  <a:schemeClr val="dk2"/>
                </a:solidFill>
              </a:rPr>
              <a:t> porcentaje de palabras bien reconocido </a:t>
            </a:r>
            <a:r>
              <a:rPr b="1" lang="es" sz="1700">
                <a:solidFill>
                  <a:schemeClr val="dk2"/>
                </a:solidFill>
              </a:rPr>
              <a:t>(una métrica)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2"/>
                </a:solidFill>
              </a:rPr>
              <a:t>Experiencia:</a:t>
            </a:r>
            <a:r>
              <a:rPr lang="es" sz="1700">
                <a:solidFill>
                  <a:schemeClr val="dk2"/>
                </a:solidFill>
              </a:rPr>
              <a:t> consultar el repositorio de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2"/>
                </a:solidFill>
              </a:rPr>
              <a:t>imágenes de palabras manuscritas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2"/>
                </a:solidFill>
              </a:rPr>
              <a:t>y sus transcripciones </a:t>
            </a:r>
            <a:r>
              <a:rPr b="1" lang="es" sz="1700">
                <a:solidFill>
                  <a:schemeClr val="dk2"/>
                </a:solidFill>
              </a:rPr>
              <a:t>(dataset de entrenamiento)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161045"/>
            <a:ext cx="4407601" cy="19240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3575" y="4111850"/>
            <a:ext cx="4262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Fuente de la imagen: </a:t>
            </a:r>
            <a:r>
              <a:rPr lang="es" sz="900" u="sng">
                <a:solidFill>
                  <a:schemeClr val="hlink"/>
                </a:solidFill>
                <a:hlinkClick r:id="rId5"/>
              </a:rPr>
              <a:t>https://research.aimultiple.com/handwriting-recognition/</a:t>
            </a:r>
            <a:r>
              <a:rPr lang="es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" y="200025"/>
            <a:ext cx="5112200" cy="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514025" y="1067875"/>
            <a:ext cx="7632000" cy="3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Entonces: 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2"/>
                </a:solidFill>
              </a:rPr>
              <a:t>Un programa de computadora aprende una tarea si su performance en la tarea mejora con la experiencia.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6750"/>
            <a:ext cx="8839199" cy="41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381000" y="416725"/>
            <a:ext cx="67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</a:rPr>
              <a:t>Tipos de herramientas de Machine Learning</a:t>
            </a:r>
            <a:endParaRPr b="1" sz="2400">
              <a:solidFill>
                <a:srgbClr val="0000FF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430700" y="1099550"/>
            <a:ext cx="80724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Las herramientas de machine learning </a:t>
            </a:r>
            <a:r>
              <a:rPr b="1" lang="es" sz="1800">
                <a:solidFill>
                  <a:schemeClr val="dk2"/>
                </a:solidFill>
              </a:rPr>
              <a:t>pueden clasificarse en dos grandes grupos</a:t>
            </a:r>
            <a:r>
              <a:rPr lang="es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APRENDIZAJE SUPERVISADO:</a:t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2520224"/>
            <a:ext cx="8241175" cy="20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381000" y="416725"/>
            <a:ext cx="703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</a:rPr>
              <a:t>Tipos de herramientas de Machine Learning</a:t>
            </a:r>
            <a:endParaRPr b="1" sz="2400">
              <a:solidFill>
                <a:srgbClr val="0000FF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430700" y="1099550"/>
            <a:ext cx="80724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Las herramientas de machine learning </a:t>
            </a:r>
            <a:r>
              <a:rPr b="1" lang="es" sz="1800">
                <a:solidFill>
                  <a:schemeClr val="dk2"/>
                </a:solidFill>
              </a:rPr>
              <a:t>pueden clasificarse en dos grandes grupos</a:t>
            </a:r>
            <a:r>
              <a:rPr lang="es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APRENDIZAJE NO SUPERVISADO:</a:t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88" y="2488401"/>
            <a:ext cx="8170227" cy="18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75" y="243000"/>
            <a:ext cx="7636326" cy="6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35425" y="1683000"/>
            <a:ext cx="6631800" cy="3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 sz="1800">
                <a:solidFill>
                  <a:schemeClr val="dk2"/>
                </a:solidFill>
              </a:rPr>
              <a:t>Hago una </a:t>
            </a:r>
            <a:r>
              <a:rPr b="1" lang="es" sz="1800">
                <a:solidFill>
                  <a:schemeClr val="dk2"/>
                </a:solidFill>
              </a:rPr>
              <a:t>partición de entrenamiento (validación) y testeo</a:t>
            </a:r>
            <a:r>
              <a:rPr lang="es" sz="1800">
                <a:solidFill>
                  <a:schemeClr val="dk2"/>
                </a:solidFill>
              </a:rPr>
              <a:t> de la base con la que voy a trabajar.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b="1" lang="es" sz="1800">
                <a:solidFill>
                  <a:schemeClr val="dk2"/>
                </a:solidFill>
              </a:rPr>
              <a:t>Optimización de </a:t>
            </a:r>
            <a:r>
              <a:rPr b="1" lang="es" sz="1800">
                <a:solidFill>
                  <a:schemeClr val="dk2"/>
                </a:solidFill>
              </a:rPr>
              <a:t>hiperparámetros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 sz="1800">
                <a:solidFill>
                  <a:schemeClr val="dk2"/>
                </a:solidFill>
              </a:rPr>
              <a:t>¿Qué implica optimizar?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es" sz="1800">
                <a:solidFill>
                  <a:schemeClr val="dk2"/>
                </a:solidFill>
              </a:rPr>
              <a:t>Probar distintas combinaciones de hiperparámetros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es" sz="1800">
                <a:solidFill>
                  <a:srgbClr val="6AA84F"/>
                </a:solidFill>
              </a:rPr>
              <a:t>Evaluarlas y elegir la mejor</a:t>
            </a: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es" sz="1800">
                <a:solidFill>
                  <a:schemeClr val="dk2"/>
                </a:solidFill>
              </a:rPr>
              <a:t>(acá uso el set de </a:t>
            </a:r>
            <a:r>
              <a:rPr b="1" lang="es" sz="1800">
                <a:solidFill>
                  <a:schemeClr val="dk2"/>
                </a:solidFill>
              </a:rPr>
              <a:t>validación</a:t>
            </a:r>
            <a:r>
              <a:rPr lang="es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s" sz="1800">
                <a:solidFill>
                  <a:schemeClr val="dk2"/>
                </a:solidFill>
              </a:rPr>
              <a:t>Fiteo el modelo (en el set de </a:t>
            </a:r>
            <a:r>
              <a:rPr b="1" lang="es" sz="1800">
                <a:solidFill>
                  <a:schemeClr val="dk2"/>
                </a:solidFill>
              </a:rPr>
              <a:t>entrenamiento</a:t>
            </a:r>
            <a:r>
              <a:rPr lang="es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164300" y="801925"/>
            <a:ext cx="8167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Si bien existen distintos modelos de ML, en líneas generales el workflow siempre 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7050575" y="2695000"/>
            <a:ext cx="19407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6AA84F"/>
                </a:solidFill>
              </a:rPr>
              <a:t>¿Cómo elijo la mejor?</a:t>
            </a:r>
            <a:r>
              <a:rPr lang="es" sz="1700">
                <a:solidFill>
                  <a:schemeClr val="dk2"/>
                </a:solidFill>
              </a:rPr>
              <a:t> </a:t>
            </a:r>
            <a:r>
              <a:rPr lang="es" sz="1700">
                <a:solidFill>
                  <a:srgbClr val="6AA84F"/>
                </a:solidFill>
              </a:rPr>
              <a:t>Depende de la </a:t>
            </a:r>
            <a:r>
              <a:rPr b="1" lang="es" sz="1700">
                <a:solidFill>
                  <a:srgbClr val="6AA84F"/>
                </a:solidFill>
              </a:rPr>
              <a:t>métrica</a:t>
            </a:r>
            <a:r>
              <a:rPr lang="es" sz="1700">
                <a:solidFill>
                  <a:srgbClr val="6AA84F"/>
                </a:solidFill>
              </a:rPr>
              <a:t> que me interese optimizar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7038650" y="2617600"/>
            <a:ext cx="1940700" cy="16908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21"/>
          <p:cNvCxnSpPr>
            <a:endCxn id="107" idx="3"/>
          </p:cNvCxnSpPr>
          <p:nvPr/>
        </p:nvCxnSpPr>
        <p:spPr>
          <a:xfrm flipH="1" rot="10800000">
            <a:off x="4347925" y="3528450"/>
            <a:ext cx="2619300" cy="180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000"/>
            <a:ext cx="7636326" cy="6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335425" y="1587750"/>
            <a:ext cx="8334300" cy="1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4.   </a:t>
            </a:r>
            <a:r>
              <a:rPr lang="es" sz="1800">
                <a:solidFill>
                  <a:schemeClr val="dk2"/>
                </a:solidFill>
              </a:rPr>
              <a:t>Hago la </a:t>
            </a:r>
            <a:r>
              <a:rPr b="1" lang="es" sz="1800">
                <a:solidFill>
                  <a:schemeClr val="dk2"/>
                </a:solidFill>
              </a:rPr>
              <a:t>predicción </a:t>
            </a:r>
            <a:r>
              <a:rPr lang="es" sz="1800">
                <a:solidFill>
                  <a:schemeClr val="dk2"/>
                </a:solidFill>
              </a:rPr>
              <a:t>(sobre el set de </a:t>
            </a:r>
            <a:r>
              <a:rPr b="1" lang="es" sz="1800">
                <a:solidFill>
                  <a:schemeClr val="dk2"/>
                </a:solidFill>
              </a:rPr>
              <a:t>testeo</a:t>
            </a:r>
            <a:r>
              <a:rPr lang="es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5.</a:t>
            </a:r>
            <a:r>
              <a:rPr b="1" lang="es" sz="1800">
                <a:solidFill>
                  <a:schemeClr val="dk2"/>
                </a:solidFill>
              </a:rPr>
              <a:t>   Evalúo la performance </a:t>
            </a:r>
            <a:r>
              <a:rPr lang="es" sz="1800">
                <a:solidFill>
                  <a:schemeClr val="dk2"/>
                </a:solidFill>
              </a:rPr>
              <a:t>del modelo (usando las predicciones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      que hice en el set de </a:t>
            </a:r>
            <a:r>
              <a:rPr b="1" lang="es" sz="1800">
                <a:solidFill>
                  <a:schemeClr val="dk2"/>
                </a:solidFill>
              </a:rPr>
              <a:t>testeo</a:t>
            </a:r>
            <a:r>
              <a:rPr lang="es" sz="1800">
                <a:solidFill>
                  <a:schemeClr val="dk2"/>
                </a:solidFill>
              </a:rPr>
              <a:t>) a partir de </a:t>
            </a:r>
            <a:r>
              <a:rPr lang="es" sz="1800">
                <a:solidFill>
                  <a:schemeClr val="dk2"/>
                </a:solidFill>
              </a:rPr>
              <a:t>distintas</a:t>
            </a:r>
            <a:r>
              <a:rPr b="1" lang="es" sz="1800">
                <a:solidFill>
                  <a:srgbClr val="6AA84F"/>
                </a:solidFill>
              </a:rPr>
              <a:t> métricas</a:t>
            </a:r>
            <a:endParaRPr b="1" sz="1800">
              <a:solidFill>
                <a:srgbClr val="6AA84F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228275" y="825725"/>
            <a:ext cx="8167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 bien existen distintos modelos de ML, en líneas generales el workflow siempre 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8825" y="3121925"/>
            <a:ext cx="2551589" cy="17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339650" y="3249875"/>
            <a:ext cx="2295900" cy="14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(tengamos en mente algunas de las cosas que vimos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en el M3)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0188" y="3190356"/>
            <a:ext cx="3023982" cy="14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/>
          <p:nvPr/>
        </p:nvSpPr>
        <p:spPr>
          <a:xfrm>
            <a:off x="263975" y="3050200"/>
            <a:ext cx="8655900" cy="195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1000"/>
            <a:ext cx="8839201" cy="380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9075"/>
            <a:ext cx="8839201" cy="4667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4900"/>
            <a:ext cx="8839200" cy="4473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075" y="1096930"/>
            <a:ext cx="4419600" cy="225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4883600" y="1327100"/>
            <a:ext cx="1726500" cy="20241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6667400" y="1327100"/>
            <a:ext cx="1726500" cy="20241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5818E"/>
              </a:highlight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750" y="187975"/>
            <a:ext cx="4336251" cy="612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950" y="1128013"/>
            <a:ext cx="3213585" cy="378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775950" y="1796050"/>
            <a:ext cx="488100" cy="20241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1668925" y="4129675"/>
            <a:ext cx="1452600" cy="6126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/>
        </p:nvSpPr>
        <p:spPr>
          <a:xfrm>
            <a:off x="10550950" y="1944900"/>
            <a:ext cx="685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1930825" y="787313"/>
            <a:ext cx="39051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9900FF"/>
                </a:solidFill>
              </a:rPr>
              <a:t>True Positive Rate (Recall) = TP / (TP+FN)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1" name="Google Shape;151;p26"/>
          <p:cNvCxnSpPr/>
          <p:nvPr/>
        </p:nvCxnSpPr>
        <p:spPr>
          <a:xfrm rot="10800000">
            <a:off x="1017000" y="954575"/>
            <a:ext cx="6000" cy="8394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6"/>
          <p:cNvCxnSpPr/>
          <p:nvPr/>
        </p:nvCxnSpPr>
        <p:spPr>
          <a:xfrm>
            <a:off x="1014000" y="954575"/>
            <a:ext cx="833400" cy="195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6"/>
          <p:cNvCxnSpPr/>
          <p:nvPr/>
        </p:nvCxnSpPr>
        <p:spPr>
          <a:xfrm>
            <a:off x="5746700" y="974063"/>
            <a:ext cx="300" cy="3354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6"/>
          <p:cNvCxnSpPr>
            <a:stCxn id="150" idx="3"/>
            <a:endCxn id="150" idx="3"/>
          </p:cNvCxnSpPr>
          <p:nvPr/>
        </p:nvCxnSpPr>
        <p:spPr>
          <a:xfrm>
            <a:off x="5835925" y="9421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6"/>
          <p:cNvCxnSpPr>
            <a:stCxn id="150" idx="3"/>
            <a:endCxn id="150" idx="3"/>
          </p:cNvCxnSpPr>
          <p:nvPr/>
        </p:nvCxnSpPr>
        <p:spPr>
          <a:xfrm>
            <a:off x="5835925" y="9421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6"/>
          <p:cNvCxnSpPr>
            <a:stCxn id="150" idx="3"/>
          </p:cNvCxnSpPr>
          <p:nvPr/>
        </p:nvCxnSpPr>
        <p:spPr>
          <a:xfrm>
            <a:off x="5835925" y="9421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6"/>
          <p:cNvCxnSpPr>
            <a:stCxn id="150" idx="3"/>
          </p:cNvCxnSpPr>
          <p:nvPr/>
        </p:nvCxnSpPr>
        <p:spPr>
          <a:xfrm>
            <a:off x="5835925" y="94211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6"/>
          <p:cNvSpPr txBox="1"/>
          <p:nvPr/>
        </p:nvSpPr>
        <p:spPr>
          <a:xfrm>
            <a:off x="4406175" y="4268275"/>
            <a:ext cx="3406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CC0000"/>
                </a:solidFill>
              </a:rPr>
              <a:t>False Positive Rate = </a:t>
            </a:r>
            <a:r>
              <a:rPr b="1" lang="es" sz="1600">
                <a:solidFill>
                  <a:srgbClr val="CC0000"/>
                </a:solidFill>
              </a:rPr>
              <a:t>1</a:t>
            </a:r>
            <a:r>
              <a:rPr b="1" lang="es">
                <a:solidFill>
                  <a:srgbClr val="CC0000"/>
                </a:solidFill>
              </a:rPr>
              <a:t> -  Specificity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610100" y="3427200"/>
            <a:ext cx="2500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E69138"/>
                </a:solidFill>
              </a:rPr>
              <a:t>Specificity = FP / (FP+TN)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6610100" y="4302350"/>
            <a:ext cx="999000" cy="335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26"/>
          <p:cNvCxnSpPr>
            <a:stCxn id="160" idx="0"/>
          </p:cNvCxnSpPr>
          <p:nvPr/>
        </p:nvCxnSpPr>
        <p:spPr>
          <a:xfrm flipH="1" rot="10800000">
            <a:off x="7109600" y="3837950"/>
            <a:ext cx="600" cy="464400"/>
          </a:xfrm>
          <a:prstGeom prst="straightConnector1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6"/>
          <p:cNvCxnSpPr>
            <a:stCxn id="148" idx="3"/>
            <a:endCxn id="158" idx="1"/>
          </p:cNvCxnSpPr>
          <p:nvPr/>
        </p:nvCxnSpPr>
        <p:spPr>
          <a:xfrm>
            <a:off x="3121525" y="4435975"/>
            <a:ext cx="12846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2925"/>
            <a:ext cx="8839200" cy="3688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50" y="1859949"/>
            <a:ext cx="7624425" cy="10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/>
        </p:nvSpPr>
        <p:spPr>
          <a:xfrm>
            <a:off x="295500" y="988225"/>
            <a:ext cx="8553000" cy="1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Los árboles de decisión son modelos de </a:t>
            </a:r>
            <a:r>
              <a:rPr b="1" lang="es" sz="1800" u="sng">
                <a:solidFill>
                  <a:schemeClr val="dk2"/>
                </a:solidFill>
              </a:rPr>
              <a:t>aprendizaje supervisado</a:t>
            </a:r>
            <a:r>
              <a:rPr lang="es" sz="1800">
                <a:solidFill>
                  <a:schemeClr val="dk2"/>
                </a:solidFill>
              </a:rPr>
              <a:t> que se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utilizan para: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  <a:highlight>
                  <a:srgbClr val="CFE2F3"/>
                </a:highlight>
              </a:rPr>
              <a:t>clasificación de variables categóricas</a:t>
            </a:r>
            <a:r>
              <a:rPr lang="es" sz="1800">
                <a:solidFill>
                  <a:schemeClr val="dk2"/>
                </a:solidFill>
                <a:highlight>
                  <a:srgbClr val="CFE2F3"/>
                </a:highlight>
              </a:rPr>
              <a:t> (para esto los vamos a usar!)</a:t>
            </a:r>
            <a:endParaRPr sz="18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regresión de variables numéricas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5169350" y="206450"/>
            <a:ext cx="3810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418775" y="2885500"/>
            <a:ext cx="53103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418775" y="2794475"/>
            <a:ext cx="81678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dk2"/>
                </a:solidFill>
              </a:rPr>
              <a:t>¿En qué contexto usamos árboles de decisión?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Los modelos de </a:t>
            </a:r>
            <a:r>
              <a:rPr b="1" lang="es" sz="1800">
                <a:solidFill>
                  <a:schemeClr val="dk2"/>
                </a:solidFill>
              </a:rPr>
              <a:t>regresión lineal</a:t>
            </a:r>
            <a:r>
              <a:rPr lang="es" sz="1800">
                <a:solidFill>
                  <a:schemeClr val="dk2"/>
                </a:solidFill>
              </a:rPr>
              <a:t> y </a:t>
            </a:r>
            <a:r>
              <a:rPr b="1" lang="es" sz="1800">
                <a:solidFill>
                  <a:schemeClr val="dk2"/>
                </a:solidFill>
              </a:rPr>
              <a:t>regresión logística</a:t>
            </a:r>
            <a:r>
              <a:rPr lang="es" sz="1800">
                <a:solidFill>
                  <a:schemeClr val="dk2"/>
                </a:solidFill>
              </a:rPr>
              <a:t> </a:t>
            </a:r>
            <a:r>
              <a:rPr b="1" lang="es" sz="1800" u="sng">
                <a:solidFill>
                  <a:schemeClr val="dk2"/>
                </a:solidFill>
              </a:rPr>
              <a:t>fallan</a:t>
            </a:r>
            <a:r>
              <a:rPr lang="es" sz="1800">
                <a:solidFill>
                  <a:schemeClr val="dk2"/>
                </a:solidFill>
              </a:rPr>
              <a:t> en situaciones donde: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 u="sng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es" sz="1800">
                <a:solidFill>
                  <a:schemeClr val="dk2"/>
                </a:solidFill>
              </a:rPr>
              <a:t>la relación entre las variables predictoras y la variable objetivo es </a:t>
            </a:r>
            <a:r>
              <a:rPr lang="es" sz="1800" u="sng">
                <a:solidFill>
                  <a:schemeClr val="dk2"/>
                </a:solidFill>
              </a:rPr>
              <a:t>no lineal </a:t>
            </a:r>
            <a:endParaRPr sz="1800" u="sng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➔"/>
            </a:pPr>
            <a:r>
              <a:rPr lang="es" sz="1800">
                <a:solidFill>
                  <a:schemeClr val="dk2"/>
                </a:solidFill>
              </a:rPr>
              <a:t>o cuando las </a:t>
            </a:r>
            <a:r>
              <a:rPr lang="es" sz="1800" u="sng">
                <a:solidFill>
                  <a:schemeClr val="dk2"/>
                </a:solidFill>
              </a:rPr>
              <a:t>variables predictoras interactúan entre sí</a:t>
            </a:r>
            <a:r>
              <a:rPr lang="es" sz="1800">
                <a:solidFill>
                  <a:schemeClr val="dk2"/>
                </a:solidFill>
              </a:rPr>
              <a:t>.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283350" y="4695825"/>
            <a:ext cx="47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Fuente: </a:t>
            </a:r>
            <a:r>
              <a:rPr lang="es" sz="1100" u="sng">
                <a:solidFill>
                  <a:schemeClr val="hlink"/>
                </a:solidFill>
                <a:hlinkClick r:id="rId4"/>
              </a:rPr>
              <a:t>https://christophm.github.io/interpretable-ml-book/tree.html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 txBox="1"/>
          <p:nvPr/>
        </p:nvSpPr>
        <p:spPr>
          <a:xfrm>
            <a:off x="283350" y="1123350"/>
            <a:ext cx="85413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 estas situaciones de no-linealidad e interacción entre predictores,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¡Los árboles de decisión son una gran opción! 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2"/>
                </a:solidFill>
              </a:rPr>
              <a:t>Premisa básica:</a:t>
            </a:r>
            <a:r>
              <a:rPr lang="es" sz="1800">
                <a:solidFill>
                  <a:schemeClr val="dk2"/>
                </a:solidFill>
              </a:rPr>
              <a:t> Divide el conjunto de datos en </a:t>
            </a:r>
            <a:r>
              <a:rPr b="1" lang="es" sz="1800">
                <a:solidFill>
                  <a:schemeClr val="dk2"/>
                </a:solidFill>
              </a:rPr>
              <a:t>subconjuntos más pequeños</a:t>
            </a:r>
            <a:r>
              <a:rPr lang="es" sz="1800">
                <a:solidFill>
                  <a:schemeClr val="dk2"/>
                </a:solidFill>
              </a:rPr>
              <a:t> con el objetivo de encontrar una serie de </a:t>
            </a:r>
            <a:r>
              <a:rPr b="1" lang="es" sz="1800">
                <a:solidFill>
                  <a:schemeClr val="dk2"/>
                </a:solidFill>
              </a:rPr>
              <a:t>reglas de decisión</a:t>
            </a:r>
            <a:r>
              <a:rPr lang="es" sz="1800">
                <a:solidFill>
                  <a:schemeClr val="dk2"/>
                </a:solidFill>
              </a:rPr>
              <a:t> que le permitan separar lo más posible las clases de la variable categórica que busca predecir (en el caso que se trate de una tarea de clasificación).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825" y="3615875"/>
            <a:ext cx="1151313" cy="10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 rotWithShape="1">
          <a:blip r:embed="rId5">
            <a:alphaModFix/>
          </a:blip>
          <a:srcRect b="0" l="20597" r="0" t="0"/>
          <a:stretch/>
        </p:blipFill>
        <p:spPr>
          <a:xfrm>
            <a:off x="7991125" y="4217250"/>
            <a:ext cx="511975" cy="4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 rotWithShape="1">
          <a:blip r:embed="rId5">
            <a:alphaModFix/>
          </a:blip>
          <a:srcRect b="0" l="20597" r="0" t="0"/>
          <a:stretch/>
        </p:blipFill>
        <p:spPr>
          <a:xfrm>
            <a:off x="6655250" y="3457625"/>
            <a:ext cx="511975" cy="4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5169350" y="206450"/>
            <a:ext cx="3810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295500" y="1083450"/>
            <a:ext cx="8553000" cy="3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¿Cómo funciona un árbol de decisión?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➔"/>
            </a:pPr>
            <a:r>
              <a:rPr lang="es" sz="1600">
                <a:solidFill>
                  <a:schemeClr val="dk2"/>
                </a:solidFill>
              </a:rPr>
              <a:t>Los modelos basados en árboles </a:t>
            </a:r>
            <a:r>
              <a:rPr b="1" lang="es" sz="1600">
                <a:solidFill>
                  <a:schemeClr val="dk2"/>
                </a:solidFill>
              </a:rPr>
              <a:t>dividen los datos varias veces de acuerdo con ciertos valores de corte en las características</a:t>
            </a:r>
            <a:r>
              <a:rPr lang="es" sz="1600">
                <a:solidFill>
                  <a:schemeClr val="dk2"/>
                </a:solidFill>
              </a:rPr>
              <a:t>.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➔"/>
            </a:pPr>
            <a:r>
              <a:rPr lang="es" sz="1600">
                <a:solidFill>
                  <a:schemeClr val="dk2"/>
                </a:solidFill>
              </a:rPr>
              <a:t>A través de estas divisiones (reglas de decisión), </a:t>
            </a:r>
            <a:r>
              <a:rPr b="1" lang="es" sz="1600">
                <a:solidFill>
                  <a:schemeClr val="dk2"/>
                </a:solidFill>
              </a:rPr>
              <a:t>se crean diferentes subconjuntos</a:t>
            </a:r>
            <a:r>
              <a:rPr lang="es" sz="1600">
                <a:solidFill>
                  <a:schemeClr val="dk2"/>
                </a:solidFill>
              </a:rPr>
              <a:t> del conjunto de datos, y cada instancia (cada fila de nuestro dataset) pertenece a uno de estos subconjuntos.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➔"/>
            </a:pPr>
            <a:r>
              <a:rPr lang="es" sz="1600">
                <a:solidFill>
                  <a:schemeClr val="dk2"/>
                </a:solidFill>
              </a:rPr>
              <a:t>En los árboles de clasificación, </a:t>
            </a:r>
            <a:r>
              <a:rPr b="1" lang="es" sz="1600">
                <a:solidFill>
                  <a:schemeClr val="dk2"/>
                </a:solidFill>
              </a:rPr>
              <a:t>el objetivo es que estos subconjuntos sean lo más homogéneos posible</a:t>
            </a:r>
            <a:r>
              <a:rPr lang="es" sz="1600">
                <a:solidFill>
                  <a:schemeClr val="dk2"/>
                </a:solidFill>
              </a:rPr>
              <a:t> (es decir, que las instancias que lo integran sean en su mayoría de la misma clase). 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➔"/>
            </a:pPr>
            <a:r>
              <a:rPr lang="es" sz="1600">
                <a:solidFill>
                  <a:schemeClr val="dk2"/>
                </a:solidFill>
              </a:rPr>
              <a:t>Podríamos pensar que a medida que el árbol “crece” (se hace más profundo), los subconjuntos se vuelven más pequeños y más homogéneos.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283350" y="1123350"/>
            <a:ext cx="41358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¡Veamos un ejemplo! 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Para entender cómo funciona el </a:t>
            </a:r>
            <a:r>
              <a:rPr lang="es" sz="1900">
                <a:solidFill>
                  <a:schemeClr val="dk2"/>
                </a:solidFill>
              </a:rPr>
              <a:t>algoritmo</a:t>
            </a:r>
            <a:r>
              <a:rPr lang="es" sz="1900">
                <a:solidFill>
                  <a:schemeClr val="dk2"/>
                </a:solidFill>
              </a:rPr>
              <a:t>, </a:t>
            </a:r>
            <a:r>
              <a:rPr b="1" lang="es" sz="1900">
                <a:solidFill>
                  <a:schemeClr val="dk2"/>
                </a:solidFill>
              </a:rPr>
              <a:t>vamos a construir un árbol de clasificación “a mano”</a:t>
            </a:r>
            <a:r>
              <a:rPr lang="es" sz="1900">
                <a:solidFill>
                  <a:schemeClr val="dk2"/>
                </a:solidFill>
              </a:rPr>
              <a:t> que nos ayude a saber si </a:t>
            </a:r>
            <a:r>
              <a:rPr b="1" lang="es" sz="1900">
                <a:solidFill>
                  <a:schemeClr val="dk2"/>
                </a:solidFill>
              </a:rPr>
              <a:t>podemos jugar o no al golf</a:t>
            </a:r>
            <a:r>
              <a:rPr lang="es" sz="1900">
                <a:solidFill>
                  <a:schemeClr val="dk2"/>
                </a:solidFill>
              </a:rPr>
              <a:t> (    ) según las condiciones climáticas del día.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El dataset que vemos a derecha será nuestro </a:t>
            </a:r>
            <a:r>
              <a:rPr b="1" lang="es" sz="1900">
                <a:solidFill>
                  <a:schemeClr val="dk2"/>
                </a:solidFill>
              </a:rPr>
              <a:t>dataset de entrenamiento</a:t>
            </a:r>
            <a:r>
              <a:rPr lang="es" sz="1900">
                <a:solidFill>
                  <a:schemeClr val="dk2"/>
                </a:solidFill>
              </a:rPr>
              <a:t>.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875" y="152400"/>
            <a:ext cx="3317782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275" y="2722350"/>
            <a:ext cx="271125" cy="2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488" y="420900"/>
            <a:ext cx="2582575" cy="31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/>
        </p:nvSpPr>
        <p:spPr>
          <a:xfrm>
            <a:off x="383050" y="1397225"/>
            <a:ext cx="48816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es" sz="1700">
                <a:solidFill>
                  <a:schemeClr val="dk2"/>
                </a:solidFill>
              </a:rPr>
              <a:t>El modelo parte desde un nodo inicial (donde están todos los casos del dataset).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es" sz="1700">
                <a:solidFill>
                  <a:schemeClr val="dk2"/>
                </a:solidFill>
              </a:rPr>
              <a:t>Mira la variable que quiero predecir (“</a:t>
            </a:r>
            <a:r>
              <a:rPr lang="es" sz="1700">
                <a:solidFill>
                  <a:schemeClr val="dk2"/>
                </a:solidFill>
              </a:rPr>
              <a:t>Jugar”</a:t>
            </a:r>
            <a:r>
              <a:rPr lang="es" sz="1700">
                <a:solidFill>
                  <a:schemeClr val="dk2"/>
                </a:solidFill>
              </a:rPr>
              <a:t>) y </a:t>
            </a:r>
            <a:r>
              <a:rPr b="1" lang="es" sz="1700">
                <a:solidFill>
                  <a:schemeClr val="dk2"/>
                </a:solidFill>
              </a:rPr>
              <a:t>verifica si todos los registros pertenecen a la misma clase</a:t>
            </a:r>
            <a:r>
              <a:rPr lang="es" sz="1700">
                <a:solidFill>
                  <a:schemeClr val="dk2"/>
                </a:solidFill>
              </a:rPr>
              <a:t>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es" sz="1700">
                <a:solidFill>
                  <a:schemeClr val="dk2"/>
                </a:solidFill>
              </a:rPr>
              <a:t>Como no es el caso, empieza a particionar por </a:t>
            </a:r>
            <a:r>
              <a:rPr lang="es" sz="1700">
                <a:solidFill>
                  <a:schemeClr val="dk2"/>
                </a:solidFill>
                <a:highlight>
                  <a:srgbClr val="CFE2F3"/>
                </a:highlight>
              </a:rPr>
              <a:t>la variable “Pronóstico”. </a:t>
            </a:r>
            <a:endParaRPr sz="17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➔"/>
            </a:pPr>
            <a:r>
              <a:rPr lang="es" sz="1800">
                <a:solidFill>
                  <a:schemeClr val="dk2"/>
                </a:solidFill>
              </a:rPr>
              <a:t>Por cada partición creamos </a:t>
            </a:r>
            <a:r>
              <a:rPr b="1" lang="es" sz="1800">
                <a:solidFill>
                  <a:schemeClr val="dk2"/>
                </a:solidFill>
              </a:rPr>
              <a:t>una arista</a:t>
            </a:r>
            <a:r>
              <a:rPr lang="es" sz="1800">
                <a:solidFill>
                  <a:schemeClr val="dk2"/>
                </a:solidFill>
              </a:rPr>
              <a:t> (split) y </a:t>
            </a:r>
            <a:r>
              <a:rPr b="1" lang="es" sz="1800">
                <a:solidFill>
                  <a:schemeClr val="dk2"/>
                </a:solidFill>
              </a:rPr>
              <a:t>un nodo</a:t>
            </a:r>
            <a:r>
              <a:rPr lang="es" sz="1800">
                <a:solidFill>
                  <a:schemeClr val="dk2"/>
                </a:solidFill>
              </a:rPr>
              <a:t> hijo (internal node).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5762275" y="3540925"/>
            <a:ext cx="3165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¿Por qué </a:t>
            </a:r>
            <a:r>
              <a:rPr lang="es" sz="1500">
                <a:solidFill>
                  <a:schemeClr val="dk2"/>
                </a:solidFill>
              </a:rPr>
              <a:t>elegimos</a:t>
            </a:r>
            <a:r>
              <a:rPr lang="es" sz="1500">
                <a:solidFill>
                  <a:schemeClr val="dk2"/>
                </a:solidFill>
              </a:rPr>
              <a:t> esa variable en lugar de otra? Lo vamos a ver un par de slides más adelante!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5669425" y="3528425"/>
            <a:ext cx="3258000" cy="952500"/>
          </a:xfrm>
          <a:prstGeom prst="rect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33"/>
          <p:cNvCxnSpPr/>
          <p:nvPr/>
        </p:nvCxnSpPr>
        <p:spPr>
          <a:xfrm flipH="1" rot="10800000">
            <a:off x="3633450" y="3659300"/>
            <a:ext cx="2024100" cy="12000"/>
          </a:xfrm>
          <a:prstGeom prst="straightConnector1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25" y="2141313"/>
            <a:ext cx="3600125" cy="287891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/>
        </p:nvSpPr>
        <p:spPr>
          <a:xfrm>
            <a:off x="630700" y="1051925"/>
            <a:ext cx="33837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Primero, analiza la partición correspondiente a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Pronóstico= “Nublado”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0825" y="3011550"/>
            <a:ext cx="2726509" cy="200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4646950" y="1051925"/>
            <a:ext cx="4082400" cy="22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A continuación, </a:t>
            </a:r>
            <a:r>
              <a:rPr b="1" lang="es" sz="1600">
                <a:solidFill>
                  <a:schemeClr val="dk2"/>
                </a:solidFill>
              </a:rPr>
              <a:t>verifica si todos los registros</a:t>
            </a:r>
            <a:r>
              <a:rPr lang="es" sz="1600">
                <a:solidFill>
                  <a:schemeClr val="dk2"/>
                </a:solidFill>
              </a:rPr>
              <a:t> de este subconjunto </a:t>
            </a:r>
            <a:r>
              <a:rPr b="1" lang="es" sz="1600">
                <a:solidFill>
                  <a:schemeClr val="dk2"/>
                </a:solidFill>
              </a:rPr>
              <a:t>pertenecen a la misma clase.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¡Todos corresponden a “Sí”!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Por lo tanto, este será un </a:t>
            </a:r>
            <a:r>
              <a:rPr b="1" lang="es" sz="1600">
                <a:solidFill>
                  <a:schemeClr val="dk2"/>
                </a:solidFill>
              </a:rPr>
              <a:t>nodo terminal </a:t>
            </a:r>
            <a:r>
              <a:rPr lang="es" sz="1600">
                <a:solidFill>
                  <a:schemeClr val="dk2"/>
                </a:solidFill>
              </a:rPr>
              <a:t>con la etiqueta “Sí”.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 txBox="1"/>
          <p:nvPr/>
        </p:nvSpPr>
        <p:spPr>
          <a:xfrm>
            <a:off x="595025" y="988225"/>
            <a:ext cx="33837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Ahora, avanza y</a:t>
            </a:r>
            <a:r>
              <a:rPr lang="es" sz="1600">
                <a:solidFill>
                  <a:schemeClr val="dk2"/>
                </a:solidFill>
              </a:rPr>
              <a:t> analiza la partición correspondiente a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Pronóstico= “Soleado”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4264450" y="988225"/>
            <a:ext cx="46911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¿Todos los </a:t>
            </a:r>
            <a:r>
              <a:rPr b="1" lang="es" sz="1600">
                <a:solidFill>
                  <a:schemeClr val="dk2"/>
                </a:solidFill>
              </a:rPr>
              <a:t>registros</a:t>
            </a:r>
            <a:r>
              <a:rPr lang="es" sz="1600">
                <a:solidFill>
                  <a:schemeClr val="dk2"/>
                </a:solidFill>
              </a:rPr>
              <a:t> de este subconjunto </a:t>
            </a:r>
            <a:r>
              <a:rPr b="1" lang="es" sz="1600">
                <a:solidFill>
                  <a:schemeClr val="dk2"/>
                </a:solidFill>
              </a:rPr>
              <a:t>pertenecen a la misma clase? No.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Cuando los registros no pertenecen la misma clase, </a:t>
            </a:r>
            <a:r>
              <a:rPr b="1" lang="es" sz="1600">
                <a:solidFill>
                  <a:schemeClr val="dk2"/>
                </a:solidFill>
              </a:rPr>
              <a:t>se hace una nueva partición.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00" y="2072812"/>
            <a:ext cx="2752869" cy="210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4321" y="2472875"/>
            <a:ext cx="3598617" cy="22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/>
          <p:nvPr/>
        </p:nvSpPr>
        <p:spPr>
          <a:xfrm>
            <a:off x="283350" y="988225"/>
            <a:ext cx="4183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¿Qué variable será la seleccionada para hacer la partición? </a:t>
            </a:r>
            <a:r>
              <a:rPr lang="es" sz="1600">
                <a:solidFill>
                  <a:schemeClr val="dk2"/>
                </a:solidFill>
              </a:rPr>
              <a:t>¿Temperatura, Humedad o Viento?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Veamos los datos: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Si el árbol </a:t>
            </a:r>
            <a:r>
              <a:rPr lang="es" sz="1600">
                <a:solidFill>
                  <a:schemeClr val="dk2"/>
                </a:solidFill>
              </a:rPr>
              <a:t>elige</a:t>
            </a:r>
            <a:r>
              <a:rPr lang="es" sz="1600">
                <a:solidFill>
                  <a:schemeClr val="dk2"/>
                </a:solidFill>
              </a:rPr>
              <a:t> la variable </a:t>
            </a:r>
            <a:r>
              <a:rPr b="1" lang="es" sz="1600">
                <a:solidFill>
                  <a:schemeClr val="dk2"/>
                </a:solidFill>
              </a:rPr>
              <a:t>“Humedad”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podría construir </a:t>
            </a:r>
            <a:r>
              <a:rPr b="1" lang="es" sz="1600">
                <a:solidFill>
                  <a:schemeClr val="dk2"/>
                </a:solidFill>
              </a:rPr>
              <a:t>dos nuevos subconjuntos</a:t>
            </a:r>
            <a:r>
              <a:rPr lang="es" sz="1600">
                <a:solidFill>
                  <a:schemeClr val="dk2"/>
                </a:solidFill>
              </a:rPr>
              <a:t>: cada uno de ellos, con </a:t>
            </a:r>
            <a:r>
              <a:rPr b="1" lang="es" sz="1600">
                <a:solidFill>
                  <a:schemeClr val="dk2"/>
                </a:solidFill>
              </a:rPr>
              <a:t>registros que pertenecen a la misma clase</a:t>
            </a:r>
            <a:r>
              <a:rPr lang="es" sz="1600">
                <a:solidFill>
                  <a:schemeClr val="dk2"/>
                </a:solidFill>
              </a:rPr>
              <a:t>. ¡Perfecto!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No</a:t>
            </a:r>
            <a:r>
              <a:rPr lang="es" sz="1600">
                <a:solidFill>
                  <a:schemeClr val="dk2"/>
                </a:solidFill>
              </a:rPr>
              <a:t> ocurre lo mismo si miramos “Viento” o “Temperatura”. </a:t>
            </a:r>
            <a:r>
              <a:rPr b="1" lang="es" sz="1600">
                <a:solidFill>
                  <a:schemeClr val="dk2"/>
                </a:solidFill>
                <a:highlight>
                  <a:srgbClr val="CFE2F3"/>
                </a:highlight>
              </a:rPr>
              <a:t>La variable seleccionada será “Humedad”</a:t>
            </a:r>
            <a:r>
              <a:rPr b="1" lang="es" sz="1600">
                <a:solidFill>
                  <a:schemeClr val="dk2"/>
                </a:solidFill>
              </a:rPr>
              <a:t>.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25" y="2465319"/>
            <a:ext cx="4183499" cy="2430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1850" y="3385550"/>
            <a:ext cx="1750326" cy="15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/>
          <p:nvPr/>
        </p:nvSpPr>
        <p:spPr>
          <a:xfrm>
            <a:off x="283350" y="964375"/>
            <a:ext cx="4088400" cy="952500"/>
          </a:xfrm>
          <a:prstGeom prst="rect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 txBox="1"/>
          <p:nvPr/>
        </p:nvSpPr>
        <p:spPr>
          <a:xfrm>
            <a:off x="283350" y="1105175"/>
            <a:ext cx="38382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Para la subconjunto </a:t>
            </a:r>
            <a:r>
              <a:rPr b="1" lang="es" sz="1600">
                <a:solidFill>
                  <a:schemeClr val="dk2"/>
                </a:solidFill>
              </a:rPr>
              <a:t>Humedad = “Alta”</a:t>
            </a:r>
            <a:r>
              <a:rPr lang="es" sz="1600">
                <a:solidFill>
                  <a:schemeClr val="dk2"/>
                </a:solidFill>
              </a:rPr>
              <a:t>, todos los casos son </a:t>
            </a:r>
            <a:r>
              <a:rPr b="1" lang="es" sz="1600">
                <a:solidFill>
                  <a:schemeClr val="dk2"/>
                </a:solidFill>
              </a:rPr>
              <a:t>Jugar = “No”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388" y="2186375"/>
            <a:ext cx="3600125" cy="156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5025" y="2033225"/>
            <a:ext cx="2688075" cy="24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 txBox="1"/>
          <p:nvPr/>
        </p:nvSpPr>
        <p:spPr>
          <a:xfrm>
            <a:off x="4846713" y="1105175"/>
            <a:ext cx="39885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Entonces, este será un </a:t>
            </a:r>
            <a:r>
              <a:rPr b="1" lang="es" sz="1600">
                <a:solidFill>
                  <a:schemeClr val="dk2"/>
                </a:solidFill>
              </a:rPr>
              <a:t>nodo terminal</a:t>
            </a:r>
            <a:r>
              <a:rPr lang="es" sz="1600">
                <a:solidFill>
                  <a:schemeClr val="dk2"/>
                </a:solidFill>
              </a:rPr>
              <a:t> con la etiqueta “No”.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8"/>
          <p:cNvSpPr txBox="1"/>
          <p:nvPr/>
        </p:nvSpPr>
        <p:spPr>
          <a:xfrm>
            <a:off x="176200" y="1105175"/>
            <a:ext cx="42888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Para la subconjunto </a:t>
            </a:r>
            <a:r>
              <a:rPr b="1" lang="es" sz="1600">
                <a:solidFill>
                  <a:schemeClr val="dk2"/>
                </a:solidFill>
              </a:rPr>
              <a:t>Humedad = “Normal”</a:t>
            </a:r>
            <a:r>
              <a:rPr lang="es" sz="1600">
                <a:solidFill>
                  <a:schemeClr val="dk2"/>
                </a:solidFill>
              </a:rPr>
              <a:t>, todos los casos son </a:t>
            </a:r>
            <a:r>
              <a:rPr b="1" lang="es" sz="1600">
                <a:solidFill>
                  <a:schemeClr val="dk2"/>
                </a:solidFill>
              </a:rPr>
              <a:t>Jugar = “Sí” 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4846713" y="1105175"/>
            <a:ext cx="39885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Entonces, este será un </a:t>
            </a:r>
            <a:r>
              <a:rPr b="1" lang="es" sz="1600">
                <a:solidFill>
                  <a:schemeClr val="dk2"/>
                </a:solidFill>
              </a:rPr>
              <a:t>nodo terminal</a:t>
            </a:r>
            <a:r>
              <a:rPr lang="es" sz="1600">
                <a:solidFill>
                  <a:schemeClr val="dk2"/>
                </a:solidFill>
              </a:rPr>
              <a:t> con la etiqueta “Sí”.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200" y="2055250"/>
            <a:ext cx="4069476" cy="13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2750" y="1877700"/>
            <a:ext cx="2272650" cy="25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9"/>
          <p:cNvSpPr txBox="1"/>
          <p:nvPr/>
        </p:nvSpPr>
        <p:spPr>
          <a:xfrm>
            <a:off x="283350" y="1076500"/>
            <a:ext cx="40884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Ahora solo resta analizar la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partición correspondiente al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Pronóstico = “Lluvia”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72" name="Google Shape;272;p39"/>
          <p:cNvSpPr txBox="1"/>
          <p:nvPr/>
        </p:nvSpPr>
        <p:spPr>
          <a:xfrm>
            <a:off x="4681175" y="1164700"/>
            <a:ext cx="4262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73" name="Google Shape;27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075" y="2176425"/>
            <a:ext cx="2752625" cy="26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4875" y="2334475"/>
            <a:ext cx="3274250" cy="2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 txBox="1"/>
          <p:nvPr/>
        </p:nvSpPr>
        <p:spPr>
          <a:xfrm>
            <a:off x="3647200" y="1076488"/>
            <a:ext cx="5236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El árbol </a:t>
            </a:r>
            <a:r>
              <a:rPr b="1" lang="es" sz="1600">
                <a:solidFill>
                  <a:srgbClr val="6AA84F"/>
                </a:solidFill>
              </a:rPr>
              <a:t>se pregunta nuevamente</a:t>
            </a:r>
            <a:r>
              <a:rPr lang="es" sz="1600">
                <a:solidFill>
                  <a:schemeClr val="dk2"/>
                </a:solidFill>
              </a:rPr>
              <a:t>: </a:t>
            </a:r>
            <a:r>
              <a:rPr lang="es" sz="1600">
                <a:solidFill>
                  <a:schemeClr val="dk2"/>
                </a:solidFill>
              </a:rPr>
              <a:t>¿Todos los </a:t>
            </a:r>
            <a:r>
              <a:rPr b="1" lang="es" sz="1600">
                <a:solidFill>
                  <a:schemeClr val="dk2"/>
                </a:solidFill>
              </a:rPr>
              <a:t>registros</a:t>
            </a:r>
            <a:r>
              <a:rPr lang="es" sz="1600">
                <a:solidFill>
                  <a:schemeClr val="dk2"/>
                </a:solidFill>
              </a:rPr>
              <a:t> de este subconjunto </a:t>
            </a:r>
            <a:r>
              <a:rPr b="1" lang="es" sz="1600">
                <a:solidFill>
                  <a:schemeClr val="dk2"/>
                </a:solidFill>
              </a:rPr>
              <a:t>pertenecen a la misma clase? </a:t>
            </a:r>
            <a:r>
              <a:rPr lang="es" sz="1600">
                <a:solidFill>
                  <a:schemeClr val="dk2"/>
                </a:solidFill>
              </a:rPr>
              <a:t>La respuesta es No. Entonces, selecciona una variable para hacer </a:t>
            </a:r>
            <a:r>
              <a:rPr b="1" lang="es" sz="1600">
                <a:solidFill>
                  <a:srgbClr val="6AA84F"/>
                </a:solidFill>
              </a:rPr>
              <a:t>una nueva partición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7145675" y="3004363"/>
            <a:ext cx="17979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Noten que siempre sigue los mismos pasos: </a:t>
            </a:r>
            <a:r>
              <a:rPr b="1" lang="es" sz="1500">
                <a:solidFill>
                  <a:srgbClr val="6AA84F"/>
                </a:solidFill>
              </a:rPr>
              <a:t>el </a:t>
            </a:r>
            <a:r>
              <a:rPr b="1" lang="es" sz="1500">
                <a:solidFill>
                  <a:srgbClr val="6AA84F"/>
                </a:solidFill>
              </a:rPr>
              <a:t>árbol</a:t>
            </a:r>
            <a:r>
              <a:rPr b="1" lang="es" sz="1500">
                <a:solidFill>
                  <a:srgbClr val="6AA84F"/>
                </a:solidFill>
              </a:rPr>
              <a:t> funciona</a:t>
            </a:r>
            <a:r>
              <a:rPr lang="es" sz="1500">
                <a:solidFill>
                  <a:srgbClr val="6AA84F"/>
                </a:solidFill>
              </a:rPr>
              <a:t> </a:t>
            </a:r>
            <a:r>
              <a:rPr b="1" lang="es" sz="1500">
                <a:solidFill>
                  <a:srgbClr val="6AA84F"/>
                </a:solidFill>
              </a:rPr>
              <a:t>de forma recursiva</a:t>
            </a:r>
            <a:r>
              <a:rPr lang="es" sz="1500">
                <a:solidFill>
                  <a:schemeClr val="dk2"/>
                </a:solidFill>
              </a:rPr>
              <a:t>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7098125" y="2966113"/>
            <a:ext cx="1893000" cy="1583400"/>
          </a:xfrm>
          <a:prstGeom prst="rect">
            <a:avLst/>
          </a:prstGeom>
          <a:noFill/>
          <a:ln cap="flat" cmpd="sng" w="2857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0"/>
          <p:cNvSpPr txBox="1"/>
          <p:nvPr/>
        </p:nvSpPr>
        <p:spPr>
          <a:xfrm>
            <a:off x="283350" y="988225"/>
            <a:ext cx="40884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6AA84F"/>
                </a:solidFill>
              </a:rPr>
              <a:t>Se pregunta nuevamente: </a:t>
            </a:r>
            <a:r>
              <a:rPr b="1" lang="es" sz="1600">
                <a:solidFill>
                  <a:schemeClr val="dk2"/>
                </a:solidFill>
              </a:rPr>
              <a:t>¿Qué variable debería seleccionar?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lang="es" sz="1600">
                <a:solidFill>
                  <a:schemeClr val="dk2"/>
                </a:solidFill>
              </a:rPr>
              <a:t>¿Temperatura, Humedad o Viento?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Mira los datos: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84" name="Google Shape;284;p40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85" name="Google Shape;285;p40"/>
          <p:cNvSpPr txBox="1"/>
          <p:nvPr/>
        </p:nvSpPr>
        <p:spPr>
          <a:xfrm>
            <a:off x="4758550" y="1076425"/>
            <a:ext cx="4262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350" y="2509375"/>
            <a:ext cx="3854729" cy="24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/>
        </p:nvSpPr>
        <p:spPr>
          <a:xfrm>
            <a:off x="4584550" y="988225"/>
            <a:ext cx="4262400" cy="25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Siguiendo la misma lógica, si selecciona la variable “Viento” </a:t>
            </a:r>
            <a:r>
              <a:rPr lang="es" sz="1600">
                <a:solidFill>
                  <a:schemeClr val="dk2"/>
                </a:solidFill>
              </a:rPr>
              <a:t>podría construir </a:t>
            </a:r>
            <a:r>
              <a:rPr b="1" lang="es" sz="1600">
                <a:solidFill>
                  <a:schemeClr val="dk2"/>
                </a:solidFill>
              </a:rPr>
              <a:t>dos nuevos subconjuntos</a:t>
            </a:r>
            <a:r>
              <a:rPr lang="es" sz="1600">
                <a:solidFill>
                  <a:schemeClr val="dk2"/>
                </a:solidFill>
              </a:rPr>
              <a:t>: cada uno de ellos, con </a:t>
            </a:r>
            <a:r>
              <a:rPr b="1" lang="es" sz="1600">
                <a:solidFill>
                  <a:schemeClr val="dk2"/>
                </a:solidFill>
              </a:rPr>
              <a:t>registros que pertenecen a la misma clase</a:t>
            </a:r>
            <a:r>
              <a:rPr lang="es" sz="1600">
                <a:solidFill>
                  <a:schemeClr val="dk2"/>
                </a:solidFill>
              </a:rPr>
              <a:t>. ¡Y eso es lo que buscamos!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No</a:t>
            </a:r>
            <a:r>
              <a:rPr lang="es" sz="1600">
                <a:solidFill>
                  <a:schemeClr val="dk2"/>
                </a:solidFill>
              </a:rPr>
              <a:t> ocurre lo mismo si miramos “Humedad” o “Temperatura”.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Selecciona “Viento” y </a:t>
            </a:r>
            <a:r>
              <a:rPr b="1" lang="es" sz="1600">
                <a:solidFill>
                  <a:schemeClr val="dk2"/>
                </a:solidFill>
              </a:rPr>
              <a:t>define los dos nodos terminales según las siguientes </a:t>
            </a:r>
            <a:r>
              <a:rPr b="1" lang="es" sz="1600">
                <a:solidFill>
                  <a:srgbClr val="3C78D8"/>
                </a:solidFill>
              </a:rPr>
              <a:t>reglas de decisión</a:t>
            </a:r>
            <a:r>
              <a:rPr b="1" lang="es" sz="1600">
                <a:solidFill>
                  <a:schemeClr val="dk2"/>
                </a:solidFill>
              </a:rPr>
              <a:t>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SI</a:t>
            </a:r>
            <a:r>
              <a:rPr lang="es" sz="1600">
                <a:solidFill>
                  <a:schemeClr val="dk2"/>
                </a:solidFill>
              </a:rPr>
              <a:t> Viento= “Débil” </a:t>
            </a:r>
            <a:r>
              <a:rPr b="1" lang="es" sz="1600">
                <a:solidFill>
                  <a:schemeClr val="dk2"/>
                </a:solidFill>
              </a:rPr>
              <a:t>ENTONCES</a:t>
            </a:r>
            <a:r>
              <a:rPr lang="es" sz="1600">
                <a:solidFill>
                  <a:schemeClr val="dk2"/>
                </a:solidFill>
              </a:rPr>
              <a:t> Jugar= “Sí”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SI</a:t>
            </a:r>
            <a:r>
              <a:rPr lang="es" sz="1600">
                <a:solidFill>
                  <a:schemeClr val="dk2"/>
                </a:solidFill>
              </a:rPr>
              <a:t> Viento= “Fuerte” </a:t>
            </a:r>
            <a:r>
              <a:rPr b="1" lang="es" sz="1600">
                <a:solidFill>
                  <a:schemeClr val="dk2"/>
                </a:solidFill>
              </a:rPr>
              <a:t>ENTONCES</a:t>
            </a:r>
            <a:r>
              <a:rPr lang="es" sz="1600">
                <a:solidFill>
                  <a:schemeClr val="dk2"/>
                </a:solidFill>
              </a:rPr>
              <a:t> Jugar= “No”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88" name="Google Shape;288;p40"/>
          <p:cNvSpPr/>
          <p:nvPr/>
        </p:nvSpPr>
        <p:spPr>
          <a:xfrm>
            <a:off x="4525000" y="4135575"/>
            <a:ext cx="4381500" cy="7914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1"/>
          <p:cNvSpPr txBox="1"/>
          <p:nvPr/>
        </p:nvSpPr>
        <p:spPr>
          <a:xfrm>
            <a:off x="180900" y="988225"/>
            <a:ext cx="47742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¿Cuál es el resultado de este proceso?</a:t>
            </a:r>
            <a:r>
              <a:rPr lang="es" sz="1900">
                <a:solidFill>
                  <a:schemeClr val="dk2"/>
                </a:solidFill>
              </a:rPr>
              <a:t>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2"/>
                </a:solidFill>
              </a:rPr>
              <a:t>Un sistema de reglas de decisión</a:t>
            </a:r>
            <a:r>
              <a:rPr lang="es" sz="1600">
                <a:solidFill>
                  <a:schemeClr val="dk2"/>
                </a:solidFill>
              </a:rPr>
              <a:t> que me ayudan a decidir si las condiciones climáticas son aptas para jugar al </a:t>
            </a:r>
            <a:r>
              <a:rPr lang="es" sz="1600">
                <a:solidFill>
                  <a:schemeClr val="dk2"/>
                </a:solidFill>
              </a:rPr>
              <a:t>golf</a:t>
            </a:r>
            <a:r>
              <a:rPr lang="es" sz="1600">
                <a:solidFill>
                  <a:schemeClr val="dk2"/>
                </a:solidFill>
              </a:rPr>
              <a:t> o no.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Las reglas de decisión son de tipo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b="1" lang="es" sz="1600">
                <a:solidFill>
                  <a:srgbClr val="3C78D8"/>
                </a:solidFill>
              </a:rPr>
              <a:t>IF-THEN</a:t>
            </a:r>
            <a:endParaRPr sz="16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95" name="Google Shape;295;p41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4758550" y="1076425"/>
            <a:ext cx="4262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4">
            <a:alphaModFix/>
          </a:blip>
          <a:srcRect b="0" l="3800" r="10030" t="0"/>
          <a:stretch/>
        </p:blipFill>
        <p:spPr>
          <a:xfrm>
            <a:off x="5360125" y="988225"/>
            <a:ext cx="3783875" cy="334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80900" y="3064900"/>
            <a:ext cx="56790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00">
                <a:solidFill>
                  <a:srgbClr val="3C78D8"/>
                </a:solidFill>
              </a:rPr>
              <a:t>SI</a:t>
            </a:r>
            <a:r>
              <a:rPr lang="es" sz="1300">
                <a:solidFill>
                  <a:schemeClr val="dk2"/>
                </a:solidFill>
              </a:rPr>
              <a:t> Pronóstico= “Nublado” </a:t>
            </a:r>
            <a:r>
              <a:rPr b="1" lang="es" sz="1300">
                <a:solidFill>
                  <a:srgbClr val="3C78D8"/>
                </a:solidFill>
              </a:rPr>
              <a:t>ENTONCES</a:t>
            </a:r>
            <a:r>
              <a:rPr lang="es" sz="1300">
                <a:solidFill>
                  <a:schemeClr val="dk2"/>
                </a:solidFill>
              </a:rPr>
              <a:t> Jugar= “Sí”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C78D8"/>
                </a:solidFill>
              </a:rPr>
              <a:t>SI</a:t>
            </a:r>
            <a:r>
              <a:rPr lang="es" sz="1300">
                <a:solidFill>
                  <a:schemeClr val="dk2"/>
                </a:solidFill>
              </a:rPr>
              <a:t> Pronóstico= “Soleado” </a:t>
            </a:r>
            <a:r>
              <a:rPr b="1" lang="es" sz="1300">
                <a:solidFill>
                  <a:schemeClr val="dk2"/>
                </a:solidFill>
              </a:rPr>
              <a:t>Y </a:t>
            </a:r>
            <a:r>
              <a:rPr lang="es" sz="1300">
                <a:solidFill>
                  <a:schemeClr val="dk2"/>
                </a:solidFill>
              </a:rPr>
              <a:t>Humedad= “Normal” </a:t>
            </a:r>
            <a:r>
              <a:rPr b="1" lang="es" sz="1300">
                <a:solidFill>
                  <a:srgbClr val="3C78D8"/>
                </a:solidFill>
              </a:rPr>
              <a:t>ENTONCES</a:t>
            </a:r>
            <a:r>
              <a:rPr lang="es" sz="1300">
                <a:solidFill>
                  <a:schemeClr val="dk2"/>
                </a:solidFill>
              </a:rPr>
              <a:t> Jugar= “Sí”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C78D8"/>
                </a:solidFill>
              </a:rPr>
              <a:t>SI</a:t>
            </a:r>
            <a:r>
              <a:rPr lang="es" sz="1300">
                <a:solidFill>
                  <a:schemeClr val="dk2"/>
                </a:solidFill>
              </a:rPr>
              <a:t> Pronóstico= “Soleado” </a:t>
            </a:r>
            <a:r>
              <a:rPr b="1" lang="es" sz="1300">
                <a:solidFill>
                  <a:schemeClr val="dk2"/>
                </a:solidFill>
              </a:rPr>
              <a:t>Y </a:t>
            </a:r>
            <a:r>
              <a:rPr lang="es" sz="1300">
                <a:solidFill>
                  <a:schemeClr val="dk2"/>
                </a:solidFill>
              </a:rPr>
              <a:t>Humedad= “Alta” </a:t>
            </a:r>
            <a:r>
              <a:rPr b="1" lang="es" sz="1300">
                <a:solidFill>
                  <a:srgbClr val="3C78D8"/>
                </a:solidFill>
              </a:rPr>
              <a:t>ENTONCES</a:t>
            </a:r>
            <a:r>
              <a:rPr lang="es" sz="1300">
                <a:solidFill>
                  <a:schemeClr val="dk2"/>
                </a:solidFill>
              </a:rPr>
              <a:t> Jugar= “No”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C78D8"/>
                </a:solidFill>
              </a:rPr>
              <a:t>SI</a:t>
            </a:r>
            <a:r>
              <a:rPr lang="es" sz="1300">
                <a:solidFill>
                  <a:schemeClr val="dk2"/>
                </a:solidFill>
              </a:rPr>
              <a:t> Pronóstico= “Lluvia” </a:t>
            </a:r>
            <a:r>
              <a:rPr b="1" lang="es" sz="1300">
                <a:solidFill>
                  <a:schemeClr val="dk2"/>
                </a:solidFill>
              </a:rPr>
              <a:t>Y </a:t>
            </a:r>
            <a:r>
              <a:rPr lang="es" sz="1300">
                <a:solidFill>
                  <a:schemeClr val="dk2"/>
                </a:solidFill>
              </a:rPr>
              <a:t>Viento= “Débil” </a:t>
            </a:r>
            <a:r>
              <a:rPr b="1" lang="es" sz="1300">
                <a:solidFill>
                  <a:srgbClr val="3C78D8"/>
                </a:solidFill>
              </a:rPr>
              <a:t>ENTONCES</a:t>
            </a:r>
            <a:r>
              <a:rPr lang="es" sz="1300">
                <a:solidFill>
                  <a:schemeClr val="dk2"/>
                </a:solidFill>
              </a:rPr>
              <a:t> Jugar= “Sí”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C78D8"/>
                </a:solidFill>
              </a:rPr>
              <a:t>SI</a:t>
            </a:r>
            <a:r>
              <a:rPr lang="es" sz="1300">
                <a:solidFill>
                  <a:srgbClr val="3C78D8"/>
                </a:solidFill>
              </a:rPr>
              <a:t> </a:t>
            </a:r>
            <a:r>
              <a:rPr lang="es" sz="1300">
                <a:solidFill>
                  <a:schemeClr val="dk2"/>
                </a:solidFill>
              </a:rPr>
              <a:t>Pronóstico= “Lluvia” </a:t>
            </a:r>
            <a:r>
              <a:rPr b="1" lang="es" sz="1300">
                <a:solidFill>
                  <a:schemeClr val="dk2"/>
                </a:solidFill>
              </a:rPr>
              <a:t>Y </a:t>
            </a:r>
            <a:r>
              <a:rPr lang="es" sz="1300">
                <a:solidFill>
                  <a:schemeClr val="dk2"/>
                </a:solidFill>
              </a:rPr>
              <a:t>Viento= “Fuerte” </a:t>
            </a:r>
            <a:r>
              <a:rPr b="1" lang="es" sz="1300">
                <a:solidFill>
                  <a:srgbClr val="3C78D8"/>
                </a:solidFill>
              </a:rPr>
              <a:t>ENTONCES</a:t>
            </a:r>
            <a:r>
              <a:rPr lang="es" sz="1300">
                <a:solidFill>
                  <a:schemeClr val="dk2"/>
                </a:solidFill>
              </a:rPr>
              <a:t> Jugar= “No”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29257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2"/>
          <p:cNvSpPr txBox="1"/>
          <p:nvPr/>
        </p:nvSpPr>
        <p:spPr>
          <a:xfrm>
            <a:off x="97575" y="988225"/>
            <a:ext cx="80127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Una vez que el </a:t>
            </a:r>
            <a:r>
              <a:rPr b="1" lang="es" sz="1900">
                <a:solidFill>
                  <a:schemeClr val="dk2"/>
                </a:solidFill>
              </a:rPr>
              <a:t>árbol de decisión</a:t>
            </a:r>
            <a:r>
              <a:rPr b="1" lang="es" sz="1900">
                <a:solidFill>
                  <a:schemeClr val="dk2"/>
                </a:solidFill>
              </a:rPr>
              <a:t> fue entrenado, ¿cómo clasifica a </a:t>
            </a:r>
            <a:r>
              <a:rPr b="1" lang="es" sz="1900" u="sng">
                <a:solidFill>
                  <a:schemeClr val="dk2"/>
                </a:solidFill>
              </a:rPr>
              <a:t>un caso nuevo</a:t>
            </a:r>
            <a:r>
              <a:rPr b="1" lang="es" sz="1900">
                <a:solidFill>
                  <a:schemeClr val="dk2"/>
                </a:solidFill>
              </a:rPr>
              <a:t>?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highlight>
                  <a:srgbClr val="C9DAF8"/>
                </a:highlight>
              </a:rPr>
              <a:t>Usa las reglas de decisión que aprendió durante el entrenamiento.</a:t>
            </a:r>
            <a:endParaRPr sz="1900">
              <a:solidFill>
                <a:schemeClr val="dk2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4758550" y="1076425"/>
            <a:ext cx="4262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180900" y="2555913"/>
            <a:ext cx="56790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“Nublado”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“Soleado”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Humedad= “Normal”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“Soleado”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Humedad= “Alta”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“No”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“Lluvia”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Viento= “Débil”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rgbClr val="3C78D8"/>
                </a:solidFill>
              </a:rPr>
              <a:t> </a:t>
            </a:r>
            <a:r>
              <a:rPr lang="es" sz="1200">
                <a:solidFill>
                  <a:schemeClr val="dk2"/>
                </a:solidFill>
              </a:rPr>
              <a:t>Pronóstico= “Lluvia”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Viento= “Fuerte”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“No”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8" name="Google Shape;30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096" y="3141037"/>
            <a:ext cx="3396845" cy="3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0675" y="3534150"/>
            <a:ext cx="2576200" cy="3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2"/>
          <p:cNvSpPr/>
          <p:nvPr/>
        </p:nvSpPr>
        <p:spPr>
          <a:xfrm>
            <a:off x="180900" y="2392375"/>
            <a:ext cx="5179200" cy="1666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"/>
          <p:cNvSpPr txBox="1"/>
          <p:nvPr/>
        </p:nvSpPr>
        <p:spPr>
          <a:xfrm>
            <a:off x="5545900" y="2483425"/>
            <a:ext cx="3119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Imaginemos que este es </a:t>
            </a:r>
            <a:r>
              <a:rPr b="1" lang="es" sz="1500">
                <a:solidFill>
                  <a:schemeClr val="dk2"/>
                </a:solidFill>
              </a:rPr>
              <a:t>un nuevo caso</a:t>
            </a:r>
            <a:r>
              <a:rPr lang="es" sz="1500">
                <a:solidFill>
                  <a:schemeClr val="dk2"/>
                </a:solidFill>
              </a:rPr>
              <a:t>: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12" name="Google Shape;312;p42"/>
          <p:cNvSpPr txBox="1"/>
          <p:nvPr/>
        </p:nvSpPr>
        <p:spPr>
          <a:xfrm>
            <a:off x="8515000" y="3540175"/>
            <a:ext cx="36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</a:rPr>
              <a:t>?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313" name="Google Shape;313;p42"/>
          <p:cNvSpPr txBox="1"/>
          <p:nvPr/>
        </p:nvSpPr>
        <p:spPr>
          <a:xfrm>
            <a:off x="5700675" y="4004700"/>
            <a:ext cx="3012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0000"/>
                </a:solidFill>
              </a:rPr>
              <a:t>¿Podemos jugar al golf?</a:t>
            </a:r>
            <a:endParaRPr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3"/>
          <p:cNvSpPr txBox="1"/>
          <p:nvPr/>
        </p:nvSpPr>
        <p:spPr>
          <a:xfrm>
            <a:off x="97575" y="988225"/>
            <a:ext cx="80127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Una vez que el árbol de decisión fue entrenado, ¿cómo clasifica a un caso nuevo?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highlight>
                  <a:srgbClr val="C9DAF8"/>
                </a:highlight>
              </a:rPr>
              <a:t>Usa las reglas de decisión que aprendió durante el entrenamiento.</a:t>
            </a:r>
            <a:endParaRPr sz="1900">
              <a:solidFill>
                <a:schemeClr val="dk2"/>
              </a:solidFill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20" name="Google Shape;320;p43"/>
          <p:cNvSpPr txBox="1"/>
          <p:nvPr/>
        </p:nvSpPr>
        <p:spPr>
          <a:xfrm>
            <a:off x="4895500" y="988225"/>
            <a:ext cx="39885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21" name="Google Shape;321;p43"/>
          <p:cNvSpPr txBox="1"/>
          <p:nvPr/>
        </p:nvSpPr>
        <p:spPr>
          <a:xfrm>
            <a:off x="4758550" y="1076425"/>
            <a:ext cx="4262400" cy="1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180900" y="2555913"/>
            <a:ext cx="56790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“Nublado”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“Soleado”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Humedad= “Normal”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  <a:highlight>
                  <a:srgbClr val="B6D7A8"/>
                </a:highlight>
              </a:rPr>
              <a:t>SI</a:t>
            </a:r>
            <a:r>
              <a:rPr lang="es" sz="1200">
                <a:solidFill>
                  <a:schemeClr val="dk2"/>
                </a:solidFill>
                <a:highlight>
                  <a:srgbClr val="B6D7A8"/>
                </a:highlight>
              </a:rPr>
              <a:t> Pronóstico= “Soleado” </a:t>
            </a:r>
            <a:r>
              <a:rPr b="1" lang="es" sz="1200">
                <a:solidFill>
                  <a:schemeClr val="dk2"/>
                </a:solidFill>
                <a:highlight>
                  <a:srgbClr val="B6D7A8"/>
                </a:highlight>
              </a:rPr>
              <a:t>Y </a:t>
            </a:r>
            <a:r>
              <a:rPr lang="es" sz="1200">
                <a:solidFill>
                  <a:schemeClr val="dk2"/>
                </a:solidFill>
                <a:highlight>
                  <a:srgbClr val="B6D7A8"/>
                </a:highlight>
              </a:rPr>
              <a:t>Humedad= “Alta” </a:t>
            </a:r>
            <a:r>
              <a:rPr b="1" lang="es" sz="1200">
                <a:solidFill>
                  <a:srgbClr val="3C78D8"/>
                </a:solidFill>
                <a:highlight>
                  <a:srgbClr val="B6D7A8"/>
                </a:highlight>
              </a:rPr>
              <a:t>ENTONCES</a:t>
            </a:r>
            <a:r>
              <a:rPr lang="es" sz="1200">
                <a:solidFill>
                  <a:schemeClr val="dk2"/>
                </a:solidFill>
                <a:highlight>
                  <a:srgbClr val="B6D7A8"/>
                </a:highlight>
              </a:rPr>
              <a:t> Jugar= “No”</a:t>
            </a:r>
            <a:endParaRPr sz="1200">
              <a:solidFill>
                <a:schemeClr val="dk2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chemeClr val="dk2"/>
                </a:solidFill>
              </a:rPr>
              <a:t> Pronóstico= “Lluvia”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Viento= “Débil”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“Sí”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C78D8"/>
                </a:solidFill>
              </a:rPr>
              <a:t>SI</a:t>
            </a:r>
            <a:r>
              <a:rPr lang="es" sz="1200">
                <a:solidFill>
                  <a:srgbClr val="3C78D8"/>
                </a:solidFill>
              </a:rPr>
              <a:t> </a:t>
            </a:r>
            <a:r>
              <a:rPr lang="es" sz="1200">
                <a:solidFill>
                  <a:schemeClr val="dk2"/>
                </a:solidFill>
              </a:rPr>
              <a:t>Pronóstico= “Lluvia” </a:t>
            </a:r>
            <a:r>
              <a:rPr b="1" lang="es" sz="1200">
                <a:solidFill>
                  <a:schemeClr val="dk2"/>
                </a:solidFill>
              </a:rPr>
              <a:t>Y </a:t>
            </a:r>
            <a:r>
              <a:rPr lang="es" sz="1200">
                <a:solidFill>
                  <a:schemeClr val="dk2"/>
                </a:solidFill>
              </a:rPr>
              <a:t>Viento= “Fuerte” </a:t>
            </a:r>
            <a:r>
              <a:rPr b="1" lang="es" sz="1200">
                <a:solidFill>
                  <a:srgbClr val="3C78D8"/>
                </a:solidFill>
              </a:rPr>
              <a:t>ENTONCES</a:t>
            </a:r>
            <a:r>
              <a:rPr lang="es" sz="1200">
                <a:solidFill>
                  <a:schemeClr val="dk2"/>
                </a:solidFill>
              </a:rPr>
              <a:t> Jugar= “No”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3" name="Google Shape;32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096" y="3141037"/>
            <a:ext cx="3396845" cy="3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0675" y="3534150"/>
            <a:ext cx="2576200" cy="3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/>
          <p:nvPr/>
        </p:nvSpPr>
        <p:spPr>
          <a:xfrm>
            <a:off x="180900" y="2504500"/>
            <a:ext cx="5179200" cy="1666200"/>
          </a:xfrm>
          <a:prstGeom prst="rect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3"/>
          <p:cNvSpPr txBox="1"/>
          <p:nvPr/>
        </p:nvSpPr>
        <p:spPr>
          <a:xfrm>
            <a:off x="5545900" y="2483425"/>
            <a:ext cx="3119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Imaginemos que este es </a:t>
            </a:r>
            <a:r>
              <a:rPr b="1" lang="es" sz="1500">
                <a:solidFill>
                  <a:schemeClr val="dk2"/>
                </a:solidFill>
              </a:rPr>
              <a:t>un nuevo caso</a:t>
            </a:r>
            <a:r>
              <a:rPr lang="es" sz="1500">
                <a:solidFill>
                  <a:schemeClr val="dk2"/>
                </a:solidFill>
              </a:rPr>
              <a:t>: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5700675" y="4004700"/>
            <a:ext cx="3320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6AA84F"/>
                </a:solidFill>
              </a:rPr>
              <a:t>¿Podemos jugar al golf? No.</a:t>
            </a:r>
            <a:endParaRPr sz="19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4"/>
          <p:cNvSpPr txBox="1"/>
          <p:nvPr/>
        </p:nvSpPr>
        <p:spPr>
          <a:xfrm>
            <a:off x="178600" y="988225"/>
            <a:ext cx="4333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Una aclaración importante: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34" name="Google Shape;334;p44"/>
          <p:cNvSpPr txBox="1"/>
          <p:nvPr/>
        </p:nvSpPr>
        <p:spPr>
          <a:xfrm>
            <a:off x="178600" y="1456825"/>
            <a:ext cx="80487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¿Cómo quedan las reglas de decisión si entre las </a:t>
            </a:r>
            <a:r>
              <a:rPr b="1" lang="es" sz="1700">
                <a:solidFill>
                  <a:schemeClr val="dk2"/>
                </a:solidFill>
              </a:rPr>
              <a:t>variables predictoras</a:t>
            </a:r>
            <a:r>
              <a:rPr lang="es" sz="1700">
                <a:solidFill>
                  <a:schemeClr val="dk2"/>
                </a:solidFill>
              </a:rPr>
              <a:t> tengo </a:t>
            </a:r>
            <a:r>
              <a:rPr b="1" lang="es" sz="1700" u="sng">
                <a:solidFill>
                  <a:schemeClr val="dk2"/>
                </a:solidFill>
              </a:rPr>
              <a:t>variables numéricas</a:t>
            </a:r>
            <a:r>
              <a:rPr lang="es" sz="1700">
                <a:solidFill>
                  <a:schemeClr val="dk2"/>
                </a:solidFill>
              </a:rPr>
              <a:t>?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El </a:t>
            </a:r>
            <a:r>
              <a:rPr lang="es" sz="1700">
                <a:solidFill>
                  <a:schemeClr val="dk2"/>
                </a:solidFill>
              </a:rPr>
              <a:t>árbol</a:t>
            </a:r>
            <a:r>
              <a:rPr lang="es" sz="1700">
                <a:solidFill>
                  <a:schemeClr val="dk2"/>
                </a:solidFill>
              </a:rPr>
              <a:t> elegirá el </a:t>
            </a:r>
            <a:r>
              <a:rPr b="1" lang="es" sz="1700" u="sng">
                <a:solidFill>
                  <a:schemeClr val="dk2"/>
                </a:solidFill>
                <a:highlight>
                  <a:srgbClr val="CFE2F3"/>
                </a:highlight>
              </a:rPr>
              <a:t>punto de corte óptimo</a:t>
            </a:r>
            <a:r>
              <a:rPr lang="es" sz="1700">
                <a:solidFill>
                  <a:schemeClr val="dk2"/>
                </a:solidFill>
              </a:rPr>
              <a:t> (es decir, el que permita crear los </a:t>
            </a:r>
            <a:r>
              <a:rPr lang="es" sz="1600">
                <a:solidFill>
                  <a:schemeClr val="dk2"/>
                </a:solidFill>
              </a:rPr>
              <a:t>subconjuntos más homogéneos)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Por ejemplo: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Si la variable “Temperatura” fuera una variable númerica</a:t>
            </a:r>
            <a:r>
              <a:rPr lang="es" sz="1600">
                <a:solidFill>
                  <a:schemeClr val="dk2"/>
                </a:solidFill>
              </a:rPr>
              <a:t>, una posible </a:t>
            </a:r>
            <a:r>
              <a:rPr b="1" lang="es" sz="1600">
                <a:solidFill>
                  <a:schemeClr val="dk2"/>
                </a:solidFill>
              </a:rPr>
              <a:t>regla de decisión</a:t>
            </a:r>
            <a:r>
              <a:rPr lang="es" sz="1600">
                <a:solidFill>
                  <a:schemeClr val="dk2"/>
                </a:solidFill>
              </a:rPr>
              <a:t> que contenga esta variable podría ser la siguiente: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3C78D8"/>
                </a:solidFill>
              </a:rPr>
              <a:t>SI</a:t>
            </a:r>
            <a:r>
              <a:rPr lang="es" sz="1600">
                <a:solidFill>
                  <a:schemeClr val="dk2"/>
                </a:solidFill>
              </a:rPr>
              <a:t> Pronóstico= “Nublado” </a:t>
            </a:r>
            <a:r>
              <a:rPr b="1" lang="es" sz="1600">
                <a:solidFill>
                  <a:schemeClr val="dk2"/>
                </a:solidFill>
              </a:rPr>
              <a:t>Y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lang="es" sz="1600">
                <a:solidFill>
                  <a:schemeClr val="dk2"/>
                </a:solidFill>
                <a:highlight>
                  <a:srgbClr val="CFE2F3"/>
                </a:highlight>
              </a:rPr>
              <a:t>Temperatura &gt;= 20°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b="1" lang="es" sz="1600">
                <a:solidFill>
                  <a:srgbClr val="3C78D8"/>
                </a:solidFill>
              </a:rPr>
              <a:t>ENTONCES</a:t>
            </a:r>
            <a:r>
              <a:rPr lang="es" sz="1600">
                <a:solidFill>
                  <a:schemeClr val="dk2"/>
                </a:solidFill>
              </a:rPr>
              <a:t> Jugar= “Sí”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5"/>
          <p:cNvSpPr txBox="1"/>
          <p:nvPr/>
        </p:nvSpPr>
        <p:spPr>
          <a:xfrm>
            <a:off x="178600" y="988225"/>
            <a:ext cx="4333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Otra</a:t>
            </a:r>
            <a:r>
              <a:rPr b="1" lang="es" sz="1900">
                <a:solidFill>
                  <a:schemeClr val="dk2"/>
                </a:solidFill>
              </a:rPr>
              <a:t> aclaración importante: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41" name="Google Shape;341;p45"/>
          <p:cNvSpPr txBox="1"/>
          <p:nvPr/>
        </p:nvSpPr>
        <p:spPr>
          <a:xfrm>
            <a:off x="178600" y="1456825"/>
            <a:ext cx="8048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En el ejemplo anterior, todos los </a:t>
            </a:r>
            <a:r>
              <a:rPr b="1" lang="es" sz="1600">
                <a:solidFill>
                  <a:schemeClr val="dk2"/>
                </a:solidFill>
              </a:rPr>
              <a:t>nodos terminales</a:t>
            </a:r>
            <a:r>
              <a:rPr lang="es" sz="1600">
                <a:solidFill>
                  <a:schemeClr val="dk2"/>
                </a:solidFill>
              </a:rPr>
              <a:t> quedaron integrados por </a:t>
            </a:r>
            <a:r>
              <a:rPr lang="es" sz="1600" u="sng">
                <a:solidFill>
                  <a:schemeClr val="dk2"/>
                </a:solidFill>
              </a:rPr>
              <a:t>registros que pertenecen TODOS a la misma clase</a:t>
            </a:r>
            <a:r>
              <a:rPr lang="es" sz="1600">
                <a:solidFill>
                  <a:schemeClr val="dk2"/>
                </a:solidFill>
              </a:rPr>
              <a:t>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Sin embargo, </a:t>
            </a:r>
            <a:r>
              <a:rPr b="1" lang="es" sz="1600" u="sng">
                <a:solidFill>
                  <a:schemeClr val="dk2"/>
                </a:solidFill>
              </a:rPr>
              <a:t>esto no siempre es posible</a:t>
            </a:r>
            <a:r>
              <a:rPr b="1" lang="es" sz="1600">
                <a:solidFill>
                  <a:schemeClr val="dk2"/>
                </a:solidFill>
              </a:rPr>
              <a:t>. 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Cuando esto no es posible, la variable seleccionada deberá ser la que permita</a:t>
            </a:r>
            <a:r>
              <a:rPr b="1" lang="es" sz="1600">
                <a:solidFill>
                  <a:schemeClr val="dk2"/>
                </a:solidFill>
              </a:rPr>
              <a:t> “maximizar la pureza” del nodo terminal. 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¿Qué significa que la variable seleccionada será la que logre maximizar la pureza del nodo terminal?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352125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6"/>
          <p:cNvSpPr txBox="1"/>
          <p:nvPr/>
        </p:nvSpPr>
        <p:spPr>
          <a:xfrm>
            <a:off x="190500" y="1063900"/>
            <a:ext cx="807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Imaginemos que al analizar las posibles </a:t>
            </a:r>
            <a:r>
              <a:rPr b="1" lang="es" sz="1700">
                <a:solidFill>
                  <a:schemeClr val="dk2"/>
                </a:solidFill>
              </a:rPr>
              <a:t>variables candidatas para hacer la partición</a:t>
            </a:r>
            <a:r>
              <a:rPr lang="es" sz="1700">
                <a:solidFill>
                  <a:schemeClr val="dk2"/>
                </a:solidFill>
              </a:rPr>
              <a:t> nos encontramos con lo siguiente: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348" name="Google Shape;348;p46"/>
          <p:cNvCxnSpPr/>
          <p:nvPr/>
        </p:nvCxnSpPr>
        <p:spPr>
          <a:xfrm>
            <a:off x="1859425" y="21592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46"/>
          <p:cNvSpPr txBox="1"/>
          <p:nvPr/>
        </p:nvSpPr>
        <p:spPr>
          <a:xfrm>
            <a:off x="1859425" y="23437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1383175" y="30283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351" name="Google Shape;351;p46"/>
          <p:cNvCxnSpPr/>
          <p:nvPr/>
        </p:nvCxnSpPr>
        <p:spPr>
          <a:xfrm>
            <a:off x="5750400" y="21592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46"/>
          <p:cNvSpPr txBox="1"/>
          <p:nvPr/>
        </p:nvSpPr>
        <p:spPr>
          <a:xfrm>
            <a:off x="5750400" y="23437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3" name="Google Shape;353;p46"/>
          <p:cNvSpPr txBox="1"/>
          <p:nvPr/>
        </p:nvSpPr>
        <p:spPr>
          <a:xfrm>
            <a:off x="5405100" y="30283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Viento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54" name="Google Shape;354;p46"/>
          <p:cNvSpPr/>
          <p:nvPr/>
        </p:nvSpPr>
        <p:spPr>
          <a:xfrm>
            <a:off x="1299825" y="3075975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6"/>
          <p:cNvSpPr/>
          <p:nvPr/>
        </p:nvSpPr>
        <p:spPr>
          <a:xfrm>
            <a:off x="5371775" y="3099800"/>
            <a:ext cx="797700" cy="29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46"/>
          <p:cNvCxnSpPr>
            <a:stCxn id="354" idx="3"/>
          </p:cNvCxnSpPr>
          <p:nvPr/>
        </p:nvCxnSpPr>
        <p:spPr>
          <a:xfrm flipH="1">
            <a:off x="1121313" y="3401179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46"/>
          <p:cNvCxnSpPr>
            <a:stCxn id="354" idx="5"/>
          </p:cNvCxnSpPr>
          <p:nvPr/>
        </p:nvCxnSpPr>
        <p:spPr>
          <a:xfrm>
            <a:off x="2275437" y="3401179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46"/>
          <p:cNvCxnSpPr>
            <a:stCxn id="355" idx="3"/>
          </p:cNvCxnSpPr>
          <p:nvPr/>
        </p:nvCxnSpPr>
        <p:spPr>
          <a:xfrm flipH="1">
            <a:off x="5240795" y="3353817"/>
            <a:ext cx="247800" cy="4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6"/>
          <p:cNvCxnSpPr>
            <a:stCxn id="355" idx="5"/>
          </p:cNvCxnSpPr>
          <p:nvPr/>
        </p:nvCxnSpPr>
        <p:spPr>
          <a:xfrm>
            <a:off x="6052655" y="3353817"/>
            <a:ext cx="319200" cy="3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46"/>
          <p:cNvSpPr txBox="1"/>
          <p:nvPr/>
        </p:nvSpPr>
        <p:spPr>
          <a:xfrm>
            <a:off x="2442825" y="33538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1" name="Google Shape;361;p46"/>
          <p:cNvSpPr txBox="1"/>
          <p:nvPr/>
        </p:nvSpPr>
        <p:spPr>
          <a:xfrm>
            <a:off x="488175" y="33538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2" name="Google Shape;362;p46"/>
          <p:cNvSpPr txBox="1"/>
          <p:nvPr/>
        </p:nvSpPr>
        <p:spPr>
          <a:xfrm>
            <a:off x="6269500" y="32707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Débil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4644825" y="32707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Fuerte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561650" y="39570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2154700" y="39553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6" name="Google Shape;366;p46"/>
          <p:cNvSpPr txBox="1"/>
          <p:nvPr/>
        </p:nvSpPr>
        <p:spPr>
          <a:xfrm>
            <a:off x="4512100" y="39272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7" name="Google Shape;367;p46"/>
          <p:cNvSpPr txBox="1"/>
          <p:nvPr/>
        </p:nvSpPr>
        <p:spPr>
          <a:xfrm>
            <a:off x="6052650" y="39553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  </a:t>
            </a:r>
            <a:r>
              <a:rPr lang="es">
                <a:solidFill>
                  <a:srgbClr val="E06666"/>
                </a:solidFill>
              </a:rPr>
              <a:t>NO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68" name="Google Shape;368;p46"/>
          <p:cNvSpPr/>
          <p:nvPr/>
        </p:nvSpPr>
        <p:spPr>
          <a:xfrm>
            <a:off x="488175" y="3814175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6"/>
          <p:cNvSpPr/>
          <p:nvPr/>
        </p:nvSpPr>
        <p:spPr>
          <a:xfrm>
            <a:off x="2035850" y="3873675"/>
            <a:ext cx="1383300" cy="113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6"/>
          <p:cNvSpPr/>
          <p:nvPr/>
        </p:nvSpPr>
        <p:spPr>
          <a:xfrm>
            <a:off x="4419275" y="3790375"/>
            <a:ext cx="1069200" cy="893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6"/>
          <p:cNvSpPr/>
          <p:nvPr/>
        </p:nvSpPr>
        <p:spPr>
          <a:xfrm>
            <a:off x="5967075" y="3790375"/>
            <a:ext cx="1369200" cy="1023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25" y="181750"/>
            <a:ext cx="3600125" cy="6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47"/>
          <p:cNvCxnSpPr/>
          <p:nvPr/>
        </p:nvCxnSpPr>
        <p:spPr>
          <a:xfrm>
            <a:off x="2097575" y="14526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" name="Google Shape;378;p47"/>
          <p:cNvSpPr txBox="1"/>
          <p:nvPr/>
        </p:nvSpPr>
        <p:spPr>
          <a:xfrm>
            <a:off x="2097575" y="1637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79" name="Google Shape;379;p47"/>
          <p:cNvSpPr txBox="1"/>
          <p:nvPr/>
        </p:nvSpPr>
        <p:spPr>
          <a:xfrm>
            <a:off x="1621325" y="23217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380" name="Google Shape;380;p47"/>
          <p:cNvCxnSpPr/>
          <p:nvPr/>
        </p:nvCxnSpPr>
        <p:spPr>
          <a:xfrm>
            <a:off x="5988550" y="14526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47"/>
          <p:cNvSpPr txBox="1"/>
          <p:nvPr/>
        </p:nvSpPr>
        <p:spPr>
          <a:xfrm>
            <a:off x="5988550" y="1637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5643250" y="23217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Viento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1537975" y="2369375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/>
          <p:nvPr/>
        </p:nvSpPr>
        <p:spPr>
          <a:xfrm>
            <a:off x="5609925" y="2393200"/>
            <a:ext cx="797700" cy="29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5" name="Google Shape;385;p47"/>
          <p:cNvCxnSpPr>
            <a:stCxn id="383" idx="3"/>
          </p:cNvCxnSpPr>
          <p:nvPr/>
        </p:nvCxnSpPr>
        <p:spPr>
          <a:xfrm flipH="1">
            <a:off x="1359463" y="2694579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47"/>
          <p:cNvCxnSpPr>
            <a:stCxn id="383" idx="5"/>
          </p:cNvCxnSpPr>
          <p:nvPr/>
        </p:nvCxnSpPr>
        <p:spPr>
          <a:xfrm>
            <a:off x="2513587" y="2694579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47"/>
          <p:cNvCxnSpPr>
            <a:stCxn id="384" idx="3"/>
          </p:cNvCxnSpPr>
          <p:nvPr/>
        </p:nvCxnSpPr>
        <p:spPr>
          <a:xfrm flipH="1">
            <a:off x="5478945" y="2647217"/>
            <a:ext cx="247800" cy="4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47"/>
          <p:cNvCxnSpPr>
            <a:stCxn id="384" idx="5"/>
          </p:cNvCxnSpPr>
          <p:nvPr/>
        </p:nvCxnSpPr>
        <p:spPr>
          <a:xfrm>
            <a:off x="6290805" y="2647217"/>
            <a:ext cx="319200" cy="3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47"/>
          <p:cNvSpPr txBox="1"/>
          <p:nvPr/>
        </p:nvSpPr>
        <p:spPr>
          <a:xfrm>
            <a:off x="2680975" y="26472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90" name="Google Shape;390;p47"/>
          <p:cNvSpPr txBox="1"/>
          <p:nvPr/>
        </p:nvSpPr>
        <p:spPr>
          <a:xfrm>
            <a:off x="726325" y="26472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91" name="Google Shape;391;p47"/>
          <p:cNvSpPr txBox="1"/>
          <p:nvPr/>
        </p:nvSpPr>
        <p:spPr>
          <a:xfrm>
            <a:off x="6507650" y="2564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Débil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4882975" y="2564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Fuerte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93" name="Google Shape;393;p47"/>
          <p:cNvSpPr txBox="1"/>
          <p:nvPr/>
        </p:nvSpPr>
        <p:spPr>
          <a:xfrm>
            <a:off x="799800" y="32504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94" name="Google Shape;394;p47"/>
          <p:cNvSpPr txBox="1"/>
          <p:nvPr/>
        </p:nvSpPr>
        <p:spPr>
          <a:xfrm>
            <a:off x="2392850" y="32487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95" name="Google Shape;395;p47"/>
          <p:cNvSpPr txBox="1"/>
          <p:nvPr/>
        </p:nvSpPr>
        <p:spPr>
          <a:xfrm>
            <a:off x="4750250" y="32206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6290800" y="32487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  </a:t>
            </a:r>
            <a:r>
              <a:rPr lang="es">
                <a:solidFill>
                  <a:srgbClr val="E06666"/>
                </a:solidFill>
              </a:rPr>
              <a:t>NO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397" name="Google Shape;397;p47"/>
          <p:cNvSpPr/>
          <p:nvPr/>
        </p:nvSpPr>
        <p:spPr>
          <a:xfrm>
            <a:off x="726325" y="3107575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7"/>
          <p:cNvSpPr/>
          <p:nvPr/>
        </p:nvSpPr>
        <p:spPr>
          <a:xfrm>
            <a:off x="2240575" y="3189623"/>
            <a:ext cx="13218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4657425" y="3083775"/>
            <a:ext cx="1069200" cy="893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7"/>
          <p:cNvSpPr/>
          <p:nvPr/>
        </p:nvSpPr>
        <p:spPr>
          <a:xfrm>
            <a:off x="6205225" y="3083775"/>
            <a:ext cx="1369200" cy="1023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7"/>
          <p:cNvSpPr txBox="1"/>
          <p:nvPr/>
        </p:nvSpPr>
        <p:spPr>
          <a:xfrm>
            <a:off x="686850" y="4306225"/>
            <a:ext cx="1547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4/5= 80%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rgbClr val="E06666"/>
                </a:solidFill>
              </a:rPr>
              <a:t>= 1/5  = 20%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02" name="Google Shape;402;p47"/>
          <p:cNvSpPr txBox="1"/>
          <p:nvPr/>
        </p:nvSpPr>
        <p:spPr>
          <a:xfrm>
            <a:off x="2392850" y="4260075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1/6 = 16%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NO=5/6= 83%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03" name="Google Shape;403;p47"/>
          <p:cNvSpPr txBox="1"/>
          <p:nvPr/>
        </p:nvSpPr>
        <p:spPr>
          <a:xfrm>
            <a:off x="4572000" y="4270300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2/4 = 50%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NO=2/4= 50%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6290800" y="4306225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2/5 = 40%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NO=3/5= 60%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05" name="Google Shape;405;p47"/>
          <p:cNvSpPr txBox="1"/>
          <p:nvPr/>
        </p:nvSpPr>
        <p:spPr>
          <a:xfrm>
            <a:off x="168725" y="932875"/>
            <a:ext cx="87750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¿Qué variable logra maximizar la pureza del nodo terminal? ¿Humedad o Viento?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25" y="217175"/>
            <a:ext cx="3600125" cy="6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48"/>
          <p:cNvCxnSpPr/>
          <p:nvPr/>
        </p:nvCxnSpPr>
        <p:spPr>
          <a:xfrm>
            <a:off x="2097575" y="14526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2" name="Google Shape;412;p48"/>
          <p:cNvSpPr txBox="1"/>
          <p:nvPr/>
        </p:nvSpPr>
        <p:spPr>
          <a:xfrm>
            <a:off x="2097575" y="1637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13" name="Google Shape;413;p48"/>
          <p:cNvSpPr txBox="1"/>
          <p:nvPr/>
        </p:nvSpPr>
        <p:spPr>
          <a:xfrm>
            <a:off x="1621325" y="23217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414" name="Google Shape;414;p48"/>
          <p:cNvCxnSpPr/>
          <p:nvPr/>
        </p:nvCxnSpPr>
        <p:spPr>
          <a:xfrm>
            <a:off x="5988550" y="14526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48"/>
          <p:cNvSpPr txBox="1"/>
          <p:nvPr/>
        </p:nvSpPr>
        <p:spPr>
          <a:xfrm>
            <a:off x="5988550" y="1637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16" name="Google Shape;416;p48"/>
          <p:cNvSpPr txBox="1"/>
          <p:nvPr/>
        </p:nvSpPr>
        <p:spPr>
          <a:xfrm>
            <a:off x="5643250" y="232175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Viento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17" name="Google Shape;417;p48"/>
          <p:cNvSpPr/>
          <p:nvPr/>
        </p:nvSpPr>
        <p:spPr>
          <a:xfrm>
            <a:off x="1537975" y="2369375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8"/>
          <p:cNvSpPr/>
          <p:nvPr/>
        </p:nvSpPr>
        <p:spPr>
          <a:xfrm>
            <a:off x="5609925" y="2393200"/>
            <a:ext cx="797700" cy="29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48"/>
          <p:cNvCxnSpPr>
            <a:stCxn id="417" idx="3"/>
          </p:cNvCxnSpPr>
          <p:nvPr/>
        </p:nvCxnSpPr>
        <p:spPr>
          <a:xfrm flipH="1">
            <a:off x="1359463" y="2694579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48"/>
          <p:cNvCxnSpPr>
            <a:stCxn id="417" idx="5"/>
          </p:cNvCxnSpPr>
          <p:nvPr/>
        </p:nvCxnSpPr>
        <p:spPr>
          <a:xfrm>
            <a:off x="2513587" y="2694579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48"/>
          <p:cNvCxnSpPr>
            <a:stCxn id="418" idx="3"/>
          </p:cNvCxnSpPr>
          <p:nvPr/>
        </p:nvCxnSpPr>
        <p:spPr>
          <a:xfrm flipH="1">
            <a:off x="5478945" y="2647217"/>
            <a:ext cx="247800" cy="46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48"/>
          <p:cNvCxnSpPr>
            <a:stCxn id="418" idx="5"/>
          </p:cNvCxnSpPr>
          <p:nvPr/>
        </p:nvCxnSpPr>
        <p:spPr>
          <a:xfrm>
            <a:off x="6290805" y="2647217"/>
            <a:ext cx="319200" cy="3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48"/>
          <p:cNvSpPr txBox="1"/>
          <p:nvPr/>
        </p:nvSpPr>
        <p:spPr>
          <a:xfrm>
            <a:off x="2680975" y="26472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4" name="Google Shape;424;p48"/>
          <p:cNvSpPr txBox="1"/>
          <p:nvPr/>
        </p:nvSpPr>
        <p:spPr>
          <a:xfrm>
            <a:off x="726325" y="26472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5" name="Google Shape;425;p48"/>
          <p:cNvSpPr txBox="1"/>
          <p:nvPr/>
        </p:nvSpPr>
        <p:spPr>
          <a:xfrm>
            <a:off x="6507650" y="2564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Débil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4882975" y="256415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Fuerte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7" name="Google Shape;427;p48"/>
          <p:cNvSpPr txBox="1"/>
          <p:nvPr/>
        </p:nvSpPr>
        <p:spPr>
          <a:xfrm>
            <a:off x="799800" y="32504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28" name="Google Shape;428;p48"/>
          <p:cNvSpPr txBox="1"/>
          <p:nvPr/>
        </p:nvSpPr>
        <p:spPr>
          <a:xfrm>
            <a:off x="2392850" y="32487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4750250" y="32206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30" name="Google Shape;430;p48"/>
          <p:cNvSpPr txBox="1"/>
          <p:nvPr/>
        </p:nvSpPr>
        <p:spPr>
          <a:xfrm>
            <a:off x="6290800" y="324875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  </a:t>
            </a:r>
            <a:r>
              <a:rPr lang="es">
                <a:solidFill>
                  <a:srgbClr val="E06666"/>
                </a:solidFill>
              </a:rPr>
              <a:t>NO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31" name="Google Shape;431;p48"/>
          <p:cNvSpPr/>
          <p:nvPr/>
        </p:nvSpPr>
        <p:spPr>
          <a:xfrm>
            <a:off x="726325" y="3107575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8"/>
          <p:cNvSpPr/>
          <p:nvPr/>
        </p:nvSpPr>
        <p:spPr>
          <a:xfrm>
            <a:off x="2240575" y="3189623"/>
            <a:ext cx="13218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8"/>
          <p:cNvSpPr/>
          <p:nvPr/>
        </p:nvSpPr>
        <p:spPr>
          <a:xfrm>
            <a:off x="4657425" y="3083775"/>
            <a:ext cx="1069200" cy="893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8"/>
          <p:cNvSpPr/>
          <p:nvPr/>
        </p:nvSpPr>
        <p:spPr>
          <a:xfrm>
            <a:off x="6205225" y="3083775"/>
            <a:ext cx="1369200" cy="1023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8"/>
          <p:cNvSpPr txBox="1"/>
          <p:nvPr/>
        </p:nvSpPr>
        <p:spPr>
          <a:xfrm>
            <a:off x="686850" y="4306225"/>
            <a:ext cx="1547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4/5= 80%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 1/5  = 20%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36" name="Google Shape;436;p48"/>
          <p:cNvSpPr txBox="1"/>
          <p:nvPr/>
        </p:nvSpPr>
        <p:spPr>
          <a:xfrm>
            <a:off x="2392850" y="4260075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1/6 = 16%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NO=5/6= 83%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37" name="Google Shape;437;p48"/>
          <p:cNvSpPr txBox="1"/>
          <p:nvPr/>
        </p:nvSpPr>
        <p:spPr>
          <a:xfrm>
            <a:off x="4572000" y="4270300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2/4 = 50%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NO=2/4= 50%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38" name="Google Shape;438;p48"/>
          <p:cNvSpPr txBox="1"/>
          <p:nvPr/>
        </p:nvSpPr>
        <p:spPr>
          <a:xfrm>
            <a:off x="6290800" y="4260075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2/5 = 40%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NO=3/5= 60%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39" name="Google Shape;439;p48"/>
          <p:cNvSpPr txBox="1"/>
          <p:nvPr/>
        </p:nvSpPr>
        <p:spPr>
          <a:xfrm>
            <a:off x="192550" y="932875"/>
            <a:ext cx="8751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¿Qué variable logra maximizar la pureza del nodo terminal? ¿Humedad o Viento?</a:t>
            </a:r>
            <a:endParaRPr sz="1900">
              <a:solidFill>
                <a:schemeClr val="dk2"/>
              </a:solidFill>
            </a:endParaRPr>
          </a:p>
        </p:txBody>
      </p:sp>
      <p:pic>
        <p:nvPicPr>
          <p:cNvPr id="440" name="Google Shape;4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5325" y="1637150"/>
            <a:ext cx="570740" cy="5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4325" y="1681735"/>
            <a:ext cx="573625" cy="538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12480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9"/>
          <p:cNvSpPr txBox="1"/>
          <p:nvPr/>
        </p:nvSpPr>
        <p:spPr>
          <a:xfrm>
            <a:off x="97575" y="832350"/>
            <a:ext cx="8620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¿Cómo se</a:t>
            </a:r>
            <a:r>
              <a:rPr b="1" lang="es" sz="1900">
                <a:solidFill>
                  <a:schemeClr val="dk2"/>
                </a:solidFill>
              </a:rPr>
              <a:t> </a:t>
            </a:r>
            <a:r>
              <a:rPr b="1" lang="es" sz="1900">
                <a:solidFill>
                  <a:schemeClr val="dk2"/>
                </a:solidFill>
              </a:rPr>
              <a:t>elige </a:t>
            </a:r>
            <a:r>
              <a:rPr b="1" lang="es" sz="1900">
                <a:solidFill>
                  <a:schemeClr val="dk2"/>
                </a:solidFill>
              </a:rPr>
              <a:t>entre particiones candidatas</a:t>
            </a:r>
            <a:r>
              <a:rPr b="1" lang="es" sz="1900">
                <a:solidFill>
                  <a:schemeClr val="dk2"/>
                </a:solidFill>
              </a:rPr>
              <a:t>?</a:t>
            </a:r>
            <a:r>
              <a:rPr b="1" lang="es" sz="1900">
                <a:solidFill>
                  <a:schemeClr val="dk2"/>
                </a:solidFill>
              </a:rPr>
              <a:t> 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En lugar de analizar qué variable me permite maximizar la pureza, analizamos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qué variable me permite </a:t>
            </a:r>
            <a:r>
              <a:rPr b="1" lang="es" sz="1800" u="sng">
                <a:solidFill>
                  <a:schemeClr val="dk2"/>
                </a:solidFill>
              </a:rPr>
              <a:t>minimizar</a:t>
            </a:r>
            <a:r>
              <a:rPr b="1" lang="es" sz="1800" u="sng">
                <a:solidFill>
                  <a:schemeClr val="dk2"/>
                </a:solidFill>
              </a:rPr>
              <a:t> la </a:t>
            </a:r>
            <a:r>
              <a:rPr b="1" lang="es" sz="1800" u="sng">
                <a:solidFill>
                  <a:schemeClr val="dk2"/>
                </a:solidFill>
              </a:rPr>
              <a:t>impureza</a:t>
            </a:r>
            <a:r>
              <a:rPr b="1" lang="es" sz="1800">
                <a:solidFill>
                  <a:schemeClr val="dk2"/>
                </a:solidFill>
              </a:rPr>
              <a:t>.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highlight>
                  <a:srgbClr val="CFE2F3"/>
                </a:highlight>
              </a:rPr>
              <a:t>Medimos la</a:t>
            </a:r>
            <a:r>
              <a:rPr b="1" lang="es" sz="1800">
                <a:solidFill>
                  <a:schemeClr val="dk2"/>
                </a:solidFill>
                <a:highlight>
                  <a:srgbClr val="CFE2F3"/>
                </a:highlight>
              </a:rPr>
              <a:t> impureza del nodo → lo medimos con funciones de pérdida</a:t>
            </a:r>
            <a:r>
              <a:rPr b="1" lang="es" sz="1800">
                <a:solidFill>
                  <a:schemeClr val="dk2"/>
                </a:solidFill>
                <a:highlight>
                  <a:srgbClr val="CFE2F3"/>
                </a:highlight>
              </a:rPr>
              <a:t> </a:t>
            </a:r>
            <a:endParaRPr sz="20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448" name="Google Shape;448;p49"/>
          <p:cNvSpPr txBox="1"/>
          <p:nvPr/>
        </p:nvSpPr>
        <p:spPr>
          <a:xfrm>
            <a:off x="500100" y="2742625"/>
            <a:ext cx="8143800" cy="17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Classification error rate</a:t>
            </a:r>
            <a:r>
              <a:rPr lang="es" sz="1800">
                <a:solidFill>
                  <a:schemeClr val="dk2"/>
                </a:solidFill>
              </a:rPr>
              <a:t> → fracción de las observaciones del set de entrenamiento que no pertenecen a la clase con más ocurrencias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Índice de Gini</a:t>
            </a:r>
            <a:r>
              <a:rPr lang="es" sz="1800">
                <a:solidFill>
                  <a:schemeClr val="dk2"/>
                </a:solidFill>
              </a:rPr>
              <a:t> → un valor bajo indica que el nodo contiene de manera predominante observaciones de una única clase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s" sz="1800">
                <a:solidFill>
                  <a:schemeClr val="dk2"/>
                </a:solidFill>
              </a:rPr>
              <a:t>Entropía </a:t>
            </a:r>
            <a:r>
              <a:rPr lang="es" sz="1800">
                <a:solidFill>
                  <a:schemeClr val="dk2"/>
                </a:solidFill>
              </a:rPr>
              <a:t>→ un valor bajo indica que el nodo contiene de manera predominante observaciones de una única clase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75" y="124800"/>
            <a:ext cx="3600125" cy="6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50"/>
          <p:cNvCxnSpPr/>
          <p:nvPr/>
        </p:nvCxnSpPr>
        <p:spPr>
          <a:xfrm>
            <a:off x="2413200" y="1653875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50"/>
          <p:cNvSpPr txBox="1"/>
          <p:nvPr/>
        </p:nvSpPr>
        <p:spPr>
          <a:xfrm>
            <a:off x="2413200" y="183842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56" name="Google Shape;456;p50"/>
          <p:cNvSpPr txBox="1"/>
          <p:nvPr/>
        </p:nvSpPr>
        <p:spPr>
          <a:xfrm>
            <a:off x="1936950" y="2523025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1853600" y="2570650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8" name="Google Shape;458;p50"/>
          <p:cNvCxnSpPr>
            <a:stCxn id="457" idx="3"/>
          </p:cNvCxnSpPr>
          <p:nvPr/>
        </p:nvCxnSpPr>
        <p:spPr>
          <a:xfrm flipH="1">
            <a:off x="1675088" y="2895854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50"/>
          <p:cNvCxnSpPr>
            <a:stCxn id="457" idx="5"/>
          </p:cNvCxnSpPr>
          <p:nvPr/>
        </p:nvCxnSpPr>
        <p:spPr>
          <a:xfrm>
            <a:off x="2829212" y="2895854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50"/>
          <p:cNvSpPr txBox="1"/>
          <p:nvPr/>
        </p:nvSpPr>
        <p:spPr>
          <a:xfrm>
            <a:off x="2996600" y="284850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1041950" y="284850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62" name="Google Shape;462;p50"/>
          <p:cNvSpPr txBox="1"/>
          <p:nvPr/>
        </p:nvSpPr>
        <p:spPr>
          <a:xfrm>
            <a:off x="1115425" y="3451725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63" name="Google Shape;463;p50"/>
          <p:cNvSpPr txBox="1"/>
          <p:nvPr/>
        </p:nvSpPr>
        <p:spPr>
          <a:xfrm>
            <a:off x="2708475" y="3450025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1041950" y="3308850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0"/>
          <p:cNvSpPr/>
          <p:nvPr/>
        </p:nvSpPr>
        <p:spPr>
          <a:xfrm>
            <a:off x="2556200" y="3390898"/>
            <a:ext cx="13218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0"/>
          <p:cNvSpPr txBox="1"/>
          <p:nvPr/>
        </p:nvSpPr>
        <p:spPr>
          <a:xfrm>
            <a:off x="1002475" y="4507500"/>
            <a:ext cx="1547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4/5= 80%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 1/5  = 20%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67" name="Google Shape;467;p50"/>
          <p:cNvSpPr txBox="1"/>
          <p:nvPr/>
        </p:nvSpPr>
        <p:spPr>
          <a:xfrm>
            <a:off x="2708475" y="4461350"/>
            <a:ext cx="14502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 = 1/6 = 16%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NO=5/6= 83%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68" name="Google Shape;468;p50"/>
          <p:cNvSpPr txBox="1"/>
          <p:nvPr/>
        </p:nvSpPr>
        <p:spPr>
          <a:xfrm>
            <a:off x="204725" y="760900"/>
            <a:ext cx="8620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Humedad</a:t>
            </a:r>
            <a:r>
              <a:rPr lang="es" sz="1700">
                <a:solidFill>
                  <a:schemeClr val="dk2"/>
                </a:solidFill>
              </a:rPr>
              <a:t> es la</a:t>
            </a:r>
            <a:r>
              <a:rPr lang="es" sz="1700">
                <a:solidFill>
                  <a:schemeClr val="dk2"/>
                </a:solidFill>
              </a:rPr>
              <a:t> variable que logra </a:t>
            </a:r>
            <a:r>
              <a:rPr b="1" lang="es" sz="1700">
                <a:solidFill>
                  <a:schemeClr val="dk2"/>
                </a:solidFill>
              </a:rPr>
              <a:t>minimizar</a:t>
            </a:r>
            <a:r>
              <a:rPr b="1" lang="es" sz="1700">
                <a:solidFill>
                  <a:schemeClr val="dk2"/>
                </a:solidFill>
              </a:rPr>
              <a:t> la impureza</a:t>
            </a:r>
            <a:r>
              <a:rPr lang="es" sz="1700">
                <a:solidFill>
                  <a:schemeClr val="dk2"/>
                </a:solidFill>
              </a:rPr>
              <a:t> del nodo terminal.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Ahora, </a:t>
            </a:r>
            <a:r>
              <a:rPr b="1" lang="es" sz="1700">
                <a:solidFill>
                  <a:schemeClr val="dk2"/>
                </a:solidFill>
              </a:rPr>
              <a:t>¿cómo quedan </a:t>
            </a:r>
            <a:r>
              <a:rPr b="1" lang="es" sz="1700" u="sng">
                <a:solidFill>
                  <a:schemeClr val="dk2"/>
                </a:solidFill>
              </a:rPr>
              <a:t>etiquetados</a:t>
            </a:r>
            <a:r>
              <a:rPr b="1" lang="es" sz="1700">
                <a:solidFill>
                  <a:schemeClr val="dk2"/>
                </a:solidFill>
              </a:rPr>
              <a:t> los nodos terminales? 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51"/>
          <p:cNvCxnSpPr/>
          <p:nvPr/>
        </p:nvCxnSpPr>
        <p:spPr>
          <a:xfrm>
            <a:off x="2536363" y="209555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5" name="Google Shape;475;p51"/>
          <p:cNvSpPr txBox="1"/>
          <p:nvPr/>
        </p:nvSpPr>
        <p:spPr>
          <a:xfrm>
            <a:off x="2536363" y="228010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76" name="Google Shape;476;p51"/>
          <p:cNvSpPr txBox="1"/>
          <p:nvPr/>
        </p:nvSpPr>
        <p:spPr>
          <a:xfrm>
            <a:off x="2060113" y="296470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77" name="Google Shape;477;p51"/>
          <p:cNvSpPr/>
          <p:nvPr/>
        </p:nvSpPr>
        <p:spPr>
          <a:xfrm>
            <a:off x="1976763" y="3012325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8" name="Google Shape;478;p51"/>
          <p:cNvCxnSpPr>
            <a:stCxn id="477" idx="3"/>
          </p:cNvCxnSpPr>
          <p:nvPr/>
        </p:nvCxnSpPr>
        <p:spPr>
          <a:xfrm flipH="1">
            <a:off x="1798251" y="3337529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51"/>
          <p:cNvCxnSpPr>
            <a:stCxn id="477" idx="5"/>
          </p:cNvCxnSpPr>
          <p:nvPr/>
        </p:nvCxnSpPr>
        <p:spPr>
          <a:xfrm>
            <a:off x="2952374" y="3337529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51"/>
          <p:cNvSpPr txBox="1"/>
          <p:nvPr/>
        </p:nvSpPr>
        <p:spPr>
          <a:xfrm>
            <a:off x="3119763" y="329017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1" name="Google Shape;481;p51"/>
          <p:cNvSpPr txBox="1"/>
          <p:nvPr/>
        </p:nvSpPr>
        <p:spPr>
          <a:xfrm>
            <a:off x="1165113" y="329017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2" name="Google Shape;482;p51"/>
          <p:cNvSpPr txBox="1"/>
          <p:nvPr/>
        </p:nvSpPr>
        <p:spPr>
          <a:xfrm>
            <a:off x="1238588" y="389340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2831638" y="389170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484" name="Google Shape;484;p51"/>
          <p:cNvSpPr/>
          <p:nvPr/>
        </p:nvSpPr>
        <p:spPr>
          <a:xfrm>
            <a:off x="1165113" y="3750525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51"/>
          <p:cNvSpPr/>
          <p:nvPr/>
        </p:nvSpPr>
        <p:spPr>
          <a:xfrm>
            <a:off x="2679363" y="3832573"/>
            <a:ext cx="13218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1"/>
          <p:cNvSpPr txBox="1"/>
          <p:nvPr/>
        </p:nvSpPr>
        <p:spPr>
          <a:xfrm>
            <a:off x="192825" y="797875"/>
            <a:ext cx="8620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Humedad</a:t>
            </a:r>
            <a:r>
              <a:rPr lang="es" sz="1700">
                <a:solidFill>
                  <a:schemeClr val="dk2"/>
                </a:solidFill>
              </a:rPr>
              <a:t> es la variable que logra minimizar la impureza del nodo terminal.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Ahora, </a:t>
            </a:r>
            <a:r>
              <a:rPr b="1" lang="es" sz="1700">
                <a:solidFill>
                  <a:schemeClr val="dk2"/>
                </a:solidFill>
              </a:rPr>
              <a:t>¿Cómo quedan etiquetados los nodos terminales? </a:t>
            </a:r>
            <a:r>
              <a:rPr lang="es" sz="1700">
                <a:solidFill>
                  <a:schemeClr val="dk2"/>
                </a:solidFill>
              </a:rPr>
              <a:t>En estos casos, la etiqueta del nodo terminal refiere a </a:t>
            </a:r>
            <a:r>
              <a:rPr b="1" lang="es" sz="1700" u="sng">
                <a:solidFill>
                  <a:schemeClr val="dk2"/>
                </a:solidFill>
              </a:rPr>
              <a:t>la moda </a:t>
            </a:r>
            <a:r>
              <a:rPr b="1" lang="es" sz="1700">
                <a:solidFill>
                  <a:schemeClr val="dk2"/>
                </a:solidFill>
              </a:rPr>
              <a:t>del subconjunto</a:t>
            </a:r>
            <a:r>
              <a:rPr lang="es" sz="1700">
                <a:solidFill>
                  <a:schemeClr val="dk2"/>
                </a:solidFill>
              </a:rPr>
              <a:t> (el valor más frecuente). </a:t>
            </a:r>
            <a:endParaRPr sz="1900">
              <a:solidFill>
                <a:schemeClr val="dk2"/>
              </a:solidFill>
            </a:endParaRPr>
          </a:p>
        </p:txBody>
      </p:sp>
      <p:cxnSp>
        <p:nvCxnSpPr>
          <p:cNvPr id="487" name="Google Shape;487;p51"/>
          <p:cNvCxnSpPr/>
          <p:nvPr/>
        </p:nvCxnSpPr>
        <p:spPr>
          <a:xfrm>
            <a:off x="6769113" y="2208613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8" name="Google Shape;488;p51"/>
          <p:cNvSpPr txBox="1"/>
          <p:nvPr/>
        </p:nvSpPr>
        <p:spPr>
          <a:xfrm>
            <a:off x="6769113" y="2393163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89" name="Google Shape;489;p51"/>
          <p:cNvSpPr txBox="1"/>
          <p:nvPr/>
        </p:nvSpPr>
        <p:spPr>
          <a:xfrm>
            <a:off x="6292863" y="3077763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90" name="Google Shape;490;p51"/>
          <p:cNvSpPr/>
          <p:nvPr/>
        </p:nvSpPr>
        <p:spPr>
          <a:xfrm>
            <a:off x="6209513" y="3125388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51"/>
          <p:cNvCxnSpPr>
            <a:stCxn id="490" idx="3"/>
          </p:cNvCxnSpPr>
          <p:nvPr/>
        </p:nvCxnSpPr>
        <p:spPr>
          <a:xfrm flipH="1">
            <a:off x="6031001" y="3450591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51"/>
          <p:cNvCxnSpPr>
            <a:stCxn id="490" idx="5"/>
          </p:cNvCxnSpPr>
          <p:nvPr/>
        </p:nvCxnSpPr>
        <p:spPr>
          <a:xfrm>
            <a:off x="7185124" y="3450591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3" name="Google Shape;493;p51"/>
          <p:cNvSpPr txBox="1"/>
          <p:nvPr/>
        </p:nvSpPr>
        <p:spPr>
          <a:xfrm>
            <a:off x="7352513" y="3403238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94" name="Google Shape;494;p51"/>
          <p:cNvSpPr txBox="1"/>
          <p:nvPr/>
        </p:nvSpPr>
        <p:spPr>
          <a:xfrm>
            <a:off x="5397863" y="3403238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95" name="Google Shape;495;p51"/>
          <p:cNvSpPr txBox="1"/>
          <p:nvPr/>
        </p:nvSpPr>
        <p:spPr>
          <a:xfrm>
            <a:off x="5713463" y="3923088"/>
            <a:ext cx="59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</a:rPr>
              <a:t>SI</a:t>
            </a:r>
            <a:endParaRPr sz="1800">
              <a:solidFill>
                <a:srgbClr val="6AA84F"/>
              </a:solidFill>
            </a:endParaRPr>
          </a:p>
        </p:txBody>
      </p:sp>
      <p:sp>
        <p:nvSpPr>
          <p:cNvPr id="496" name="Google Shape;496;p51"/>
          <p:cNvSpPr txBox="1"/>
          <p:nvPr/>
        </p:nvSpPr>
        <p:spPr>
          <a:xfrm>
            <a:off x="7238638" y="3923088"/>
            <a:ext cx="59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06666"/>
                </a:solidFill>
              </a:rPr>
              <a:t>NO</a:t>
            </a:r>
            <a:endParaRPr sz="1800">
              <a:solidFill>
                <a:srgbClr val="E06666"/>
              </a:solidFill>
            </a:endParaRPr>
          </a:p>
        </p:txBody>
      </p:sp>
      <p:sp>
        <p:nvSpPr>
          <p:cNvPr id="497" name="Google Shape;497;p51"/>
          <p:cNvSpPr/>
          <p:nvPr/>
        </p:nvSpPr>
        <p:spPr>
          <a:xfrm>
            <a:off x="5673413" y="3905388"/>
            <a:ext cx="536100" cy="47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1"/>
          <p:cNvSpPr/>
          <p:nvPr/>
        </p:nvSpPr>
        <p:spPr>
          <a:xfrm>
            <a:off x="7268188" y="3978601"/>
            <a:ext cx="536100" cy="47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4" name="Google Shape;504;p52"/>
          <p:cNvCxnSpPr/>
          <p:nvPr/>
        </p:nvCxnSpPr>
        <p:spPr>
          <a:xfrm>
            <a:off x="2536363" y="209555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5" name="Google Shape;505;p52"/>
          <p:cNvSpPr txBox="1"/>
          <p:nvPr/>
        </p:nvSpPr>
        <p:spPr>
          <a:xfrm>
            <a:off x="2536363" y="2280100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06" name="Google Shape;506;p52"/>
          <p:cNvSpPr txBox="1"/>
          <p:nvPr/>
        </p:nvSpPr>
        <p:spPr>
          <a:xfrm>
            <a:off x="2060113" y="2964700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07" name="Google Shape;507;p52"/>
          <p:cNvSpPr/>
          <p:nvPr/>
        </p:nvSpPr>
        <p:spPr>
          <a:xfrm>
            <a:off x="1976763" y="3012325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8" name="Google Shape;508;p52"/>
          <p:cNvCxnSpPr>
            <a:stCxn id="507" idx="3"/>
          </p:cNvCxnSpPr>
          <p:nvPr/>
        </p:nvCxnSpPr>
        <p:spPr>
          <a:xfrm flipH="1">
            <a:off x="1798251" y="3337529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52"/>
          <p:cNvCxnSpPr>
            <a:stCxn id="507" idx="5"/>
          </p:cNvCxnSpPr>
          <p:nvPr/>
        </p:nvCxnSpPr>
        <p:spPr>
          <a:xfrm>
            <a:off x="2952374" y="3337529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52"/>
          <p:cNvSpPr txBox="1"/>
          <p:nvPr/>
        </p:nvSpPr>
        <p:spPr>
          <a:xfrm>
            <a:off x="3119763" y="329017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11" name="Google Shape;511;p52"/>
          <p:cNvSpPr txBox="1"/>
          <p:nvPr/>
        </p:nvSpPr>
        <p:spPr>
          <a:xfrm>
            <a:off x="1165113" y="3290175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12" name="Google Shape;512;p52"/>
          <p:cNvSpPr txBox="1"/>
          <p:nvPr/>
        </p:nvSpPr>
        <p:spPr>
          <a:xfrm>
            <a:off x="1238588" y="389340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13" name="Google Shape;513;p52"/>
          <p:cNvSpPr txBox="1"/>
          <p:nvPr/>
        </p:nvSpPr>
        <p:spPr>
          <a:xfrm>
            <a:off x="2831638" y="3891700"/>
            <a:ext cx="1321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 </a:t>
            </a:r>
            <a:r>
              <a:rPr lang="es">
                <a:solidFill>
                  <a:srgbClr val="6AA84F"/>
                </a:solidFill>
              </a:rPr>
              <a:t> </a:t>
            </a:r>
            <a:r>
              <a:rPr lang="es">
                <a:solidFill>
                  <a:srgbClr val="E06666"/>
                </a:solidFill>
              </a:rPr>
              <a:t>NO    NO</a:t>
            </a:r>
            <a:r>
              <a:rPr lang="es">
                <a:solidFill>
                  <a:schemeClr val="dk2"/>
                </a:solidFill>
              </a:rPr>
              <a:t>    </a:t>
            </a:r>
            <a:r>
              <a:rPr lang="es">
                <a:solidFill>
                  <a:srgbClr val="E06666"/>
                </a:solidFill>
              </a:rPr>
              <a:t>NO</a:t>
            </a:r>
            <a:r>
              <a:rPr lang="es">
                <a:solidFill>
                  <a:schemeClr val="dk2"/>
                </a:solidFill>
              </a:rPr>
              <a:t>  </a:t>
            </a:r>
            <a:r>
              <a:rPr lang="es">
                <a:solidFill>
                  <a:srgbClr val="6AA84F"/>
                </a:solidFill>
              </a:rPr>
              <a:t>SI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514" name="Google Shape;514;p52"/>
          <p:cNvSpPr/>
          <p:nvPr/>
        </p:nvSpPr>
        <p:spPr>
          <a:xfrm>
            <a:off x="1165113" y="3750525"/>
            <a:ext cx="13833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2"/>
          <p:cNvSpPr/>
          <p:nvPr/>
        </p:nvSpPr>
        <p:spPr>
          <a:xfrm>
            <a:off x="2679363" y="3832573"/>
            <a:ext cx="1321800" cy="964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2"/>
          <p:cNvSpPr txBox="1"/>
          <p:nvPr/>
        </p:nvSpPr>
        <p:spPr>
          <a:xfrm>
            <a:off x="99450" y="797875"/>
            <a:ext cx="8620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Humedad</a:t>
            </a:r>
            <a:r>
              <a:rPr lang="es" sz="1700">
                <a:solidFill>
                  <a:schemeClr val="dk2"/>
                </a:solidFill>
              </a:rPr>
              <a:t> es la variable que logra maximizar la pureza del nodo terminal.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¿Cómo quedan etiquetados los nodos terminales? </a:t>
            </a:r>
            <a:r>
              <a:rPr lang="es" sz="1700">
                <a:solidFill>
                  <a:schemeClr val="dk2"/>
                </a:solidFill>
              </a:rPr>
              <a:t>En estos casos, la etiqueta del nodo terminal refiere a </a:t>
            </a:r>
            <a:r>
              <a:rPr b="1" lang="es" sz="1700">
                <a:solidFill>
                  <a:schemeClr val="dk2"/>
                </a:solidFill>
                <a:highlight>
                  <a:srgbClr val="FFE599"/>
                </a:highlight>
              </a:rPr>
              <a:t>la moda del subconjunto</a:t>
            </a:r>
            <a:r>
              <a:rPr lang="es" sz="1700">
                <a:solidFill>
                  <a:schemeClr val="dk2"/>
                </a:solidFill>
                <a:highlight>
                  <a:srgbClr val="FFE599"/>
                </a:highlight>
              </a:rPr>
              <a:t> (el valor más frecuente)</a:t>
            </a:r>
            <a:r>
              <a:rPr lang="es" sz="1700">
                <a:solidFill>
                  <a:schemeClr val="dk2"/>
                </a:solidFill>
              </a:rPr>
              <a:t>. </a:t>
            </a:r>
            <a:endParaRPr sz="1900">
              <a:solidFill>
                <a:schemeClr val="dk2"/>
              </a:solidFill>
            </a:endParaRPr>
          </a:p>
        </p:txBody>
      </p:sp>
      <p:cxnSp>
        <p:nvCxnSpPr>
          <p:cNvPr id="517" name="Google Shape;517;p52"/>
          <p:cNvCxnSpPr/>
          <p:nvPr/>
        </p:nvCxnSpPr>
        <p:spPr>
          <a:xfrm>
            <a:off x="6769113" y="2208613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52"/>
          <p:cNvSpPr txBox="1"/>
          <p:nvPr/>
        </p:nvSpPr>
        <p:spPr>
          <a:xfrm>
            <a:off x="6769113" y="2393163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Soleado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19" name="Google Shape;519;p52"/>
          <p:cNvSpPr txBox="1"/>
          <p:nvPr/>
        </p:nvSpPr>
        <p:spPr>
          <a:xfrm>
            <a:off x="6292863" y="3077763"/>
            <a:ext cx="13218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Humedad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20" name="Google Shape;520;p52"/>
          <p:cNvSpPr/>
          <p:nvPr/>
        </p:nvSpPr>
        <p:spPr>
          <a:xfrm>
            <a:off x="6209513" y="3125388"/>
            <a:ext cx="1143000" cy="3810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1" name="Google Shape;521;p52"/>
          <p:cNvCxnSpPr>
            <a:stCxn id="520" idx="3"/>
          </p:cNvCxnSpPr>
          <p:nvPr/>
        </p:nvCxnSpPr>
        <p:spPr>
          <a:xfrm flipH="1">
            <a:off x="6031001" y="3450591"/>
            <a:ext cx="345900" cy="4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52"/>
          <p:cNvCxnSpPr>
            <a:stCxn id="520" idx="5"/>
          </p:cNvCxnSpPr>
          <p:nvPr/>
        </p:nvCxnSpPr>
        <p:spPr>
          <a:xfrm>
            <a:off x="7185124" y="3450591"/>
            <a:ext cx="250800" cy="47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52"/>
          <p:cNvSpPr txBox="1"/>
          <p:nvPr/>
        </p:nvSpPr>
        <p:spPr>
          <a:xfrm>
            <a:off x="7352513" y="3403238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Alta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24" name="Google Shape;524;p52"/>
          <p:cNvSpPr txBox="1"/>
          <p:nvPr/>
        </p:nvSpPr>
        <p:spPr>
          <a:xfrm>
            <a:off x="5397863" y="3403238"/>
            <a:ext cx="12264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Normal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25" name="Google Shape;525;p52"/>
          <p:cNvSpPr txBox="1"/>
          <p:nvPr/>
        </p:nvSpPr>
        <p:spPr>
          <a:xfrm>
            <a:off x="5713463" y="3923088"/>
            <a:ext cx="59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</a:rPr>
              <a:t>SI</a:t>
            </a:r>
            <a:endParaRPr sz="1800">
              <a:solidFill>
                <a:srgbClr val="6AA84F"/>
              </a:solidFill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7238638" y="3923088"/>
            <a:ext cx="595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06666"/>
                </a:solidFill>
              </a:rPr>
              <a:t>NO</a:t>
            </a:r>
            <a:endParaRPr sz="1800">
              <a:solidFill>
                <a:srgbClr val="E06666"/>
              </a:solidFill>
            </a:endParaRPr>
          </a:p>
        </p:txBody>
      </p:sp>
      <p:sp>
        <p:nvSpPr>
          <p:cNvPr id="527" name="Google Shape;527;p52"/>
          <p:cNvSpPr/>
          <p:nvPr/>
        </p:nvSpPr>
        <p:spPr>
          <a:xfrm>
            <a:off x="5673413" y="3905388"/>
            <a:ext cx="536100" cy="47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2"/>
          <p:cNvSpPr/>
          <p:nvPr/>
        </p:nvSpPr>
        <p:spPr>
          <a:xfrm>
            <a:off x="7268188" y="3978601"/>
            <a:ext cx="536100" cy="47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2"/>
          <p:cNvSpPr/>
          <p:nvPr/>
        </p:nvSpPr>
        <p:spPr>
          <a:xfrm>
            <a:off x="2335675" y="2218750"/>
            <a:ext cx="5405400" cy="1759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2"/>
          <p:cNvSpPr txBox="1"/>
          <p:nvPr/>
        </p:nvSpPr>
        <p:spPr>
          <a:xfrm>
            <a:off x="2645225" y="2456875"/>
            <a:ext cx="470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Si estamos usando los árboles para un problema de </a:t>
            </a:r>
            <a:r>
              <a:rPr b="1" lang="es" sz="1800">
                <a:solidFill>
                  <a:schemeClr val="dk2"/>
                </a:solidFill>
              </a:rPr>
              <a:t>regresión de variables numéricas</a:t>
            </a:r>
            <a:r>
              <a:rPr lang="es" sz="1800">
                <a:solidFill>
                  <a:schemeClr val="dk2"/>
                </a:solidFill>
              </a:rPr>
              <a:t>, en lugar de la moda se utiliza el </a:t>
            </a:r>
            <a:r>
              <a:rPr b="1" lang="es" sz="1800">
                <a:solidFill>
                  <a:schemeClr val="dk2"/>
                </a:solidFill>
              </a:rPr>
              <a:t>promedio</a:t>
            </a:r>
            <a:r>
              <a:rPr lang="es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3"/>
          <p:cNvSpPr txBox="1"/>
          <p:nvPr/>
        </p:nvSpPr>
        <p:spPr>
          <a:xfrm>
            <a:off x="159000" y="1063825"/>
            <a:ext cx="837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chemeClr val="dk2"/>
                </a:solidFill>
              </a:rPr>
              <a:t>¿Cuál es el enfoque del algoritmo de los árboles de decisión?</a:t>
            </a:r>
            <a:endParaRPr b="1" sz="2100">
              <a:solidFill>
                <a:schemeClr val="dk2"/>
              </a:solidFill>
            </a:endParaRPr>
          </a:p>
        </p:txBody>
      </p:sp>
      <p:sp>
        <p:nvSpPr>
          <p:cNvPr id="537" name="Google Shape;537;p53"/>
          <p:cNvSpPr txBox="1"/>
          <p:nvPr/>
        </p:nvSpPr>
        <p:spPr>
          <a:xfrm>
            <a:off x="252075" y="2314000"/>
            <a:ext cx="7953300" cy="2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Recursive binary splitting:</a:t>
            </a:r>
            <a:r>
              <a:rPr lang="es" sz="1800">
                <a:solidFill>
                  <a:schemeClr val="dk2"/>
                </a:solidFill>
              </a:rPr>
              <a:t> comienza en la parte de arriba del árbol (donde todas las observaciones pertenecen a una sola región) y sucesivamente particiona el espacio de predictores.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Greedy:</a:t>
            </a:r>
            <a:r>
              <a:rPr lang="es" sz="1800">
                <a:solidFill>
                  <a:schemeClr val="dk2"/>
                </a:solidFill>
              </a:rPr>
              <a:t> en cada paso de la construcción del árbol se busca la mejor división en ese punto en particular (óptimo local) en lugar de mirar hacia adelante y elegir una división que llevaría a un mejor árbol en un paso futuro.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8" name="Google Shape;538;p53"/>
          <p:cNvSpPr txBox="1"/>
          <p:nvPr/>
        </p:nvSpPr>
        <p:spPr>
          <a:xfrm>
            <a:off x="323525" y="1659150"/>
            <a:ext cx="7310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9" name="Google Shape;539;p53"/>
          <p:cNvSpPr txBox="1"/>
          <p:nvPr/>
        </p:nvSpPr>
        <p:spPr>
          <a:xfrm>
            <a:off x="252075" y="1659138"/>
            <a:ext cx="70485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200">
                <a:solidFill>
                  <a:schemeClr val="dk2"/>
                </a:solidFill>
              </a:rPr>
              <a:t>Recursive binary splitting + Greedy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4"/>
          <p:cNvSpPr txBox="1"/>
          <p:nvPr/>
        </p:nvSpPr>
        <p:spPr>
          <a:xfrm>
            <a:off x="159000" y="1063825"/>
            <a:ext cx="8665500" cy="24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¿Qué pasa si dejamos crecer el árbol </a:t>
            </a:r>
            <a:r>
              <a:rPr b="1" lang="es" sz="1900" u="sng">
                <a:solidFill>
                  <a:schemeClr val="dk2"/>
                </a:solidFill>
              </a:rPr>
              <a:t>hasta que alcanza la </a:t>
            </a:r>
            <a:r>
              <a:rPr b="1" lang="es" sz="1900" u="sng">
                <a:solidFill>
                  <a:schemeClr val="dk2"/>
                </a:solidFill>
              </a:rPr>
              <a:t>mínima</a:t>
            </a:r>
            <a:r>
              <a:rPr b="1" lang="es" sz="1900" u="sng">
                <a:solidFill>
                  <a:schemeClr val="dk2"/>
                </a:solidFill>
              </a:rPr>
              <a:t> impureza</a:t>
            </a:r>
            <a:r>
              <a:rPr b="1" lang="es" sz="1900">
                <a:solidFill>
                  <a:schemeClr val="dk2"/>
                </a:solidFill>
              </a:rPr>
              <a:t> en cada nodo terminal? 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highlight>
                  <a:srgbClr val="CFE2F3"/>
                </a:highlight>
              </a:rPr>
              <a:t>El resultado será </a:t>
            </a:r>
            <a:r>
              <a:rPr b="1" lang="es" sz="1900">
                <a:solidFill>
                  <a:schemeClr val="dk2"/>
                </a:solidFill>
                <a:highlight>
                  <a:srgbClr val="CFE2F3"/>
                </a:highlight>
              </a:rPr>
              <a:t>un </a:t>
            </a:r>
            <a:r>
              <a:rPr b="1" lang="es" sz="1900">
                <a:solidFill>
                  <a:schemeClr val="dk2"/>
                </a:solidFill>
                <a:highlight>
                  <a:srgbClr val="CFE2F3"/>
                </a:highlight>
              </a:rPr>
              <a:t>árbol</a:t>
            </a:r>
            <a:r>
              <a:rPr b="1" lang="es" sz="1900">
                <a:solidFill>
                  <a:schemeClr val="dk2"/>
                </a:solidFill>
                <a:highlight>
                  <a:srgbClr val="CFE2F3"/>
                </a:highlight>
              </a:rPr>
              <a:t> muy profundo</a:t>
            </a:r>
            <a:r>
              <a:rPr lang="es" sz="1900">
                <a:solidFill>
                  <a:schemeClr val="dk2"/>
                </a:solidFill>
                <a:highlight>
                  <a:srgbClr val="CFE2F3"/>
                </a:highlight>
              </a:rPr>
              <a:t> con nodos terminales que estén integrados por </a:t>
            </a:r>
            <a:r>
              <a:rPr b="1" lang="es" sz="1900">
                <a:solidFill>
                  <a:schemeClr val="dk2"/>
                </a:solidFill>
                <a:highlight>
                  <a:srgbClr val="CFE2F3"/>
                </a:highlight>
              </a:rPr>
              <a:t>un único caso</a:t>
            </a:r>
            <a:r>
              <a:rPr lang="es" sz="1900">
                <a:solidFill>
                  <a:schemeClr val="dk2"/>
                </a:solidFill>
                <a:highlight>
                  <a:srgbClr val="CFE2F3"/>
                </a:highlight>
              </a:rPr>
              <a:t>. </a:t>
            </a:r>
            <a:endParaRPr sz="19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Es decir, estamos ante un problema de </a:t>
            </a:r>
            <a:r>
              <a:rPr b="1" lang="es" sz="1900">
                <a:solidFill>
                  <a:schemeClr val="dk2"/>
                </a:solidFill>
              </a:rPr>
              <a:t>OVERFITTING</a:t>
            </a:r>
            <a:r>
              <a:rPr lang="es" sz="1900">
                <a:solidFill>
                  <a:schemeClr val="dk2"/>
                </a:solidFill>
              </a:rPr>
              <a:t>.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➔"/>
            </a:pPr>
            <a:r>
              <a:rPr lang="es" sz="1900">
                <a:solidFill>
                  <a:schemeClr val="dk2"/>
                </a:solidFill>
              </a:rPr>
              <a:t>Como siempre, necesitamos que nuestro modelo sea capaz de </a:t>
            </a:r>
            <a:r>
              <a:rPr b="1" lang="es" sz="1900">
                <a:solidFill>
                  <a:schemeClr val="dk2"/>
                </a:solidFill>
              </a:rPr>
              <a:t>generalizar</a:t>
            </a:r>
            <a:r>
              <a:rPr lang="es" sz="1900">
                <a:solidFill>
                  <a:schemeClr val="dk2"/>
                </a:solidFill>
              </a:rPr>
              <a:t> sus resultados para que logre </a:t>
            </a:r>
            <a:r>
              <a:rPr b="1" lang="es" sz="1900">
                <a:solidFill>
                  <a:schemeClr val="dk2"/>
                </a:solidFill>
              </a:rPr>
              <a:t>predecir correctamente casos nuevos</a:t>
            </a:r>
            <a:r>
              <a:rPr lang="es" sz="1900">
                <a:solidFill>
                  <a:schemeClr val="dk2"/>
                </a:solidFill>
              </a:rPr>
              <a:t>.  </a:t>
            </a:r>
            <a:r>
              <a:rPr lang="es" sz="1900">
                <a:solidFill>
                  <a:schemeClr val="dk2"/>
                </a:solidFill>
              </a:rPr>
              <a:t>Si construye</a:t>
            </a:r>
            <a:r>
              <a:rPr lang="es" sz="1900">
                <a:solidFill>
                  <a:schemeClr val="dk2"/>
                </a:solidFill>
              </a:rPr>
              <a:t> reglas de decisión específicas para cada uno de los datos del set de entrenamiento, va a perder capacidad predictiva.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546" name="Google Shape;546;p54"/>
          <p:cNvSpPr txBox="1"/>
          <p:nvPr/>
        </p:nvSpPr>
        <p:spPr>
          <a:xfrm>
            <a:off x="323525" y="1659150"/>
            <a:ext cx="7310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5"/>
          <p:cNvSpPr txBox="1"/>
          <p:nvPr/>
        </p:nvSpPr>
        <p:spPr>
          <a:xfrm>
            <a:off x="159000" y="1063825"/>
            <a:ext cx="8665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¿Cómo podemos evitar el OVERFITTING? 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➔"/>
            </a:pPr>
            <a:r>
              <a:rPr lang="es" sz="1900">
                <a:solidFill>
                  <a:schemeClr val="dk2"/>
                </a:solidFill>
              </a:rPr>
              <a:t>Podemos usar distintas </a:t>
            </a:r>
            <a:r>
              <a:rPr b="1" lang="es" sz="1900" u="sng">
                <a:solidFill>
                  <a:schemeClr val="dk2"/>
                </a:solidFill>
              </a:rPr>
              <a:t>técnicas de poda del </a:t>
            </a:r>
            <a:r>
              <a:rPr b="1" lang="es" sz="1900" u="sng">
                <a:solidFill>
                  <a:schemeClr val="dk2"/>
                </a:solidFill>
              </a:rPr>
              <a:t>árbol</a:t>
            </a:r>
            <a:r>
              <a:rPr b="1" lang="es" sz="1900">
                <a:solidFill>
                  <a:schemeClr val="dk2"/>
                </a:solidFill>
              </a:rPr>
              <a:t> </a:t>
            </a:r>
            <a:endParaRPr b="1" sz="19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Técnicas de pre-poda:</a:t>
            </a:r>
            <a:r>
              <a:rPr lang="es" sz="1900">
                <a:solidFill>
                  <a:schemeClr val="dk2"/>
                </a:solidFill>
              </a:rPr>
              <a:t> se detiene el crecimiento del árbol antes de que alcance su máxima profundidad. </a:t>
            </a:r>
            <a:r>
              <a:rPr b="1" lang="es" sz="1900">
                <a:solidFill>
                  <a:schemeClr val="dk2"/>
                </a:solidFill>
              </a:rPr>
              <a:t>¿Qué HP se usan? min_n / tree_depth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2"/>
                </a:solidFill>
              </a:rPr>
              <a:t>Técnicas de post-poda:</a:t>
            </a:r>
            <a:r>
              <a:rPr lang="es" sz="1900">
                <a:solidFill>
                  <a:schemeClr val="dk2"/>
                </a:solidFill>
              </a:rPr>
              <a:t> se construye un árbol profundo y luego se recorre el árbol desde las hojas hasta la raíz, eliminando nodos cuya eliminación reduce el costo de complejidad. </a:t>
            </a:r>
            <a:r>
              <a:rPr b="1" lang="es" sz="1900">
                <a:solidFill>
                  <a:schemeClr val="dk2"/>
                </a:solidFill>
              </a:rPr>
              <a:t>¿Qué HP se usan? cost_complexity</a:t>
            </a:r>
            <a:endParaRPr sz="1000">
              <a:solidFill>
                <a:srgbClr val="333333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  <p:pic>
        <p:nvPicPr>
          <p:cNvPr id="553" name="Google Shape;55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600" y="1063825"/>
            <a:ext cx="1231675" cy="12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38" y="20925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6"/>
          <p:cNvSpPr txBox="1"/>
          <p:nvPr/>
        </p:nvSpPr>
        <p:spPr>
          <a:xfrm>
            <a:off x="252200" y="930788"/>
            <a:ext cx="4179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VENTAJAS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 estructura de árbol es ideal para capturar las </a:t>
            </a:r>
            <a:r>
              <a:rPr b="1" lang="es" sz="1600">
                <a:solidFill>
                  <a:schemeClr val="dk2"/>
                </a:solidFill>
              </a:rPr>
              <a:t>interacciones</a:t>
            </a:r>
            <a:r>
              <a:rPr lang="es" sz="1600">
                <a:solidFill>
                  <a:schemeClr val="dk2"/>
                </a:solidFill>
              </a:rPr>
              <a:t> entre las características en los datos.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Las reglas de decisión hacen que su  </a:t>
            </a:r>
            <a:r>
              <a:rPr b="1" lang="es" sz="1600">
                <a:solidFill>
                  <a:schemeClr val="dk2"/>
                </a:solidFill>
              </a:rPr>
              <a:t>interpretación</a:t>
            </a:r>
            <a:r>
              <a:rPr lang="es" sz="1600">
                <a:solidFill>
                  <a:schemeClr val="dk2"/>
                </a:solidFill>
              </a:rPr>
              <a:t> sea bastante simple.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 estructura de árbol también tiene una </a:t>
            </a:r>
            <a:r>
              <a:rPr b="1" lang="es" sz="1600">
                <a:solidFill>
                  <a:schemeClr val="dk2"/>
                </a:solidFill>
              </a:rPr>
              <a:t>visualización</a:t>
            </a:r>
            <a:r>
              <a:rPr lang="es" sz="1600">
                <a:solidFill>
                  <a:schemeClr val="dk2"/>
                </a:solidFill>
              </a:rPr>
              <a:t> natural, con sus nodos y aristas.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Tienen </a:t>
            </a:r>
            <a:r>
              <a:rPr b="1" lang="es" sz="1600">
                <a:solidFill>
                  <a:schemeClr val="dk2"/>
                </a:solidFill>
              </a:rPr>
              <a:t>potencia explicativa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0" name="Google Shape;560;p56"/>
          <p:cNvSpPr txBox="1"/>
          <p:nvPr/>
        </p:nvSpPr>
        <p:spPr>
          <a:xfrm>
            <a:off x="4431200" y="930800"/>
            <a:ext cx="46554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DESVENTAJAS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Los árboles </a:t>
            </a:r>
            <a:r>
              <a:rPr b="1" lang="es" sz="1600">
                <a:solidFill>
                  <a:schemeClr val="dk2"/>
                </a:solidFill>
              </a:rPr>
              <a:t>fallan en manejar relaciones lineales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Son </a:t>
            </a:r>
            <a:r>
              <a:rPr b="1" lang="es" sz="1600">
                <a:solidFill>
                  <a:schemeClr val="dk2"/>
                </a:solidFill>
              </a:rPr>
              <a:t>poco robustos.</a:t>
            </a:r>
            <a:r>
              <a:rPr lang="es" sz="1600">
                <a:solidFill>
                  <a:schemeClr val="dk2"/>
                </a:solidFill>
              </a:rPr>
              <a:t> Pequeños cambios en la característica de entrada pueden tener un gran impacto en el resultado predicho, lo cual generalmente no es deseable.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</a:t>
            </a:r>
            <a:r>
              <a:rPr lang="es" sz="1600">
                <a:solidFill>
                  <a:schemeClr val="dk2"/>
                </a:solidFill>
              </a:rPr>
              <a:t>on bastante </a:t>
            </a:r>
            <a:r>
              <a:rPr b="1" lang="es" sz="1600">
                <a:solidFill>
                  <a:schemeClr val="dk2"/>
                </a:solidFill>
              </a:rPr>
              <a:t>inestables</a:t>
            </a:r>
            <a:r>
              <a:rPr lang="es" sz="1600">
                <a:solidFill>
                  <a:schemeClr val="dk2"/>
                </a:solidFill>
              </a:rPr>
              <a:t>. Unos pocos cambios en el conjunto de datos de entrenamiento pueden crear un árbol completamente diferente.</a:t>
            </a:r>
            <a:r>
              <a:rPr lang="es" sz="1700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Tienen </a:t>
            </a:r>
            <a:r>
              <a:rPr b="1" lang="es" sz="1600">
                <a:solidFill>
                  <a:schemeClr val="dk2"/>
                </a:solidFill>
              </a:rPr>
              <a:t>baja capacidad predictiva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1" name="Google Shape;561;p56"/>
          <p:cNvSpPr txBox="1"/>
          <p:nvPr/>
        </p:nvSpPr>
        <p:spPr>
          <a:xfrm>
            <a:off x="168725" y="4731125"/>
            <a:ext cx="47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Fuente: </a:t>
            </a:r>
            <a:r>
              <a:rPr lang="es" sz="1100" u="sng">
                <a:solidFill>
                  <a:schemeClr val="hlink"/>
                </a:solidFill>
                <a:hlinkClick r:id="rId4"/>
              </a:rPr>
              <a:t>https://christophm.github.io/interpretable-ml-book/tree.html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