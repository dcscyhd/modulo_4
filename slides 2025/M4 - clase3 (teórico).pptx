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Roboto Mono"/>
      <p:regular r:id="rId28"/>
      <p:bold r:id="rId29"/>
      <p:italic r:id="rId30"/>
      <p:boldItalic r:id="rId31"/>
    </p:embeddedFont>
    <p:embeddedFont>
      <p:font typeface="Archiv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BF09D17-B4F8-46A7-85EE-8E5D1E76FAC9}">
  <a:tblStyle styleId="{6BF09D17-B4F8-46A7-85EE-8E5D1E76FAC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Mono-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Mon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Mono-boldItalic.fntdata"/><Relationship Id="rId30" Type="http://schemas.openxmlformats.org/officeDocument/2006/relationships/font" Target="fonts/RobotoMono-italic.fntdata"/><Relationship Id="rId11" Type="http://schemas.openxmlformats.org/officeDocument/2006/relationships/slide" Target="slides/slide5.xml"/><Relationship Id="rId33" Type="http://schemas.openxmlformats.org/officeDocument/2006/relationships/font" Target="fonts/Archivo-bold.fntdata"/><Relationship Id="rId10" Type="http://schemas.openxmlformats.org/officeDocument/2006/relationships/slide" Target="slides/slide4.xml"/><Relationship Id="rId32" Type="http://schemas.openxmlformats.org/officeDocument/2006/relationships/font" Target="fonts/Archivo-regular.fntdata"/><Relationship Id="rId13" Type="http://schemas.openxmlformats.org/officeDocument/2006/relationships/slide" Target="slides/slide7.xml"/><Relationship Id="rId35" Type="http://schemas.openxmlformats.org/officeDocument/2006/relationships/font" Target="fonts/Archivo-boldItalic.fntdata"/><Relationship Id="rId12" Type="http://schemas.openxmlformats.org/officeDocument/2006/relationships/slide" Target="slides/slide6.xml"/><Relationship Id="rId34" Type="http://schemas.openxmlformats.org/officeDocument/2006/relationships/font" Target="fonts/Archivo-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0769f5917d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0769f5917d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d4468f29c9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d4468f29c9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d4468f29c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d4468f29c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d4468f29c9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d4468f29c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d4468f29c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d4468f29c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d4468f29c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d4468f29c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d4468f29c9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d4468f29c9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d4468f29c9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d4468f29c9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d4468f29c9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d4468f29c9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d4468f29c9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d4468f29c9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d4468f29c9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d4468f29c9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d4468f29c9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d4468f29c9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d4468f29c9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d4468f29c9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d4468f29c9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d4468f29c9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0bab19079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0bab19079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0bab19079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0bab19079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0bab19079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0bab19079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0bab19079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0bab1907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d4468f29c9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d4468f29c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0bab19079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0bab19079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github.com/tidymodels/parsnip/blob/HEAD/R/boost_tree_xgboost.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7681575" y="4659525"/>
            <a:ext cx="29052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rgbClr val="595959"/>
                </a:solidFill>
              </a:rPr>
              <a:t>COMISIÓN 2</a:t>
            </a:r>
            <a:r>
              <a:rPr b="1" lang="es" sz="1600">
                <a:solidFill>
                  <a:srgbClr val="595959"/>
                </a:solidFill>
              </a:rPr>
              <a:t> </a:t>
            </a:r>
            <a:endParaRPr b="1" sz="1600">
              <a:solidFill>
                <a:srgbClr val="595959"/>
              </a:solidFill>
            </a:endParaRPr>
          </a:p>
        </p:txBody>
      </p:sp>
      <p:pic>
        <p:nvPicPr>
          <p:cNvPr id="55" name="Google Shape;55;p13"/>
          <p:cNvPicPr preferRelativeResize="0"/>
          <p:nvPr/>
        </p:nvPicPr>
        <p:blipFill rotWithShape="1">
          <a:blip r:embed="rId3">
            <a:alphaModFix/>
          </a:blip>
          <a:srcRect b="48274" l="0" r="0" t="0"/>
          <a:stretch/>
        </p:blipFill>
        <p:spPr>
          <a:xfrm>
            <a:off x="152400" y="938200"/>
            <a:ext cx="8839200" cy="1411500"/>
          </a:xfrm>
          <a:prstGeom prst="rect">
            <a:avLst/>
          </a:prstGeom>
          <a:noFill/>
          <a:ln>
            <a:noFill/>
          </a:ln>
        </p:spPr>
      </p:pic>
      <p:pic>
        <p:nvPicPr>
          <p:cNvPr id="56" name="Google Shape;56;p13"/>
          <p:cNvPicPr preferRelativeResize="0"/>
          <p:nvPr/>
        </p:nvPicPr>
        <p:blipFill rotWithShape="1">
          <a:blip r:embed="rId4">
            <a:alphaModFix/>
          </a:blip>
          <a:srcRect b="0" l="0" r="0" t="75659"/>
          <a:stretch/>
        </p:blipFill>
        <p:spPr>
          <a:xfrm>
            <a:off x="152400" y="2814077"/>
            <a:ext cx="8839199" cy="9750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nvSpPr>
        <p:spPr>
          <a:xfrm>
            <a:off x="287800" y="454950"/>
            <a:ext cx="7620000" cy="5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0000FF"/>
                </a:solidFill>
                <a:latin typeface="Archivo"/>
                <a:ea typeface="Archivo"/>
                <a:cs typeface="Archivo"/>
                <a:sym typeface="Archivo"/>
              </a:rPr>
              <a:t>Tipos de ensambles de árboles de decisión</a:t>
            </a:r>
            <a:endParaRPr b="1" sz="2400">
              <a:solidFill>
                <a:srgbClr val="0000FF"/>
              </a:solidFill>
              <a:latin typeface="Archivo"/>
              <a:ea typeface="Archivo"/>
              <a:cs typeface="Archivo"/>
              <a:sym typeface="Archivo"/>
            </a:endParaRPr>
          </a:p>
        </p:txBody>
      </p:sp>
      <p:sp>
        <p:nvSpPr>
          <p:cNvPr id="62" name="Google Shape;62;p14"/>
          <p:cNvSpPr txBox="1"/>
          <p:nvPr/>
        </p:nvSpPr>
        <p:spPr>
          <a:xfrm>
            <a:off x="287800" y="1016225"/>
            <a:ext cx="850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900">
                <a:solidFill>
                  <a:schemeClr val="dk2"/>
                </a:solidFill>
              </a:rPr>
              <a:t>Los árboles de decisión </a:t>
            </a:r>
            <a:r>
              <a:rPr lang="es" sz="1900" u="sng">
                <a:solidFill>
                  <a:schemeClr val="dk2"/>
                </a:solidFill>
              </a:rPr>
              <a:t>suelen ensamblarse principalmente de dos maneras</a:t>
            </a:r>
            <a:r>
              <a:rPr lang="es" sz="1900">
                <a:solidFill>
                  <a:schemeClr val="dk2"/>
                </a:solidFill>
              </a:rPr>
              <a:t>:</a:t>
            </a:r>
            <a:endParaRPr sz="1900">
              <a:solidFill>
                <a:schemeClr val="dk2"/>
              </a:solidFill>
            </a:endParaRPr>
          </a:p>
        </p:txBody>
      </p:sp>
      <p:sp>
        <p:nvSpPr>
          <p:cNvPr id="63" name="Google Shape;63;p14"/>
          <p:cNvSpPr txBox="1"/>
          <p:nvPr/>
        </p:nvSpPr>
        <p:spPr>
          <a:xfrm>
            <a:off x="347325" y="1742500"/>
            <a:ext cx="8346300" cy="27861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2"/>
              </a:buClr>
              <a:buSzPts val="2000"/>
              <a:buChar char="●"/>
            </a:pPr>
            <a:r>
              <a:rPr b="1" lang="es" sz="2000">
                <a:solidFill>
                  <a:schemeClr val="dk2"/>
                </a:solidFill>
                <a:highlight>
                  <a:srgbClr val="CFE2F3"/>
                </a:highlight>
              </a:rPr>
              <a:t>Método de Bagging (abreviatura de Bootstrap Aggregating)</a:t>
            </a:r>
            <a:endParaRPr b="1" sz="2000">
              <a:solidFill>
                <a:schemeClr val="dk2"/>
              </a:solidFill>
              <a:highlight>
                <a:srgbClr val="CFE2F3"/>
              </a:highlight>
            </a:endParaRPr>
          </a:p>
          <a:p>
            <a:pPr indent="0" lvl="0" marL="0" rtl="0" algn="l">
              <a:spcBef>
                <a:spcPts val="0"/>
              </a:spcBef>
              <a:spcAft>
                <a:spcPts val="0"/>
              </a:spcAft>
              <a:buNone/>
            </a:pPr>
            <a:r>
              <a:t/>
            </a:r>
            <a:endParaRPr b="1" sz="1000">
              <a:solidFill>
                <a:schemeClr val="dk2"/>
              </a:solidFill>
            </a:endParaRPr>
          </a:p>
          <a:p>
            <a:pPr indent="0" lvl="0" marL="457200" rtl="0" algn="l">
              <a:spcBef>
                <a:spcPts val="0"/>
              </a:spcBef>
              <a:spcAft>
                <a:spcPts val="0"/>
              </a:spcAft>
              <a:buNone/>
            </a:pPr>
            <a:r>
              <a:rPr lang="es" sz="1800" u="sng">
                <a:solidFill>
                  <a:schemeClr val="dk2"/>
                </a:solidFill>
              </a:rPr>
              <a:t>Premisa básica:</a:t>
            </a:r>
            <a:r>
              <a:rPr lang="es" sz="1800">
                <a:solidFill>
                  <a:schemeClr val="dk2"/>
                </a:solidFill>
              </a:rPr>
              <a:t> Construir varios modelos independientes y luego promediar sus resultados. Por este motivo, también se los suele denominar “métodos de averaging”.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55600" lvl="0" marL="457200" rtl="0" algn="l">
              <a:spcBef>
                <a:spcPts val="0"/>
              </a:spcBef>
              <a:spcAft>
                <a:spcPts val="0"/>
              </a:spcAft>
              <a:buClr>
                <a:schemeClr val="dk2"/>
              </a:buClr>
              <a:buSzPts val="2000"/>
              <a:buChar char="●"/>
            </a:pPr>
            <a:r>
              <a:rPr b="1" lang="es" sz="2000">
                <a:solidFill>
                  <a:schemeClr val="dk2"/>
                </a:solidFill>
                <a:highlight>
                  <a:srgbClr val="CFE2F3"/>
                </a:highlight>
              </a:rPr>
              <a:t>Método de Boosting</a:t>
            </a:r>
            <a:endParaRPr b="1" sz="2000">
              <a:solidFill>
                <a:schemeClr val="dk2"/>
              </a:solidFill>
              <a:highlight>
                <a:srgbClr val="CFE2F3"/>
              </a:highlight>
            </a:endParaRPr>
          </a:p>
          <a:p>
            <a:pPr indent="0" lvl="0" marL="0" rtl="0" algn="l">
              <a:spcBef>
                <a:spcPts val="0"/>
              </a:spcBef>
              <a:spcAft>
                <a:spcPts val="0"/>
              </a:spcAft>
              <a:buNone/>
            </a:pPr>
            <a:r>
              <a:t/>
            </a:r>
            <a:endParaRPr b="1" sz="1100">
              <a:solidFill>
                <a:schemeClr val="dk2"/>
              </a:solidFill>
            </a:endParaRPr>
          </a:p>
          <a:p>
            <a:pPr indent="0" lvl="0" marL="457200" rtl="0" algn="l">
              <a:spcBef>
                <a:spcPts val="0"/>
              </a:spcBef>
              <a:spcAft>
                <a:spcPts val="0"/>
              </a:spcAft>
              <a:buNone/>
            </a:pPr>
            <a:r>
              <a:rPr lang="es" sz="1800" u="sng">
                <a:solidFill>
                  <a:schemeClr val="dk2"/>
                </a:solidFill>
              </a:rPr>
              <a:t>Premisa básica:</a:t>
            </a:r>
            <a:r>
              <a:rPr lang="es" sz="1800">
                <a:solidFill>
                  <a:schemeClr val="dk2"/>
                </a:solidFill>
              </a:rPr>
              <a:t> Construir una secuencia de modelos donde </a:t>
            </a:r>
            <a:r>
              <a:rPr b="1" lang="es" sz="1800">
                <a:solidFill>
                  <a:schemeClr val="dk2"/>
                </a:solidFill>
              </a:rPr>
              <a:t>cada nuevo modelo trata de corregir los errores del anterior</a:t>
            </a:r>
            <a:r>
              <a:rPr lang="es" sz="1800">
                <a:solidFill>
                  <a:schemeClr val="dk2"/>
                </a:solidFill>
              </a:rPr>
              <a:t>. </a:t>
            </a:r>
            <a:endParaRPr sz="1800">
              <a:solidFill>
                <a:schemeClr val="dk2"/>
              </a:solidFill>
            </a:endParaRPr>
          </a:p>
        </p:txBody>
      </p:sp>
      <p:sp>
        <p:nvSpPr>
          <p:cNvPr id="64" name="Google Shape;64;p14"/>
          <p:cNvSpPr txBox="1"/>
          <p:nvPr/>
        </p:nvSpPr>
        <p:spPr>
          <a:xfrm>
            <a:off x="6441225" y="70950"/>
            <a:ext cx="2786100" cy="38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600">
                <a:solidFill>
                  <a:srgbClr val="0000FF"/>
                </a:solidFill>
                <a:highlight>
                  <a:srgbClr val="CFE2F3"/>
                </a:highlight>
              </a:rPr>
              <a:t>REPASO DE LA CLASE 2</a:t>
            </a:r>
            <a:endParaRPr b="1" sz="1500">
              <a:solidFill>
                <a:srgbClr val="0000FF"/>
              </a:solidFill>
              <a:highlight>
                <a:srgbClr val="CFE2F3"/>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nvSpPr>
        <p:spPr>
          <a:xfrm>
            <a:off x="121100" y="228725"/>
            <a:ext cx="7620000" cy="5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0000FF"/>
                </a:solidFill>
                <a:latin typeface="Archivo"/>
                <a:ea typeface="Archivo"/>
                <a:cs typeface="Archivo"/>
                <a:sym typeface="Archivo"/>
              </a:rPr>
              <a:t>Tipo de </a:t>
            </a:r>
            <a:r>
              <a:rPr b="1" lang="es" sz="2400">
                <a:solidFill>
                  <a:srgbClr val="0000FF"/>
                </a:solidFill>
                <a:latin typeface="Archivo"/>
                <a:ea typeface="Archivo"/>
                <a:cs typeface="Archivo"/>
                <a:sym typeface="Archivo"/>
              </a:rPr>
              <a:t>ensambles</a:t>
            </a:r>
            <a:r>
              <a:rPr b="1" lang="es" sz="2400">
                <a:solidFill>
                  <a:srgbClr val="0000FF"/>
                </a:solidFill>
                <a:latin typeface="Archivo"/>
                <a:ea typeface="Archivo"/>
                <a:cs typeface="Archivo"/>
                <a:sym typeface="Archivo"/>
              </a:rPr>
              <a:t> tipo  </a:t>
            </a:r>
            <a:r>
              <a:rPr b="1" lang="es" sz="2400">
                <a:solidFill>
                  <a:srgbClr val="0000FF"/>
                </a:solidFill>
                <a:latin typeface="Archivo"/>
                <a:ea typeface="Archivo"/>
                <a:cs typeface="Archivo"/>
                <a:sym typeface="Archivo"/>
              </a:rPr>
              <a:t>Boosting</a:t>
            </a:r>
            <a:endParaRPr b="1" sz="2400">
              <a:solidFill>
                <a:srgbClr val="0000FF"/>
              </a:solidFill>
              <a:latin typeface="Archivo"/>
              <a:ea typeface="Archivo"/>
              <a:cs typeface="Archivo"/>
              <a:sym typeface="Archivo"/>
            </a:endParaRPr>
          </a:p>
        </p:txBody>
      </p:sp>
      <p:sp>
        <p:nvSpPr>
          <p:cNvPr id="70" name="Google Shape;70;p15"/>
          <p:cNvSpPr txBox="1"/>
          <p:nvPr/>
        </p:nvSpPr>
        <p:spPr>
          <a:xfrm>
            <a:off x="121100" y="885250"/>
            <a:ext cx="8882100" cy="373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highlight>
                  <a:srgbClr val="CFE2F3"/>
                </a:highlight>
              </a:rPr>
              <a:t>AdaBoost (Adaptive Boosting):</a:t>
            </a:r>
            <a:endParaRPr b="1" sz="1800">
              <a:solidFill>
                <a:schemeClr val="dk2"/>
              </a:solidFill>
              <a:highlight>
                <a:srgbClr val="CFE2F3"/>
              </a:highlight>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rPr lang="es" sz="1800">
                <a:solidFill>
                  <a:schemeClr val="dk2"/>
                </a:solidFill>
              </a:rPr>
              <a:t>AdaBoost fue la primera técnica de boosting exitosa, desarrollada específicamente para problemas de clasificación binaria.</a:t>
            </a:r>
            <a:r>
              <a:rPr b="1" lang="es" sz="1800">
                <a:solidFill>
                  <a:schemeClr val="dk2"/>
                </a:solidFill>
              </a:rPr>
              <a:t> </a:t>
            </a:r>
            <a:r>
              <a:rPr b="1" lang="es" sz="1800">
                <a:solidFill>
                  <a:schemeClr val="dk2"/>
                </a:solidFill>
              </a:rPr>
              <a:t>Asigna pesos a los datos de entrenamiento</a:t>
            </a:r>
            <a:r>
              <a:rPr lang="es" sz="1800">
                <a:solidFill>
                  <a:schemeClr val="dk2"/>
                </a:solidFill>
              </a:rPr>
              <a:t>, enfocando los modelos posteriores en las instancias mal clasificadas en iteraciones previas</a:t>
            </a:r>
            <a:r>
              <a:rPr lang="es" sz="1800">
                <a:solidFill>
                  <a:schemeClr val="dk2"/>
                </a:solidFill>
              </a:rPr>
              <a:t>.</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800">
                <a:solidFill>
                  <a:schemeClr val="dk2"/>
                </a:solidFill>
              </a:rPr>
              <a:t>Gradient Boosting (GB):</a:t>
            </a:r>
            <a:endParaRPr b="1" sz="1800">
              <a:solidFill>
                <a:schemeClr val="dk2"/>
              </a:solidFill>
            </a:endParaRPr>
          </a:p>
          <a:p>
            <a:pPr indent="0" lvl="0" marL="0" rtl="0" algn="l">
              <a:spcBef>
                <a:spcPts val="0"/>
              </a:spcBef>
              <a:spcAft>
                <a:spcPts val="0"/>
              </a:spcAft>
              <a:buNone/>
            </a:pPr>
            <a:r>
              <a:t/>
            </a:r>
            <a:endParaRPr sz="700">
              <a:solidFill>
                <a:schemeClr val="dk2"/>
              </a:solidFill>
            </a:endParaRPr>
          </a:p>
          <a:p>
            <a:pPr indent="0" lvl="0" marL="0" rtl="0" algn="l">
              <a:spcBef>
                <a:spcPts val="0"/>
              </a:spcBef>
              <a:spcAft>
                <a:spcPts val="0"/>
              </a:spcAft>
              <a:buNone/>
            </a:pPr>
            <a:r>
              <a:rPr lang="es" sz="1800">
                <a:solidFill>
                  <a:schemeClr val="dk2"/>
                </a:solidFill>
              </a:rPr>
              <a:t>En este caso, el modelo en cada etapa </a:t>
            </a:r>
            <a:r>
              <a:rPr b="1" lang="es" sz="1800">
                <a:solidFill>
                  <a:schemeClr val="dk2"/>
                </a:solidFill>
              </a:rPr>
              <a:t>minimiza el error residual</a:t>
            </a:r>
            <a:r>
              <a:rPr lang="es" sz="1800">
                <a:solidFill>
                  <a:schemeClr val="dk2"/>
                </a:solidFill>
              </a:rPr>
              <a:t> (la diferencia entre la predicción y el valor real) mediante </a:t>
            </a:r>
            <a:r>
              <a:rPr b="1" lang="es" sz="1800">
                <a:solidFill>
                  <a:schemeClr val="dk2"/>
                </a:solidFill>
              </a:rPr>
              <a:t>una técnica de descenso de gradiente</a:t>
            </a:r>
            <a:r>
              <a:rPr lang="es" sz="1800">
                <a:solidFill>
                  <a:schemeClr val="dk2"/>
                </a:solidFill>
              </a:rPr>
              <a:t>.</a:t>
            </a:r>
            <a:endParaRPr sz="1800">
              <a:solidFill>
                <a:schemeClr val="dk2"/>
              </a:solidFill>
            </a:endParaRPr>
          </a:p>
          <a:p>
            <a:pPr indent="0" lvl="0" marL="0" rtl="0" algn="l">
              <a:spcBef>
                <a:spcPts val="0"/>
              </a:spcBef>
              <a:spcAft>
                <a:spcPts val="0"/>
              </a:spcAft>
              <a:buNone/>
            </a:pPr>
            <a:r>
              <a:t/>
            </a:r>
            <a:endParaRPr sz="900">
              <a:solidFill>
                <a:schemeClr val="dk2"/>
              </a:solidFill>
            </a:endParaRPr>
          </a:p>
          <a:p>
            <a:pPr indent="0" lvl="0" marL="0" rtl="0" algn="l">
              <a:spcBef>
                <a:spcPts val="0"/>
              </a:spcBef>
              <a:spcAft>
                <a:spcPts val="0"/>
              </a:spcAft>
              <a:buNone/>
            </a:pPr>
            <a:r>
              <a:rPr lang="es" sz="1800" u="sng">
                <a:solidFill>
                  <a:schemeClr val="dk2"/>
                </a:solidFill>
              </a:rPr>
              <a:t>Variantes populares:</a:t>
            </a:r>
            <a:endParaRPr sz="1800" u="sng">
              <a:solidFill>
                <a:schemeClr val="dk2"/>
              </a:solidFill>
            </a:endParaRPr>
          </a:p>
          <a:p>
            <a:pPr indent="-342900" lvl="0" marL="457200" rtl="0" algn="l">
              <a:spcBef>
                <a:spcPts val="0"/>
              </a:spcBef>
              <a:spcAft>
                <a:spcPts val="0"/>
              </a:spcAft>
              <a:buClr>
                <a:schemeClr val="dk2"/>
              </a:buClr>
              <a:buSzPts val="1800"/>
              <a:buChar char="-"/>
            </a:pPr>
            <a:r>
              <a:rPr i="1" lang="es" sz="1800">
                <a:solidFill>
                  <a:schemeClr val="dk2"/>
                </a:solidFill>
                <a:highlight>
                  <a:srgbClr val="CFE2F3"/>
                </a:highlight>
              </a:rPr>
              <a:t>XGBoost:</a:t>
            </a:r>
            <a:r>
              <a:rPr lang="es" sz="1800">
                <a:solidFill>
                  <a:schemeClr val="dk2"/>
                </a:solidFill>
                <a:highlight>
                  <a:srgbClr val="CFE2F3"/>
                </a:highlight>
              </a:rPr>
              <a:t> Una versión optimizada de Gradient Boosting.</a:t>
            </a:r>
            <a:endParaRPr sz="1800">
              <a:solidFill>
                <a:schemeClr val="dk2"/>
              </a:solidFill>
              <a:highlight>
                <a:srgbClr val="CFE2F3"/>
              </a:highlight>
            </a:endParaRPr>
          </a:p>
          <a:p>
            <a:pPr indent="-342900" lvl="0" marL="457200" rtl="0" algn="l">
              <a:spcBef>
                <a:spcPts val="0"/>
              </a:spcBef>
              <a:spcAft>
                <a:spcPts val="0"/>
              </a:spcAft>
              <a:buClr>
                <a:schemeClr val="dk2"/>
              </a:buClr>
              <a:buSzPts val="1800"/>
              <a:buChar char="-"/>
            </a:pPr>
            <a:r>
              <a:rPr i="1" lang="es" sz="1800">
                <a:solidFill>
                  <a:schemeClr val="dk2"/>
                </a:solidFill>
              </a:rPr>
              <a:t>LightGBM:</a:t>
            </a:r>
            <a:r>
              <a:rPr lang="es" sz="1800">
                <a:solidFill>
                  <a:schemeClr val="dk2"/>
                </a:solidFill>
              </a:rPr>
              <a:t> Optimizado para eficiencia en memoria y velocidad.</a:t>
            </a:r>
            <a:endParaRPr sz="1800">
              <a:solidFill>
                <a:schemeClr val="dk2"/>
              </a:solidFill>
            </a:endParaRPr>
          </a:p>
          <a:p>
            <a:pPr indent="-342900" lvl="0" marL="457200" rtl="0" algn="l">
              <a:spcBef>
                <a:spcPts val="0"/>
              </a:spcBef>
              <a:spcAft>
                <a:spcPts val="0"/>
              </a:spcAft>
              <a:buClr>
                <a:schemeClr val="dk2"/>
              </a:buClr>
              <a:buSzPts val="1800"/>
              <a:buChar char="-"/>
            </a:pPr>
            <a:r>
              <a:rPr i="1" lang="es" sz="1800">
                <a:solidFill>
                  <a:schemeClr val="dk2"/>
                </a:solidFill>
              </a:rPr>
              <a:t>CatBoost:</a:t>
            </a:r>
            <a:r>
              <a:rPr lang="es" sz="1800">
                <a:solidFill>
                  <a:schemeClr val="dk2"/>
                </a:solidFill>
              </a:rPr>
              <a:t> Maneja variables categóricas de forma eficiente.</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nvSpPr>
        <p:spPr>
          <a:xfrm>
            <a:off x="287800" y="454950"/>
            <a:ext cx="7620000" cy="5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0000FF"/>
                </a:solidFill>
                <a:latin typeface="Archivo"/>
                <a:ea typeface="Archivo"/>
                <a:cs typeface="Archivo"/>
                <a:sym typeface="Archivo"/>
              </a:rPr>
              <a:t>Boosting – AdaBoost</a:t>
            </a:r>
            <a:endParaRPr b="1" sz="2400">
              <a:solidFill>
                <a:srgbClr val="0000FF"/>
              </a:solidFill>
              <a:latin typeface="Archivo"/>
              <a:ea typeface="Archivo"/>
              <a:cs typeface="Archivo"/>
              <a:sym typeface="Archivo"/>
            </a:endParaRPr>
          </a:p>
        </p:txBody>
      </p:sp>
      <p:sp>
        <p:nvSpPr>
          <p:cNvPr id="76" name="Google Shape;76;p16"/>
          <p:cNvSpPr txBox="1"/>
          <p:nvPr/>
        </p:nvSpPr>
        <p:spPr>
          <a:xfrm>
            <a:off x="238125" y="1098000"/>
            <a:ext cx="8501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2100">
                <a:solidFill>
                  <a:schemeClr val="dk2"/>
                </a:solidFill>
              </a:rPr>
              <a:t>¿Cómo funciona este método?</a:t>
            </a:r>
            <a:endParaRPr sz="1900">
              <a:solidFill>
                <a:schemeClr val="dk2"/>
              </a:solidFill>
            </a:endParaRPr>
          </a:p>
        </p:txBody>
      </p:sp>
      <p:sp>
        <p:nvSpPr>
          <p:cNvPr id="77" name="Google Shape;77;p16"/>
          <p:cNvSpPr txBox="1"/>
          <p:nvPr/>
        </p:nvSpPr>
        <p:spPr>
          <a:xfrm>
            <a:off x="359225" y="1873475"/>
            <a:ext cx="8024700" cy="288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highlight>
                  <a:srgbClr val="D9EAD3"/>
                </a:highlight>
              </a:rPr>
              <a:t>PASO 1:</a:t>
            </a:r>
            <a:r>
              <a:rPr lang="es" sz="1800">
                <a:solidFill>
                  <a:schemeClr val="dk2"/>
                </a:solidFill>
                <a:highlight>
                  <a:srgbClr val="D9EAD3"/>
                </a:highlight>
              </a:rPr>
              <a:t> </a:t>
            </a:r>
            <a:r>
              <a:rPr b="1" lang="es" sz="1800">
                <a:solidFill>
                  <a:schemeClr val="dk2"/>
                </a:solidFill>
              </a:rPr>
              <a:t>Se entrena</a:t>
            </a:r>
            <a:r>
              <a:rPr lang="es" sz="1800">
                <a:solidFill>
                  <a:schemeClr val="dk2"/>
                </a:solidFill>
              </a:rPr>
              <a:t> </a:t>
            </a:r>
            <a:r>
              <a:rPr b="1" lang="es" sz="1800">
                <a:solidFill>
                  <a:schemeClr val="dk2"/>
                </a:solidFill>
                <a:highlight>
                  <a:srgbClr val="D9EAD3"/>
                </a:highlight>
              </a:rPr>
              <a:t>un primer árbol de poca profundidad</a:t>
            </a:r>
            <a:r>
              <a:rPr b="1" lang="es" sz="1800">
                <a:solidFill>
                  <a:schemeClr val="dk2"/>
                </a:solidFill>
              </a:rPr>
              <a:t> en </a:t>
            </a:r>
            <a:r>
              <a:rPr b="1" lang="es" sz="1800">
                <a:solidFill>
                  <a:schemeClr val="dk2"/>
                </a:solidFill>
                <a:highlight>
                  <a:srgbClr val="D9EAD3"/>
                </a:highlight>
              </a:rPr>
              <a:t>todo el conjunto de entrenamiento. </a:t>
            </a:r>
            <a:endParaRPr b="1" sz="1800">
              <a:solidFill>
                <a:schemeClr val="dk2"/>
              </a:solidFill>
              <a:highlight>
                <a:srgbClr val="D9EAD3"/>
              </a:highlight>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Este suele ser un </a:t>
            </a:r>
            <a:r>
              <a:rPr b="1" lang="es" sz="1800">
                <a:solidFill>
                  <a:schemeClr val="dk2"/>
                </a:solidFill>
              </a:rPr>
              <a:t>árbol de tipo “decision stump”</a:t>
            </a:r>
            <a:r>
              <a:rPr lang="es" sz="1800">
                <a:solidFill>
                  <a:schemeClr val="dk2"/>
                </a:solidFill>
              </a:rPr>
              <a:t>. </a:t>
            </a:r>
            <a:endParaRPr sz="1800">
              <a:solidFill>
                <a:schemeClr val="dk2"/>
              </a:solidFill>
            </a:endParaRPr>
          </a:p>
          <a:p>
            <a:pPr indent="0" lvl="0" marL="0" rtl="0" algn="l">
              <a:spcBef>
                <a:spcPts val="0"/>
              </a:spcBef>
              <a:spcAft>
                <a:spcPts val="0"/>
              </a:spcAft>
              <a:buNone/>
            </a:pPr>
            <a:r>
              <a:rPr lang="es" sz="1800">
                <a:solidFill>
                  <a:schemeClr val="dk2"/>
                </a:solidFill>
              </a:rPr>
              <a:t>Es decir, un árbol de 1-nivel (o lo que es lo mismo, </a:t>
            </a:r>
            <a:endParaRPr sz="1800">
              <a:solidFill>
                <a:schemeClr val="dk2"/>
              </a:solidFill>
            </a:endParaRPr>
          </a:p>
          <a:p>
            <a:pPr indent="0" lvl="0" marL="0" rtl="0" algn="l">
              <a:spcBef>
                <a:spcPts val="0"/>
              </a:spcBef>
              <a:spcAft>
                <a:spcPts val="0"/>
              </a:spcAft>
              <a:buNone/>
            </a:pPr>
            <a:r>
              <a:rPr b="1" lang="es" sz="1800">
                <a:solidFill>
                  <a:schemeClr val="dk2"/>
                </a:solidFill>
              </a:rPr>
              <a:t>una única regla de decisión</a:t>
            </a:r>
            <a:r>
              <a:rPr lang="es" sz="1800">
                <a:solidFill>
                  <a:schemeClr val="dk2"/>
                </a:solidFill>
              </a:rPr>
              <a:t>)</a:t>
            </a:r>
            <a:endParaRPr sz="1800">
              <a:solidFill>
                <a:schemeClr val="dk2"/>
              </a:solidFill>
            </a:endParaRPr>
          </a:p>
        </p:txBody>
      </p:sp>
      <p:pic>
        <p:nvPicPr>
          <p:cNvPr id="78" name="Google Shape;78;p16"/>
          <p:cNvPicPr preferRelativeResize="0"/>
          <p:nvPr/>
        </p:nvPicPr>
        <p:blipFill>
          <a:blip r:embed="rId3">
            <a:alphaModFix/>
          </a:blip>
          <a:stretch>
            <a:fillRect/>
          </a:stretch>
        </p:blipFill>
        <p:spPr>
          <a:xfrm>
            <a:off x="5865396" y="2806221"/>
            <a:ext cx="2802375" cy="1456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nvSpPr>
        <p:spPr>
          <a:xfrm>
            <a:off x="287800" y="454950"/>
            <a:ext cx="7620000" cy="5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2400">
                <a:solidFill>
                  <a:srgbClr val="0000FF"/>
                </a:solidFill>
                <a:latin typeface="Archivo"/>
                <a:ea typeface="Archivo"/>
                <a:cs typeface="Archivo"/>
                <a:sym typeface="Archivo"/>
              </a:rPr>
              <a:t>Boosting – AdaBoost</a:t>
            </a:r>
            <a:endParaRPr b="1" sz="2400">
              <a:solidFill>
                <a:srgbClr val="0000FF"/>
              </a:solidFill>
              <a:latin typeface="Archivo"/>
              <a:ea typeface="Archivo"/>
              <a:cs typeface="Archivo"/>
              <a:sym typeface="Archivo"/>
            </a:endParaRPr>
          </a:p>
        </p:txBody>
      </p:sp>
      <p:sp>
        <p:nvSpPr>
          <p:cNvPr id="84" name="Google Shape;84;p17"/>
          <p:cNvSpPr txBox="1"/>
          <p:nvPr/>
        </p:nvSpPr>
        <p:spPr>
          <a:xfrm>
            <a:off x="317525" y="1098000"/>
            <a:ext cx="8501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2"/>
                </a:solidFill>
              </a:rPr>
              <a:t>¿Cómo funciona este método?</a:t>
            </a:r>
            <a:endParaRPr sz="1900">
              <a:solidFill>
                <a:schemeClr val="dk2"/>
              </a:solidFill>
            </a:endParaRPr>
          </a:p>
        </p:txBody>
      </p:sp>
      <p:sp>
        <p:nvSpPr>
          <p:cNvPr id="85" name="Google Shape;85;p17"/>
          <p:cNvSpPr txBox="1"/>
          <p:nvPr/>
        </p:nvSpPr>
        <p:spPr>
          <a:xfrm>
            <a:off x="359225" y="1873475"/>
            <a:ext cx="8417700" cy="288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highlight>
                  <a:srgbClr val="D9EAD3"/>
                </a:highlight>
              </a:rPr>
              <a:t>PASO 2:</a:t>
            </a:r>
            <a:r>
              <a:rPr lang="es" sz="1800">
                <a:solidFill>
                  <a:schemeClr val="dk2"/>
                </a:solidFill>
              </a:rPr>
              <a:t> </a:t>
            </a:r>
            <a:r>
              <a:rPr b="1" lang="es" sz="1800">
                <a:solidFill>
                  <a:schemeClr val="dk2"/>
                </a:solidFill>
              </a:rPr>
              <a:t>Se</a:t>
            </a:r>
            <a:r>
              <a:rPr lang="es" sz="1800">
                <a:solidFill>
                  <a:schemeClr val="dk2"/>
                </a:solidFill>
              </a:rPr>
              <a:t> </a:t>
            </a:r>
            <a:r>
              <a:rPr b="1" lang="es" sz="1800">
                <a:solidFill>
                  <a:schemeClr val="dk2"/>
                </a:solidFill>
              </a:rPr>
              <a:t>identifican los </a:t>
            </a:r>
            <a:r>
              <a:rPr b="1" lang="es" sz="1800">
                <a:solidFill>
                  <a:schemeClr val="dk2"/>
                </a:solidFill>
                <a:highlight>
                  <a:srgbClr val="D9EAD3"/>
                </a:highlight>
              </a:rPr>
              <a:t>errores</a:t>
            </a:r>
            <a:r>
              <a:rPr lang="es" sz="1800">
                <a:solidFill>
                  <a:schemeClr val="dk2"/>
                </a:solidFill>
              </a:rPr>
              <a:t> cometidos por este primer modelo en la predicción.</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800">
                <a:solidFill>
                  <a:schemeClr val="dk2"/>
                </a:solidFill>
                <a:highlight>
                  <a:srgbClr val="D9EAD3"/>
                </a:highlight>
              </a:rPr>
              <a:t>PASO 3:</a:t>
            </a:r>
            <a:r>
              <a:rPr lang="es" sz="1800">
                <a:solidFill>
                  <a:schemeClr val="dk2"/>
                </a:solidFill>
              </a:rPr>
              <a:t> </a:t>
            </a:r>
            <a:r>
              <a:rPr b="1" lang="es" sz="1800">
                <a:solidFill>
                  <a:schemeClr val="dk2"/>
                </a:solidFill>
              </a:rPr>
              <a:t>Se </a:t>
            </a:r>
            <a:r>
              <a:rPr b="1" lang="es" sz="1800">
                <a:solidFill>
                  <a:schemeClr val="dk2"/>
                </a:solidFill>
                <a:highlight>
                  <a:srgbClr val="D9EAD3"/>
                </a:highlight>
              </a:rPr>
              <a:t>aumenta el peso de los casos</a:t>
            </a:r>
            <a:r>
              <a:rPr b="1" lang="es" sz="1800">
                <a:solidFill>
                  <a:schemeClr val="dk2"/>
                </a:solidFill>
              </a:rPr>
              <a:t> donde el modelo anterior cometió errores</a:t>
            </a:r>
            <a:r>
              <a:rPr lang="es" sz="1800">
                <a:solidFill>
                  <a:schemeClr val="dk2"/>
                </a:solidFill>
              </a:rPr>
              <a:t>, para que el siguiente modelo del ensamble ponga más atención en estos casos.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Clr>
                <a:schemeClr val="dk1"/>
              </a:buClr>
              <a:buSzPts val="1100"/>
              <a:buFont typeface="Arial"/>
              <a:buNone/>
            </a:pPr>
            <a:r>
              <a:rPr b="1" lang="es" sz="1800">
                <a:solidFill>
                  <a:schemeClr val="dk2"/>
                </a:solidFill>
              </a:rPr>
              <a:t>Este conjunto de entrenamiento “pesado” será el que utilice el segundo modelo del ensamble. </a:t>
            </a:r>
            <a:endParaRPr b="1"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nvSpPr>
        <p:spPr>
          <a:xfrm>
            <a:off x="287800" y="454950"/>
            <a:ext cx="7620000" cy="5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0000FF"/>
                </a:solidFill>
                <a:latin typeface="Archivo"/>
                <a:ea typeface="Archivo"/>
                <a:cs typeface="Archivo"/>
                <a:sym typeface="Archivo"/>
              </a:rPr>
              <a:t>Boosting</a:t>
            </a:r>
            <a:r>
              <a:rPr b="1" lang="es" sz="2400">
                <a:solidFill>
                  <a:srgbClr val="0000FF"/>
                </a:solidFill>
                <a:latin typeface="Archivo"/>
                <a:ea typeface="Archivo"/>
                <a:cs typeface="Archivo"/>
                <a:sym typeface="Archivo"/>
              </a:rPr>
              <a:t> – AdaBoost</a:t>
            </a:r>
            <a:endParaRPr b="1" sz="2400">
              <a:solidFill>
                <a:srgbClr val="0000FF"/>
              </a:solidFill>
              <a:latin typeface="Archivo"/>
              <a:ea typeface="Archivo"/>
              <a:cs typeface="Archivo"/>
              <a:sym typeface="Archivo"/>
            </a:endParaRPr>
          </a:p>
        </p:txBody>
      </p:sp>
      <p:sp>
        <p:nvSpPr>
          <p:cNvPr id="91" name="Google Shape;91;p18"/>
          <p:cNvSpPr txBox="1"/>
          <p:nvPr/>
        </p:nvSpPr>
        <p:spPr>
          <a:xfrm>
            <a:off x="287800" y="932875"/>
            <a:ext cx="8501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100">
                <a:solidFill>
                  <a:schemeClr val="dk2"/>
                </a:solidFill>
              </a:rPr>
              <a:t>¿Cómo funciona este método?</a:t>
            </a:r>
            <a:endParaRPr sz="1900">
              <a:solidFill>
                <a:schemeClr val="dk2"/>
              </a:solidFill>
            </a:endParaRPr>
          </a:p>
        </p:txBody>
      </p:sp>
      <p:sp>
        <p:nvSpPr>
          <p:cNvPr id="92" name="Google Shape;92;p18"/>
          <p:cNvSpPr txBox="1"/>
          <p:nvPr/>
        </p:nvSpPr>
        <p:spPr>
          <a:xfrm>
            <a:off x="363150" y="1516275"/>
            <a:ext cx="8417700" cy="288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1800">
                <a:solidFill>
                  <a:schemeClr val="dk2"/>
                </a:solidFill>
              </a:rPr>
              <a:t>El proceso es acumulativo. </a:t>
            </a:r>
            <a:r>
              <a:rPr lang="es" sz="1800">
                <a:solidFill>
                  <a:schemeClr val="dk2"/>
                </a:solidFill>
              </a:rPr>
              <a:t>Los modelos se entrenan uno después del otro </a:t>
            </a:r>
            <a:r>
              <a:rPr b="1" lang="es" sz="1800">
                <a:solidFill>
                  <a:schemeClr val="dk2"/>
                </a:solidFill>
              </a:rPr>
              <a:t>de forma secuencial</a:t>
            </a:r>
            <a:r>
              <a:rPr lang="es" sz="1800">
                <a:solidFill>
                  <a:schemeClr val="dk2"/>
                </a:solidFill>
              </a:rPr>
              <a:t>. Cada nuevo modelo trata de corregir los errores de los modelos anteriores.</a:t>
            </a:r>
            <a:endParaRPr sz="1800"/>
          </a:p>
        </p:txBody>
      </p:sp>
      <p:sp>
        <p:nvSpPr>
          <p:cNvPr id="93" name="Google Shape;93;p18"/>
          <p:cNvSpPr/>
          <p:nvPr/>
        </p:nvSpPr>
        <p:spPr>
          <a:xfrm>
            <a:off x="365200" y="1516275"/>
            <a:ext cx="8346300" cy="994200"/>
          </a:xfrm>
          <a:prstGeom prst="rect">
            <a:avLst/>
          </a:prstGeom>
          <a:noFill/>
          <a:ln cap="flat" cmpd="sng" w="2857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8"/>
          <p:cNvSpPr txBox="1"/>
          <p:nvPr/>
        </p:nvSpPr>
        <p:spPr>
          <a:xfrm>
            <a:off x="228200" y="2770700"/>
            <a:ext cx="8346300" cy="11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highlight>
                  <a:srgbClr val="D9EAD3"/>
                </a:highlight>
              </a:rPr>
              <a:t>PASO 4:</a:t>
            </a:r>
            <a:r>
              <a:rPr lang="es" sz="1800">
                <a:solidFill>
                  <a:schemeClr val="dk2"/>
                </a:solidFill>
              </a:rPr>
              <a:t> </a:t>
            </a:r>
            <a:r>
              <a:rPr b="1" lang="es" sz="1800">
                <a:solidFill>
                  <a:schemeClr val="dk2"/>
                </a:solidFill>
              </a:rPr>
              <a:t>Agregación de resultados. </a:t>
            </a:r>
            <a:r>
              <a:rPr lang="es" sz="1800">
                <a:solidFill>
                  <a:schemeClr val="dk2"/>
                </a:solidFill>
              </a:rPr>
              <a:t>La predicción final del ensamble de tipo boosting es </a:t>
            </a:r>
            <a:r>
              <a:rPr b="1" lang="es" sz="1800">
                <a:solidFill>
                  <a:schemeClr val="dk2"/>
                </a:solidFill>
                <a:highlight>
                  <a:srgbClr val="D9EAD3"/>
                </a:highlight>
              </a:rPr>
              <a:t>una combinación ponderada</a:t>
            </a:r>
            <a:r>
              <a:rPr b="1" lang="es" sz="1800">
                <a:solidFill>
                  <a:schemeClr val="dk2"/>
                </a:solidFill>
              </a:rPr>
              <a:t> de las predicciones de los modelos “débiles”</a:t>
            </a:r>
            <a:r>
              <a:rPr lang="es" sz="1800">
                <a:solidFill>
                  <a:schemeClr val="dk2"/>
                </a:solidFill>
              </a:rPr>
              <a:t> que se entrenaron secuencialmente.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Los resultados de </a:t>
            </a:r>
            <a:r>
              <a:rPr b="1" lang="es" sz="1800">
                <a:solidFill>
                  <a:schemeClr val="dk2"/>
                </a:solidFill>
              </a:rPr>
              <a:t>los modelos que están más cerca del final de la secuencia  (mejor entrenados) suelen tener un mayor peso</a:t>
            </a:r>
            <a:r>
              <a:rPr lang="es" sz="1800">
                <a:solidFill>
                  <a:schemeClr val="dk2"/>
                </a:solidFill>
              </a:rPr>
              <a:t>, que los resultados de los modelos iniciales.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nvSpPr>
        <p:spPr>
          <a:xfrm>
            <a:off x="121100" y="228725"/>
            <a:ext cx="7620000" cy="5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2400">
                <a:solidFill>
                  <a:srgbClr val="0000FF"/>
                </a:solidFill>
                <a:latin typeface="Archivo"/>
                <a:ea typeface="Archivo"/>
                <a:cs typeface="Archivo"/>
                <a:sym typeface="Archivo"/>
              </a:rPr>
              <a:t>Boosting – AdaBoost</a:t>
            </a:r>
            <a:endParaRPr b="1" sz="2400">
              <a:solidFill>
                <a:srgbClr val="0000FF"/>
              </a:solidFill>
              <a:latin typeface="Archivo"/>
              <a:ea typeface="Archivo"/>
              <a:cs typeface="Archivo"/>
              <a:sym typeface="Archivo"/>
            </a:endParaRPr>
          </a:p>
        </p:txBody>
      </p:sp>
      <p:pic>
        <p:nvPicPr>
          <p:cNvPr id="100" name="Google Shape;100;p19"/>
          <p:cNvPicPr preferRelativeResize="0"/>
          <p:nvPr/>
        </p:nvPicPr>
        <p:blipFill>
          <a:blip r:embed="rId3">
            <a:alphaModFix/>
          </a:blip>
          <a:stretch>
            <a:fillRect/>
          </a:stretch>
        </p:blipFill>
        <p:spPr>
          <a:xfrm>
            <a:off x="1102650" y="1252800"/>
            <a:ext cx="6363825" cy="3835950"/>
          </a:xfrm>
          <a:prstGeom prst="rect">
            <a:avLst/>
          </a:prstGeom>
          <a:noFill/>
          <a:ln>
            <a:noFill/>
          </a:ln>
        </p:spPr>
      </p:pic>
      <p:sp>
        <p:nvSpPr>
          <p:cNvPr id="101" name="Google Shape;101;p19"/>
          <p:cNvSpPr txBox="1"/>
          <p:nvPr/>
        </p:nvSpPr>
        <p:spPr>
          <a:xfrm>
            <a:off x="293938" y="2512225"/>
            <a:ext cx="9783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700">
                <a:solidFill>
                  <a:schemeClr val="dk2"/>
                </a:solidFill>
                <a:highlight>
                  <a:srgbClr val="D9EAD3"/>
                </a:highlight>
              </a:rPr>
              <a:t>PASO 1</a:t>
            </a:r>
            <a:endParaRPr sz="1300"/>
          </a:p>
        </p:txBody>
      </p:sp>
      <p:sp>
        <p:nvSpPr>
          <p:cNvPr id="102" name="Google Shape;102;p19"/>
          <p:cNvSpPr txBox="1"/>
          <p:nvPr/>
        </p:nvSpPr>
        <p:spPr>
          <a:xfrm>
            <a:off x="293938" y="3581400"/>
            <a:ext cx="9783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700">
                <a:solidFill>
                  <a:schemeClr val="dk2"/>
                </a:solidFill>
                <a:highlight>
                  <a:srgbClr val="D9EAD3"/>
                </a:highlight>
              </a:rPr>
              <a:t>PASO 2</a:t>
            </a:r>
            <a:endParaRPr sz="1300"/>
          </a:p>
        </p:txBody>
      </p:sp>
      <p:sp>
        <p:nvSpPr>
          <p:cNvPr id="103" name="Google Shape;103;p19"/>
          <p:cNvSpPr txBox="1"/>
          <p:nvPr/>
        </p:nvSpPr>
        <p:spPr>
          <a:xfrm>
            <a:off x="2827588" y="971550"/>
            <a:ext cx="9783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700">
                <a:solidFill>
                  <a:schemeClr val="dk2"/>
                </a:solidFill>
                <a:highlight>
                  <a:srgbClr val="D9EAD3"/>
                </a:highlight>
              </a:rPr>
              <a:t>PASO 3</a:t>
            </a:r>
            <a:endParaRPr sz="1300"/>
          </a:p>
        </p:txBody>
      </p:sp>
      <p:sp>
        <p:nvSpPr>
          <p:cNvPr id="104" name="Google Shape;104;p19"/>
          <p:cNvSpPr txBox="1"/>
          <p:nvPr/>
        </p:nvSpPr>
        <p:spPr>
          <a:xfrm>
            <a:off x="7375763" y="2512225"/>
            <a:ext cx="9783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700">
                <a:solidFill>
                  <a:schemeClr val="dk2"/>
                </a:solidFill>
                <a:highlight>
                  <a:srgbClr val="D9EAD3"/>
                </a:highlight>
              </a:rPr>
              <a:t>PASO 4</a:t>
            </a:r>
            <a:endParaRPr sz="13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nvSpPr>
        <p:spPr>
          <a:xfrm>
            <a:off x="121100" y="63500"/>
            <a:ext cx="7620000" cy="5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0000FF"/>
                </a:solidFill>
                <a:latin typeface="Archivo"/>
                <a:ea typeface="Archivo"/>
                <a:cs typeface="Archivo"/>
                <a:sym typeface="Archivo"/>
              </a:rPr>
              <a:t>Boosting</a:t>
            </a:r>
            <a:endParaRPr b="1" sz="2400">
              <a:solidFill>
                <a:srgbClr val="0000FF"/>
              </a:solidFill>
              <a:latin typeface="Archivo"/>
              <a:ea typeface="Archivo"/>
              <a:cs typeface="Archivo"/>
              <a:sym typeface="Archivo"/>
            </a:endParaRPr>
          </a:p>
        </p:txBody>
      </p:sp>
      <p:sp>
        <p:nvSpPr>
          <p:cNvPr id="110" name="Google Shape;110;p20"/>
          <p:cNvSpPr txBox="1"/>
          <p:nvPr/>
        </p:nvSpPr>
        <p:spPr>
          <a:xfrm>
            <a:off x="121100" y="776525"/>
            <a:ext cx="8751000" cy="425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Para la predicción final, </a:t>
            </a:r>
            <a:r>
              <a:rPr b="1" lang="es" sz="1800">
                <a:solidFill>
                  <a:schemeClr val="dk2"/>
                </a:solidFill>
              </a:rPr>
              <a:t>¿Por qué se realiza una agregación ponderada de los resultados parciales en lugar de utilizar solo el resultado del último modelo del ensamble?</a:t>
            </a:r>
            <a:endParaRPr b="1"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b="1" lang="es" sz="1800">
                <a:solidFill>
                  <a:schemeClr val="dk2"/>
                </a:solidFill>
                <a:highlight>
                  <a:srgbClr val="FFF2CC"/>
                </a:highlight>
              </a:rPr>
              <a:t>Corrección progresiva de errores:</a:t>
            </a:r>
            <a:r>
              <a:rPr lang="es" sz="1800">
                <a:solidFill>
                  <a:schemeClr val="dk2"/>
                </a:solidFill>
              </a:rPr>
              <a:t> Cada modelo del ensamble se entrena para corregir los errores del modelo anterior. </a:t>
            </a:r>
            <a:r>
              <a:rPr i="1" lang="es" sz="1800">
                <a:solidFill>
                  <a:schemeClr val="dk2"/>
                </a:solidFill>
              </a:rPr>
              <a:t>Si usáramos </a:t>
            </a:r>
            <a:r>
              <a:rPr i="1" lang="es" sz="1800">
                <a:solidFill>
                  <a:schemeClr val="dk2"/>
                </a:solidFill>
              </a:rPr>
              <a:t>sólo</a:t>
            </a:r>
            <a:r>
              <a:rPr i="1" lang="es" sz="1800">
                <a:solidFill>
                  <a:schemeClr val="dk2"/>
                </a:solidFill>
              </a:rPr>
              <a:t> el resultado del último modelo, se perdería toda la información acumulada a lo largo del proceso</a:t>
            </a:r>
            <a:r>
              <a:rPr lang="es" sz="1800">
                <a:solidFill>
                  <a:schemeClr val="dk2"/>
                </a:solidFill>
              </a:rPr>
              <a:t>.</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b="1" lang="es" sz="1800">
                <a:solidFill>
                  <a:schemeClr val="dk2"/>
                </a:solidFill>
                <a:highlight>
                  <a:srgbClr val="FFF2CC"/>
                </a:highlight>
              </a:rPr>
              <a:t>Mejora incremental de la capacidad predictiva:</a:t>
            </a:r>
            <a:r>
              <a:rPr b="1" lang="es" sz="1800">
                <a:solidFill>
                  <a:schemeClr val="dk2"/>
                </a:solidFill>
              </a:rPr>
              <a:t> </a:t>
            </a:r>
            <a:r>
              <a:rPr lang="es" sz="1800">
                <a:solidFill>
                  <a:schemeClr val="dk2"/>
                </a:solidFill>
              </a:rPr>
              <a:t>Al combinar las predicciones de varios modelos, se reduce el riesgo de que el resultado final esté demasiado influenciado por los errores específicos de un solo modelo. Esto mejora la capacidad de generalización en nuevos datos. </a:t>
            </a:r>
            <a:r>
              <a:rPr i="1" lang="es" sz="1800">
                <a:solidFill>
                  <a:schemeClr val="dk2"/>
                </a:solidFill>
              </a:rPr>
              <a:t>E</a:t>
            </a:r>
            <a:r>
              <a:rPr i="1" lang="es" sz="1800">
                <a:solidFill>
                  <a:schemeClr val="dk2"/>
                </a:solidFill>
              </a:rPr>
              <a:t>l ensamble logra una mejor predicción que cualquiera de los modelos individuales por sí solo.</a:t>
            </a:r>
            <a:endParaRPr i="1"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11" name="Google Shape;111;p20"/>
          <p:cNvSpPr/>
          <p:nvPr/>
        </p:nvSpPr>
        <p:spPr>
          <a:xfrm>
            <a:off x="85400" y="776525"/>
            <a:ext cx="8691600" cy="978000"/>
          </a:xfrm>
          <a:prstGeom prst="rect">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20"/>
          <p:cNvSpPr txBox="1"/>
          <p:nvPr/>
        </p:nvSpPr>
        <p:spPr>
          <a:xfrm>
            <a:off x="5951100" y="145400"/>
            <a:ext cx="3192900" cy="38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600">
                <a:solidFill>
                  <a:srgbClr val="E69138"/>
                </a:solidFill>
                <a:highlight>
                  <a:srgbClr val="FFF2CC"/>
                </a:highlight>
              </a:rPr>
              <a:t>ALGUNAS ACLARACIONES</a:t>
            </a:r>
            <a:endParaRPr b="1" sz="1500">
              <a:solidFill>
                <a:srgbClr val="E69138"/>
              </a:solidFill>
              <a:highlight>
                <a:srgbClr val="FFF2CC"/>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1"/>
          <p:cNvPicPr preferRelativeResize="0"/>
          <p:nvPr/>
        </p:nvPicPr>
        <p:blipFill>
          <a:blip r:embed="rId3">
            <a:alphaModFix/>
          </a:blip>
          <a:stretch>
            <a:fillRect/>
          </a:stretch>
        </p:blipFill>
        <p:spPr>
          <a:xfrm>
            <a:off x="152400" y="336175"/>
            <a:ext cx="8839199" cy="447114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22"/>
          <p:cNvPicPr preferRelativeResize="0"/>
          <p:nvPr/>
        </p:nvPicPr>
        <p:blipFill>
          <a:blip r:embed="rId3">
            <a:alphaModFix/>
          </a:blip>
          <a:stretch>
            <a:fillRect/>
          </a:stretch>
        </p:blipFill>
        <p:spPr>
          <a:xfrm>
            <a:off x="152400" y="307188"/>
            <a:ext cx="8839199" cy="452912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23"/>
          <p:cNvPicPr preferRelativeResize="0"/>
          <p:nvPr/>
        </p:nvPicPr>
        <p:blipFill>
          <a:blip r:embed="rId3">
            <a:alphaModFix/>
          </a:blip>
          <a:stretch>
            <a:fillRect/>
          </a:stretch>
        </p:blipFill>
        <p:spPr>
          <a:xfrm>
            <a:off x="152400" y="247650"/>
            <a:ext cx="8839201" cy="451444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152400" y="300700"/>
            <a:ext cx="8839203" cy="454210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25"/>
          <p:cNvPicPr preferRelativeResize="0"/>
          <p:nvPr/>
        </p:nvPicPr>
        <p:blipFill>
          <a:blip r:embed="rId3">
            <a:alphaModFix/>
          </a:blip>
          <a:stretch>
            <a:fillRect/>
          </a:stretch>
        </p:blipFill>
        <p:spPr>
          <a:xfrm>
            <a:off x="152400" y="152400"/>
            <a:ext cx="8839200" cy="470707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26"/>
          <p:cNvPicPr preferRelativeResize="0"/>
          <p:nvPr/>
        </p:nvPicPr>
        <p:blipFill>
          <a:blip r:embed="rId3">
            <a:alphaModFix/>
          </a:blip>
          <a:stretch>
            <a:fillRect/>
          </a:stretch>
        </p:blipFill>
        <p:spPr>
          <a:xfrm>
            <a:off x="152400" y="152400"/>
            <a:ext cx="8839201" cy="455602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27"/>
          <p:cNvPicPr preferRelativeResize="0"/>
          <p:nvPr/>
        </p:nvPicPr>
        <p:blipFill>
          <a:blip r:embed="rId3">
            <a:alphaModFix/>
          </a:blip>
          <a:stretch>
            <a:fillRect/>
          </a:stretch>
        </p:blipFill>
        <p:spPr>
          <a:xfrm>
            <a:off x="152400" y="152400"/>
            <a:ext cx="8839200" cy="462913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8"/>
          <p:cNvSpPr txBox="1"/>
          <p:nvPr/>
        </p:nvSpPr>
        <p:spPr>
          <a:xfrm>
            <a:off x="287800" y="454950"/>
            <a:ext cx="7620000" cy="5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0000FF"/>
                </a:solidFill>
                <a:latin typeface="Archivo"/>
                <a:ea typeface="Archivo"/>
                <a:cs typeface="Archivo"/>
                <a:sym typeface="Archivo"/>
              </a:rPr>
              <a:t>Boosting – </a:t>
            </a:r>
            <a:r>
              <a:rPr b="1" lang="es" sz="2400">
                <a:solidFill>
                  <a:srgbClr val="0000FF"/>
                </a:solidFill>
                <a:latin typeface="Archivo"/>
                <a:ea typeface="Archivo"/>
                <a:cs typeface="Archivo"/>
                <a:sym typeface="Archivo"/>
              </a:rPr>
              <a:t>Gradient Boosting</a:t>
            </a:r>
            <a:endParaRPr b="1" sz="2400">
              <a:solidFill>
                <a:srgbClr val="0000FF"/>
              </a:solidFill>
              <a:latin typeface="Archivo"/>
              <a:ea typeface="Archivo"/>
              <a:cs typeface="Archivo"/>
              <a:sym typeface="Archivo"/>
            </a:endParaRPr>
          </a:p>
        </p:txBody>
      </p:sp>
      <p:sp>
        <p:nvSpPr>
          <p:cNvPr id="153" name="Google Shape;153;p28"/>
          <p:cNvSpPr txBox="1"/>
          <p:nvPr/>
        </p:nvSpPr>
        <p:spPr>
          <a:xfrm>
            <a:off x="394950" y="1087650"/>
            <a:ext cx="8191500" cy="9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100">
                <a:solidFill>
                  <a:schemeClr val="dk2"/>
                </a:solidFill>
              </a:rPr>
              <a:t>¿En qué se diferencia de AdaBoost?</a:t>
            </a:r>
            <a:endParaRPr b="1" sz="21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En un </a:t>
            </a:r>
            <a:r>
              <a:rPr lang="es" sz="1800">
                <a:solidFill>
                  <a:schemeClr val="dk2"/>
                </a:solidFill>
              </a:rPr>
              <a:t>ensamble</a:t>
            </a:r>
            <a:r>
              <a:rPr lang="es" sz="1800">
                <a:solidFill>
                  <a:schemeClr val="dk2"/>
                </a:solidFill>
              </a:rPr>
              <a:t> Gradient Boosting que </a:t>
            </a:r>
            <a:r>
              <a:rPr b="1" lang="es" sz="1800">
                <a:solidFill>
                  <a:schemeClr val="dk2"/>
                </a:solidFill>
              </a:rPr>
              <a:t>cada modelo intenta </a:t>
            </a:r>
            <a:r>
              <a:rPr b="1" lang="es" sz="1800">
                <a:solidFill>
                  <a:schemeClr val="dk2"/>
                </a:solidFill>
                <a:highlight>
                  <a:srgbClr val="CFE2F3"/>
                </a:highlight>
              </a:rPr>
              <a:t>corregir los errores residuales del modelo anterior</a:t>
            </a:r>
            <a:r>
              <a:rPr lang="es" sz="1800">
                <a:solidFill>
                  <a:schemeClr val="dk2"/>
                </a:solidFill>
                <a:highlight>
                  <a:srgbClr val="CFE2F3"/>
                </a:highlight>
              </a:rPr>
              <a:t>,</a:t>
            </a:r>
            <a:r>
              <a:rPr lang="es" sz="1800">
                <a:solidFill>
                  <a:schemeClr val="dk2"/>
                </a:solidFill>
              </a:rPr>
              <a:t> </a:t>
            </a:r>
            <a:r>
              <a:rPr b="1" lang="es" sz="1800">
                <a:solidFill>
                  <a:schemeClr val="dk2"/>
                </a:solidFill>
              </a:rPr>
              <a:t>minimizando una función de pérdida mediante </a:t>
            </a:r>
            <a:r>
              <a:rPr b="1" lang="es" sz="1800">
                <a:solidFill>
                  <a:schemeClr val="dk2"/>
                </a:solidFill>
                <a:highlight>
                  <a:srgbClr val="CFE2F3"/>
                </a:highlight>
              </a:rPr>
              <a:t>un enfoque de descenso por gradiente</a:t>
            </a:r>
            <a:r>
              <a:rPr lang="es" sz="1800">
                <a:solidFill>
                  <a:schemeClr val="dk2"/>
                </a:solidFill>
              </a:rPr>
              <a:t>.</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54" name="Google Shape;154;p28"/>
          <p:cNvSpPr txBox="1"/>
          <p:nvPr/>
        </p:nvSpPr>
        <p:spPr>
          <a:xfrm>
            <a:off x="394950" y="3599875"/>
            <a:ext cx="8298600" cy="5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000">
                <a:solidFill>
                  <a:schemeClr val="dk2"/>
                </a:solidFill>
              </a:rPr>
              <a:t>¿Qué significa esto? </a:t>
            </a:r>
            <a:endParaRPr b="1" sz="2000">
              <a:solidFill>
                <a:schemeClr val="dk2"/>
              </a:solidFill>
            </a:endParaRPr>
          </a:p>
          <a:p>
            <a:pPr indent="0" lvl="0" marL="0" rtl="0" algn="l">
              <a:spcBef>
                <a:spcPts val="0"/>
              </a:spcBef>
              <a:spcAft>
                <a:spcPts val="0"/>
              </a:spcAft>
              <a:buNone/>
            </a:pPr>
            <a:r>
              <a:rPr lang="es" sz="2000">
                <a:solidFill>
                  <a:schemeClr val="dk2"/>
                </a:solidFill>
              </a:rPr>
              <a:t>Veamos los cambios que aplica </a:t>
            </a:r>
            <a:r>
              <a:rPr i="1" lang="es" sz="2000">
                <a:solidFill>
                  <a:schemeClr val="dk2"/>
                </a:solidFill>
              </a:rPr>
              <a:t>principalmente</a:t>
            </a:r>
            <a:r>
              <a:rPr lang="es" sz="2000">
                <a:solidFill>
                  <a:schemeClr val="dk2"/>
                </a:solidFill>
              </a:rPr>
              <a:t> en los</a:t>
            </a:r>
            <a:r>
              <a:rPr b="1" lang="es" sz="2000">
                <a:solidFill>
                  <a:schemeClr val="dk2"/>
                </a:solidFill>
              </a:rPr>
              <a:t> </a:t>
            </a:r>
            <a:r>
              <a:rPr b="1" lang="es" sz="2000">
                <a:solidFill>
                  <a:schemeClr val="dk2"/>
                </a:solidFill>
                <a:highlight>
                  <a:srgbClr val="D9EAD3"/>
                </a:highlight>
              </a:rPr>
              <a:t>PASOS 3 Y 4.</a:t>
            </a:r>
            <a:endParaRPr b="1" sz="2000">
              <a:solidFill>
                <a:schemeClr val="dk2"/>
              </a:solidFill>
              <a:highlight>
                <a:srgbClr val="D9EAD3"/>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txBox="1"/>
          <p:nvPr/>
        </p:nvSpPr>
        <p:spPr>
          <a:xfrm>
            <a:off x="204450" y="454950"/>
            <a:ext cx="7620000" cy="5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0000FF"/>
                </a:solidFill>
                <a:latin typeface="Archivo"/>
                <a:ea typeface="Archivo"/>
                <a:cs typeface="Archivo"/>
                <a:sym typeface="Archivo"/>
              </a:rPr>
              <a:t>Boosting – Gradient Boosting</a:t>
            </a:r>
            <a:endParaRPr b="1" sz="2400">
              <a:solidFill>
                <a:srgbClr val="0000FF"/>
              </a:solidFill>
              <a:latin typeface="Archivo"/>
              <a:ea typeface="Archivo"/>
              <a:cs typeface="Archivo"/>
              <a:sym typeface="Archivo"/>
            </a:endParaRPr>
          </a:p>
        </p:txBody>
      </p:sp>
      <p:sp>
        <p:nvSpPr>
          <p:cNvPr id="160" name="Google Shape;160;p29"/>
          <p:cNvSpPr txBox="1"/>
          <p:nvPr/>
        </p:nvSpPr>
        <p:spPr>
          <a:xfrm>
            <a:off x="394950" y="926975"/>
            <a:ext cx="8191500" cy="9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61" name="Google Shape;161;p29"/>
          <p:cNvSpPr txBox="1"/>
          <p:nvPr/>
        </p:nvSpPr>
        <p:spPr>
          <a:xfrm>
            <a:off x="204450" y="1105475"/>
            <a:ext cx="8298600" cy="9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highlight>
                  <a:srgbClr val="D9EAD3"/>
                </a:highlight>
              </a:rPr>
              <a:t>PASO 3</a:t>
            </a:r>
            <a:r>
              <a:rPr b="1" lang="es" sz="1800">
                <a:solidFill>
                  <a:schemeClr val="dk2"/>
                </a:solidFill>
              </a:rPr>
              <a:t>: </a:t>
            </a:r>
            <a:endParaRPr b="1"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Luego de identificar los errores cometidos por el primer modelo (P2), </a:t>
            </a:r>
            <a:r>
              <a:rPr b="1" lang="es" sz="1800">
                <a:solidFill>
                  <a:schemeClr val="dk2"/>
                </a:solidFill>
              </a:rPr>
              <a:t>AdaBoost</a:t>
            </a:r>
            <a:r>
              <a:rPr lang="es" sz="1800">
                <a:solidFill>
                  <a:schemeClr val="dk2"/>
                </a:solidFill>
              </a:rPr>
              <a:t> aumenta el peso de los casos donde el modelo anterior cometió errores.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En cambio, </a:t>
            </a:r>
            <a:r>
              <a:rPr b="1" lang="es" sz="1800" u="sng">
                <a:solidFill>
                  <a:schemeClr val="dk2"/>
                </a:solidFill>
              </a:rPr>
              <a:t>Gradient Boosting calcula los residuos</a:t>
            </a:r>
            <a:r>
              <a:rPr lang="es" sz="1800">
                <a:solidFill>
                  <a:schemeClr val="dk2"/>
                </a:solidFill>
              </a:rPr>
              <a:t> (errores) entre las predicciones del modelo actual y los valores verdaderos.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800">
                <a:solidFill>
                  <a:schemeClr val="dk2"/>
                </a:solidFill>
              </a:rPr>
              <a:t>El siguiente modelo se entrena para </a:t>
            </a:r>
            <a:r>
              <a:rPr b="1" lang="es" sz="1800" u="sng">
                <a:solidFill>
                  <a:schemeClr val="dk2"/>
                </a:solidFill>
              </a:rPr>
              <a:t>predecir los residuos</a:t>
            </a:r>
            <a:r>
              <a:rPr b="1" lang="es" sz="1800">
                <a:solidFill>
                  <a:schemeClr val="dk2"/>
                </a:solidFill>
              </a:rPr>
              <a:t> del modelo anterior. </a:t>
            </a:r>
            <a:r>
              <a:rPr lang="es" sz="1800">
                <a:solidFill>
                  <a:schemeClr val="dk2"/>
                </a:solidFill>
              </a:rPr>
              <a:t>La meta es ajustar un nuevo modelo para minimizar estos residuos.</a:t>
            </a:r>
            <a:endParaRPr b="1"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nvSpPr>
        <p:spPr>
          <a:xfrm>
            <a:off x="204450" y="189675"/>
            <a:ext cx="7620000" cy="5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0000FF"/>
                </a:solidFill>
                <a:latin typeface="Archivo"/>
                <a:ea typeface="Archivo"/>
                <a:cs typeface="Archivo"/>
                <a:sym typeface="Archivo"/>
              </a:rPr>
              <a:t>Boosting – Gradient Boosting</a:t>
            </a:r>
            <a:endParaRPr b="1" sz="2400">
              <a:solidFill>
                <a:srgbClr val="0000FF"/>
              </a:solidFill>
              <a:latin typeface="Archivo"/>
              <a:ea typeface="Archivo"/>
              <a:cs typeface="Archivo"/>
              <a:sym typeface="Archivo"/>
            </a:endParaRPr>
          </a:p>
        </p:txBody>
      </p:sp>
      <p:sp>
        <p:nvSpPr>
          <p:cNvPr id="167" name="Google Shape;167;p30"/>
          <p:cNvSpPr txBox="1"/>
          <p:nvPr/>
        </p:nvSpPr>
        <p:spPr>
          <a:xfrm>
            <a:off x="204450" y="890200"/>
            <a:ext cx="8298600" cy="9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highlight>
                  <a:srgbClr val="D9EAD3"/>
                </a:highlight>
              </a:rPr>
              <a:t>PASO 4</a:t>
            </a:r>
            <a:r>
              <a:rPr b="1" lang="es" sz="1800">
                <a:solidFill>
                  <a:schemeClr val="dk2"/>
                </a:solidFill>
              </a:rPr>
              <a:t>: </a:t>
            </a:r>
            <a:r>
              <a:rPr b="1" lang="es" sz="1800">
                <a:solidFill>
                  <a:schemeClr val="dk2"/>
                </a:solidFill>
              </a:rPr>
              <a:t>¿Cómo se ensamblan los resultados?</a:t>
            </a:r>
            <a:endParaRPr b="1"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700">
                <a:solidFill>
                  <a:schemeClr val="dk2"/>
                </a:solidFill>
              </a:rPr>
              <a:t>Las </a:t>
            </a:r>
            <a:r>
              <a:rPr b="1" lang="es" sz="1700">
                <a:solidFill>
                  <a:schemeClr val="dk2"/>
                </a:solidFill>
              </a:rPr>
              <a:t>predicciones se actualizan en cada iteración</a:t>
            </a:r>
            <a:r>
              <a:rPr lang="es" sz="1700">
                <a:solidFill>
                  <a:schemeClr val="dk2"/>
                </a:solidFill>
              </a:rPr>
              <a:t>, sumando las predicciones del nuevo modelo débil ajustado. </a:t>
            </a:r>
            <a:endParaRPr sz="1700">
              <a:solidFill>
                <a:schemeClr val="dk2"/>
              </a:solidFill>
            </a:endParaRPr>
          </a:p>
          <a:p>
            <a:pPr indent="0" lvl="0" marL="0" rtl="0" algn="l">
              <a:spcBef>
                <a:spcPts val="0"/>
              </a:spcBef>
              <a:spcAft>
                <a:spcPts val="0"/>
              </a:spcAft>
              <a:buNone/>
            </a:pPr>
            <a:r>
              <a:t/>
            </a:r>
            <a:endParaRPr sz="1700">
              <a:solidFill>
                <a:schemeClr val="dk2"/>
              </a:solidFill>
            </a:endParaRPr>
          </a:p>
          <a:p>
            <a:pPr indent="0" lvl="0" marL="0" rtl="0" algn="l">
              <a:spcBef>
                <a:spcPts val="0"/>
              </a:spcBef>
              <a:spcAft>
                <a:spcPts val="0"/>
              </a:spcAft>
              <a:buNone/>
            </a:pPr>
            <a:r>
              <a:rPr lang="es" sz="1700">
                <a:solidFill>
                  <a:schemeClr val="dk2"/>
                </a:solidFill>
              </a:rPr>
              <a:t>                     </a:t>
            </a:r>
            <a:r>
              <a:rPr b="1" lang="es" sz="1700">
                <a:solidFill>
                  <a:schemeClr val="dk2"/>
                </a:solidFill>
              </a:rPr>
              <a:t> y^ = y^ +</a:t>
            </a:r>
            <a:r>
              <a:rPr b="1" lang="es" sz="1700">
                <a:solidFill>
                  <a:schemeClr val="dk2"/>
                </a:solidFill>
              </a:rPr>
              <a:t> η⋅h(x)</a:t>
            </a:r>
            <a:endParaRPr b="1" sz="1700">
              <a:solidFill>
                <a:schemeClr val="dk2"/>
              </a:solidFill>
            </a:endParaRPr>
          </a:p>
          <a:p>
            <a:pPr indent="457200" lvl="0" marL="1828800" rtl="0" algn="l">
              <a:spcBef>
                <a:spcPts val="0"/>
              </a:spcBef>
              <a:spcAft>
                <a:spcPts val="0"/>
              </a:spcAft>
              <a:buClr>
                <a:schemeClr val="dk1"/>
              </a:buClr>
              <a:buSzPts val="1100"/>
              <a:buFont typeface="Arial"/>
              <a:buNone/>
            </a:pPr>
            <a:r>
              <a:rPr lang="es" sz="1300">
                <a:solidFill>
                  <a:schemeClr val="dk2"/>
                </a:solidFill>
              </a:rPr>
              <a:t>                      Donde </a:t>
            </a:r>
            <a:r>
              <a:rPr b="1" lang="es" sz="1300">
                <a:solidFill>
                  <a:schemeClr val="dk2"/>
                </a:solidFill>
              </a:rPr>
              <a:t>η </a:t>
            </a:r>
            <a:r>
              <a:rPr lang="es" sz="1300">
                <a:solidFill>
                  <a:schemeClr val="dk2"/>
                </a:solidFill>
              </a:rPr>
              <a:t>es el learning rate y </a:t>
            </a:r>
            <a:r>
              <a:rPr b="1" lang="es" sz="1300">
                <a:solidFill>
                  <a:schemeClr val="dk2"/>
                </a:solidFill>
              </a:rPr>
              <a:t>h(x)</a:t>
            </a:r>
            <a:r>
              <a:rPr lang="es" sz="1300">
                <a:solidFill>
                  <a:schemeClr val="dk2"/>
                </a:solidFill>
              </a:rPr>
              <a:t> es el nuevo modelo débil.</a:t>
            </a:r>
            <a:endParaRPr sz="1300">
              <a:solidFill>
                <a:schemeClr val="dk2"/>
              </a:solidFill>
            </a:endParaRPr>
          </a:p>
          <a:p>
            <a:pPr indent="0" lvl="0" marL="0" rtl="0" algn="l">
              <a:spcBef>
                <a:spcPts val="0"/>
              </a:spcBef>
              <a:spcAft>
                <a:spcPts val="0"/>
              </a:spcAft>
              <a:buNone/>
            </a:pPr>
            <a:r>
              <a:t/>
            </a:r>
            <a:endParaRPr sz="1700">
              <a:solidFill>
                <a:schemeClr val="dk2"/>
              </a:solidFill>
            </a:endParaRPr>
          </a:p>
          <a:p>
            <a:pPr indent="0" lvl="0" marL="0" rtl="0" algn="l">
              <a:spcBef>
                <a:spcPts val="0"/>
              </a:spcBef>
              <a:spcAft>
                <a:spcPts val="0"/>
              </a:spcAft>
              <a:buNone/>
            </a:pPr>
            <a:r>
              <a:rPr lang="es" sz="1700">
                <a:solidFill>
                  <a:schemeClr val="dk2"/>
                </a:solidFill>
              </a:rPr>
              <a:t>Este proceso hace que los residuos sean cada vez más pequeños. </a:t>
            </a:r>
            <a:endParaRPr sz="1700">
              <a:solidFill>
                <a:schemeClr val="dk2"/>
              </a:solidFill>
            </a:endParaRPr>
          </a:p>
          <a:p>
            <a:pPr indent="0" lvl="0" marL="0" rtl="0" algn="l">
              <a:spcBef>
                <a:spcPts val="0"/>
              </a:spcBef>
              <a:spcAft>
                <a:spcPts val="0"/>
              </a:spcAft>
              <a:buNone/>
            </a:pPr>
            <a:r>
              <a:t/>
            </a:r>
            <a:endParaRPr sz="1700">
              <a:solidFill>
                <a:schemeClr val="dk2"/>
              </a:solidFill>
            </a:endParaRPr>
          </a:p>
          <a:p>
            <a:pPr indent="0" lvl="0" marL="0" rtl="0" algn="l">
              <a:spcBef>
                <a:spcPts val="0"/>
              </a:spcBef>
              <a:spcAft>
                <a:spcPts val="0"/>
              </a:spcAft>
              <a:buNone/>
            </a:pPr>
            <a:r>
              <a:rPr lang="es" sz="1700">
                <a:solidFill>
                  <a:schemeClr val="dk2"/>
                </a:solidFill>
              </a:rPr>
              <a:t>La predicción de los residuos del modelo está ponderada por el hiperparámetro </a:t>
            </a:r>
            <a:r>
              <a:rPr b="1" lang="es" sz="1600">
                <a:solidFill>
                  <a:schemeClr val="dk2"/>
                </a:solidFill>
                <a:latin typeface="Roboto Mono"/>
                <a:ea typeface="Roboto Mono"/>
                <a:cs typeface="Roboto Mono"/>
                <a:sym typeface="Roboto Mono"/>
              </a:rPr>
              <a:t>learn_rate</a:t>
            </a:r>
            <a:r>
              <a:rPr lang="es" sz="1700">
                <a:solidFill>
                  <a:schemeClr val="dk2"/>
                </a:solidFill>
              </a:rPr>
              <a:t>. Un valor más bajo significa que el modelo da un paso más pequeño en la dirección sugerida por cada árbol, reduciendo el riesgo de sobreajuste.</a:t>
            </a:r>
            <a:endParaRPr sz="1700">
              <a:solidFill>
                <a:schemeClr val="dk2"/>
              </a:solidFill>
            </a:endParaRPr>
          </a:p>
          <a:p>
            <a:pPr indent="0" lvl="0" marL="0" rtl="0" algn="l">
              <a:spcBef>
                <a:spcPts val="0"/>
              </a:spcBef>
              <a:spcAft>
                <a:spcPts val="0"/>
              </a:spcAft>
              <a:buNone/>
            </a:pPr>
            <a:r>
              <a:rPr lang="es">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nvSpPr>
        <p:spPr>
          <a:xfrm>
            <a:off x="121100" y="225825"/>
            <a:ext cx="7620000" cy="5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0000FF"/>
                </a:solidFill>
                <a:latin typeface="Archivo"/>
                <a:ea typeface="Archivo"/>
                <a:cs typeface="Archivo"/>
                <a:sym typeface="Archivo"/>
              </a:rPr>
              <a:t>Boosting</a:t>
            </a:r>
            <a:endParaRPr b="1" sz="2400">
              <a:solidFill>
                <a:srgbClr val="0000FF"/>
              </a:solidFill>
              <a:latin typeface="Archivo"/>
              <a:ea typeface="Archivo"/>
              <a:cs typeface="Archivo"/>
              <a:sym typeface="Archivo"/>
            </a:endParaRPr>
          </a:p>
        </p:txBody>
      </p:sp>
      <p:sp>
        <p:nvSpPr>
          <p:cNvPr id="173" name="Google Shape;173;p31"/>
          <p:cNvSpPr txBox="1"/>
          <p:nvPr/>
        </p:nvSpPr>
        <p:spPr>
          <a:xfrm>
            <a:off x="156800" y="836075"/>
            <a:ext cx="8751000" cy="425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dk2"/>
                </a:solidFill>
              </a:rPr>
              <a:t>¿Cómo se define la</a:t>
            </a:r>
            <a:r>
              <a:rPr b="1" lang="es" sz="2000">
                <a:solidFill>
                  <a:schemeClr val="dk2"/>
                </a:solidFill>
              </a:rPr>
              <a:t> cantidad de árboles </a:t>
            </a:r>
            <a:r>
              <a:rPr lang="es" sz="2000">
                <a:solidFill>
                  <a:schemeClr val="dk2"/>
                </a:solidFill>
              </a:rPr>
              <a:t>que forman parte del ensamble? </a:t>
            </a:r>
            <a:endParaRPr sz="20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900">
                <a:solidFill>
                  <a:schemeClr val="dk2"/>
                </a:solidFill>
              </a:rPr>
              <a:t>Sí, ¡es un </a:t>
            </a:r>
            <a:r>
              <a:rPr b="1" lang="es" sz="1900">
                <a:solidFill>
                  <a:schemeClr val="dk2"/>
                </a:solidFill>
              </a:rPr>
              <a:t>hiperparámetro</a:t>
            </a:r>
            <a:r>
              <a:rPr lang="es" sz="1900">
                <a:solidFill>
                  <a:schemeClr val="dk2"/>
                </a:solidFill>
              </a:rPr>
              <a:t> del modelo</a:t>
            </a:r>
            <a:r>
              <a:rPr lang="es" sz="1900">
                <a:solidFill>
                  <a:schemeClr val="dk2"/>
                </a:solidFill>
              </a:rPr>
              <a:t>!</a:t>
            </a:r>
            <a:endParaRPr sz="19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Es posible definir la cantidad de árboles a partir de un hiperparámetro como:</a:t>
            </a:r>
            <a:endParaRPr sz="1800">
              <a:solidFill>
                <a:schemeClr val="dk2"/>
              </a:solidFill>
            </a:endParaRPr>
          </a:p>
          <a:p>
            <a:pPr indent="-342900" lvl="0" marL="457200" rtl="0" algn="l">
              <a:spcBef>
                <a:spcPts val="0"/>
              </a:spcBef>
              <a:spcAft>
                <a:spcPts val="0"/>
              </a:spcAft>
              <a:buClr>
                <a:schemeClr val="dk2"/>
              </a:buClr>
              <a:buSzPts val="1800"/>
              <a:buChar char="-"/>
            </a:pPr>
            <a:r>
              <a:rPr b="1" lang="es" sz="1500">
                <a:solidFill>
                  <a:srgbClr val="E69138"/>
                </a:solidFill>
                <a:latin typeface="Roboto Mono"/>
                <a:ea typeface="Roboto Mono"/>
                <a:cs typeface="Roboto Mono"/>
                <a:sym typeface="Roboto Mono"/>
              </a:rPr>
              <a:t>n_estimators</a:t>
            </a:r>
            <a:r>
              <a:rPr lang="es" sz="1500">
                <a:solidFill>
                  <a:schemeClr val="dk1"/>
                </a:solidFill>
              </a:rPr>
              <a:t> </a:t>
            </a:r>
            <a:r>
              <a:rPr lang="es" sz="1500">
                <a:solidFill>
                  <a:schemeClr val="dk2"/>
                </a:solidFill>
              </a:rPr>
              <a:t>en AdaBoost.</a:t>
            </a:r>
            <a:endParaRPr sz="1800">
              <a:solidFill>
                <a:schemeClr val="dk2"/>
              </a:solidFill>
            </a:endParaRPr>
          </a:p>
          <a:p>
            <a:pPr indent="-323850" lvl="0" marL="457200" rtl="0" algn="l">
              <a:spcBef>
                <a:spcPts val="0"/>
              </a:spcBef>
              <a:spcAft>
                <a:spcPts val="0"/>
              </a:spcAft>
              <a:buClr>
                <a:schemeClr val="dk2"/>
              </a:buClr>
              <a:buSzPts val="1500"/>
              <a:buChar char="-"/>
            </a:pPr>
            <a:r>
              <a:rPr b="1" lang="es" sz="1500">
                <a:solidFill>
                  <a:srgbClr val="E69138"/>
                </a:solidFill>
                <a:latin typeface="Roboto Mono"/>
                <a:ea typeface="Roboto Mono"/>
                <a:cs typeface="Roboto Mono"/>
                <a:sym typeface="Roboto Mono"/>
              </a:rPr>
              <a:t>num_boost_round</a:t>
            </a:r>
            <a:r>
              <a:rPr lang="es" sz="1500">
                <a:solidFill>
                  <a:schemeClr val="dk1"/>
                </a:solidFill>
              </a:rPr>
              <a:t> </a:t>
            </a:r>
            <a:r>
              <a:rPr lang="es" sz="1500">
                <a:solidFill>
                  <a:schemeClr val="dk2"/>
                </a:solidFill>
              </a:rPr>
              <a:t>en XGBoost.</a:t>
            </a:r>
            <a:endParaRPr sz="1500">
              <a:solidFill>
                <a:schemeClr val="dk1"/>
              </a:solidFill>
            </a:endParaRPr>
          </a:p>
          <a:p>
            <a:pPr indent="-323850" lvl="0" marL="457200" rtl="0" algn="l">
              <a:spcBef>
                <a:spcPts val="0"/>
              </a:spcBef>
              <a:spcAft>
                <a:spcPts val="0"/>
              </a:spcAft>
              <a:buClr>
                <a:schemeClr val="dk2"/>
              </a:buClr>
              <a:buSzPts val="1500"/>
              <a:buChar char="-"/>
            </a:pPr>
            <a:r>
              <a:rPr b="1" lang="es" sz="1500">
                <a:solidFill>
                  <a:srgbClr val="E69138"/>
                </a:solidFill>
                <a:latin typeface="Roboto Mono"/>
                <a:ea typeface="Roboto Mono"/>
                <a:cs typeface="Roboto Mono"/>
                <a:sym typeface="Roboto Mono"/>
              </a:rPr>
              <a:t>nrounds</a:t>
            </a:r>
            <a:r>
              <a:rPr lang="es" sz="1500">
                <a:solidFill>
                  <a:schemeClr val="dk2"/>
                </a:solidFill>
              </a:rPr>
              <a:t> en LightGBM.</a:t>
            </a:r>
            <a:endParaRPr sz="15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Y también es posible utilizar </a:t>
            </a:r>
            <a:r>
              <a:rPr lang="es" sz="1800">
                <a:solidFill>
                  <a:schemeClr val="dk2"/>
                </a:solidFill>
                <a:highlight>
                  <a:srgbClr val="FFF2CC"/>
                </a:highlight>
              </a:rPr>
              <a:t>técnicas de “early stopping” (detención anticipada):</a:t>
            </a:r>
            <a:endParaRPr sz="1800">
              <a:solidFill>
                <a:schemeClr val="dk2"/>
              </a:solidFill>
              <a:highlight>
                <a:srgbClr val="FFF2CC"/>
              </a:highlight>
            </a:endParaRPr>
          </a:p>
          <a:p>
            <a:pPr indent="-323850" lvl="0" marL="457200" rtl="0" algn="l">
              <a:spcBef>
                <a:spcPts val="0"/>
              </a:spcBef>
              <a:spcAft>
                <a:spcPts val="0"/>
              </a:spcAft>
              <a:buClr>
                <a:schemeClr val="dk2"/>
              </a:buClr>
              <a:buSzPts val="1500"/>
              <a:buChar char="-"/>
            </a:pPr>
            <a:r>
              <a:rPr b="1" lang="es" sz="1500">
                <a:solidFill>
                  <a:srgbClr val="E69138"/>
                </a:solidFill>
                <a:latin typeface="Roboto Mono"/>
                <a:ea typeface="Roboto Mono"/>
                <a:cs typeface="Roboto Mono"/>
                <a:sym typeface="Roboto Mono"/>
              </a:rPr>
              <a:t>early_stopping_rounds</a:t>
            </a:r>
            <a:r>
              <a:rPr lang="es" sz="1500">
                <a:solidFill>
                  <a:schemeClr val="dk1"/>
                </a:solidFill>
              </a:rPr>
              <a:t> </a:t>
            </a:r>
            <a:r>
              <a:rPr lang="es" sz="1500">
                <a:solidFill>
                  <a:schemeClr val="dk2"/>
                </a:solidFill>
              </a:rPr>
              <a:t>en XGBoost y LightGBM (también es un HP!)</a:t>
            </a:r>
            <a:endParaRPr sz="1500">
              <a:solidFill>
                <a:schemeClr val="dk1"/>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El “</a:t>
            </a:r>
            <a:r>
              <a:rPr lang="es" sz="1800">
                <a:solidFill>
                  <a:schemeClr val="dk2"/>
                </a:solidFill>
              </a:rPr>
              <a:t>early stopping”</a:t>
            </a:r>
            <a:r>
              <a:rPr lang="es" sz="1800">
                <a:solidFill>
                  <a:schemeClr val="dk2"/>
                </a:solidFill>
              </a:rPr>
              <a:t>  permite que el modelo detenga el entrenamiento si después de un número determinado de iteraciones consecutivas el rendimiento del modelo no mejora. </a:t>
            </a:r>
            <a:endParaRPr sz="1800">
              <a:solidFill>
                <a:schemeClr val="dk2"/>
              </a:solidFill>
            </a:endParaRPr>
          </a:p>
          <a:p>
            <a:pPr indent="0" lvl="0" marL="0" rtl="0" algn="l">
              <a:spcBef>
                <a:spcPts val="0"/>
              </a:spcBef>
              <a:spcAft>
                <a:spcPts val="0"/>
              </a:spcAft>
              <a:buNone/>
            </a:pPr>
            <a:r>
              <a:rPr lang="es" sz="1800">
                <a:solidFill>
                  <a:schemeClr val="dk2"/>
                </a:solidFill>
              </a:rPr>
              <a:t> </a:t>
            </a:r>
            <a:endParaRPr sz="1800">
              <a:solidFill>
                <a:schemeClr val="dk2"/>
              </a:solidFill>
            </a:endParaRPr>
          </a:p>
        </p:txBody>
      </p:sp>
      <p:sp>
        <p:nvSpPr>
          <p:cNvPr id="174" name="Google Shape;174;p31"/>
          <p:cNvSpPr txBox="1"/>
          <p:nvPr/>
        </p:nvSpPr>
        <p:spPr>
          <a:xfrm>
            <a:off x="6024450" y="225825"/>
            <a:ext cx="3192900" cy="38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600">
                <a:solidFill>
                  <a:srgbClr val="E69138"/>
                </a:solidFill>
                <a:highlight>
                  <a:srgbClr val="FFF2CC"/>
                </a:highlight>
              </a:rPr>
              <a:t>ALGUNAS ACLARACIONES</a:t>
            </a:r>
            <a:endParaRPr b="1" sz="1500">
              <a:solidFill>
                <a:srgbClr val="E69138"/>
              </a:solidFill>
              <a:highlight>
                <a:srgbClr val="FFF2CC"/>
              </a:highlight>
            </a:endParaRPr>
          </a:p>
        </p:txBody>
      </p:sp>
      <p:sp>
        <p:nvSpPr>
          <p:cNvPr id="175" name="Google Shape;175;p31"/>
          <p:cNvSpPr/>
          <p:nvPr/>
        </p:nvSpPr>
        <p:spPr>
          <a:xfrm>
            <a:off x="121100" y="873350"/>
            <a:ext cx="8691600" cy="452400"/>
          </a:xfrm>
          <a:prstGeom prst="rect">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6" name="Google Shape;176;p31"/>
          <p:cNvCxnSpPr/>
          <p:nvPr/>
        </p:nvCxnSpPr>
        <p:spPr>
          <a:xfrm>
            <a:off x="240175" y="3206975"/>
            <a:ext cx="8548800" cy="35700"/>
          </a:xfrm>
          <a:prstGeom prst="straightConnector1">
            <a:avLst/>
          </a:prstGeom>
          <a:noFill/>
          <a:ln cap="flat" cmpd="sng" w="28575">
            <a:solidFill>
              <a:srgbClr val="E69138"/>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2"/>
          <p:cNvSpPr txBox="1"/>
          <p:nvPr/>
        </p:nvSpPr>
        <p:spPr>
          <a:xfrm>
            <a:off x="121100" y="156400"/>
            <a:ext cx="7620000" cy="5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0000FF"/>
                </a:solidFill>
                <a:latin typeface="Archivo"/>
                <a:ea typeface="Archivo"/>
                <a:cs typeface="Archivo"/>
                <a:sym typeface="Archivo"/>
              </a:rPr>
              <a:t>AdaBoost vs Gradient </a:t>
            </a:r>
            <a:r>
              <a:rPr b="1" lang="es" sz="2400">
                <a:solidFill>
                  <a:srgbClr val="0000FF"/>
                </a:solidFill>
                <a:latin typeface="Archivo"/>
                <a:ea typeface="Archivo"/>
                <a:cs typeface="Archivo"/>
                <a:sym typeface="Archivo"/>
              </a:rPr>
              <a:t>Boosting</a:t>
            </a:r>
            <a:endParaRPr b="1" sz="2400">
              <a:solidFill>
                <a:srgbClr val="0000FF"/>
              </a:solidFill>
              <a:latin typeface="Archivo"/>
              <a:ea typeface="Archivo"/>
              <a:cs typeface="Archivo"/>
              <a:sym typeface="Archivo"/>
            </a:endParaRPr>
          </a:p>
        </p:txBody>
      </p:sp>
      <p:graphicFrame>
        <p:nvGraphicFramePr>
          <p:cNvPr id="182" name="Google Shape;182;p32"/>
          <p:cNvGraphicFramePr/>
          <p:nvPr/>
        </p:nvGraphicFramePr>
        <p:xfrm>
          <a:off x="172175" y="776525"/>
          <a:ext cx="3000000" cy="3000000"/>
        </p:xfrm>
        <a:graphic>
          <a:graphicData uri="http://schemas.openxmlformats.org/drawingml/2006/table">
            <a:tbl>
              <a:tblPr>
                <a:noFill/>
                <a:tableStyleId>{6BF09D17-B4F8-46A7-85EE-8E5D1E76FAC9}</a:tableStyleId>
              </a:tblPr>
              <a:tblGrid>
                <a:gridCol w="1513475"/>
                <a:gridCol w="3166275"/>
                <a:gridCol w="3864775"/>
              </a:tblGrid>
              <a:tr h="200025">
                <a:tc>
                  <a:txBody>
                    <a:bodyPr/>
                    <a:lstStyle/>
                    <a:p>
                      <a:pPr indent="0" lvl="0" marL="0" rtl="0" algn="l">
                        <a:spcBef>
                          <a:spcPts val="0"/>
                        </a:spcBef>
                        <a:spcAft>
                          <a:spcPts val="0"/>
                        </a:spcAft>
                        <a:buNone/>
                      </a:pPr>
                      <a:r>
                        <a:t/>
                      </a:r>
                      <a:endParaRPr sz="1000"/>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a:t>AdaBoost</a:t>
                      </a:r>
                      <a:endParaRPr b="1"/>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s"/>
                        <a:t>Gradient Boosting</a:t>
                      </a:r>
                      <a:endParaRPr b="1"/>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b="1" lang="es" sz="1000"/>
                        <a:t>Aplicación típica</a:t>
                      </a:r>
                      <a:endParaRPr b="1"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Clasificación binaria.</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Regresión y clasificación.</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476250">
                <a:tc>
                  <a:txBody>
                    <a:bodyPr/>
                    <a:lstStyle/>
                    <a:p>
                      <a:pPr indent="0" lvl="0" marL="0" rtl="0" algn="l">
                        <a:lnSpc>
                          <a:spcPct val="115000"/>
                        </a:lnSpc>
                        <a:spcBef>
                          <a:spcPts val="0"/>
                        </a:spcBef>
                        <a:spcAft>
                          <a:spcPts val="0"/>
                        </a:spcAft>
                        <a:buNone/>
                      </a:pPr>
                      <a:r>
                        <a:rPr b="1" lang="es" sz="1000"/>
                        <a:t>Estructura del ensamble</a:t>
                      </a:r>
                      <a:endParaRPr b="1"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Ajusta cada modelo aumentando los pesos de las instancias difíciles.</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Ajusta cada modelo minimizando la función de pérdida en los residuales.</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b="1" lang="es" sz="1000"/>
                        <a:t>Peso de las instancias</a:t>
                      </a:r>
                      <a:endParaRPr b="1"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Aumenta los pesos de las instancias mal clasificadas.</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No ajusta pesos; optimiza errores residuales directamente.</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b="1" lang="es" sz="1000"/>
                        <a:t>Función de pérdida</a:t>
                      </a:r>
                      <a:endParaRPr b="1"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No usa explícitamente una función de pérdida estándar.</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Usa funciones como MSE (para regresión) o log loss (para clasificación).</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476250">
                <a:tc>
                  <a:txBody>
                    <a:bodyPr/>
                    <a:lstStyle/>
                    <a:p>
                      <a:pPr indent="0" lvl="0" marL="0" rtl="0" algn="l">
                        <a:lnSpc>
                          <a:spcPct val="115000"/>
                        </a:lnSpc>
                        <a:spcBef>
                          <a:spcPts val="0"/>
                        </a:spcBef>
                        <a:spcAft>
                          <a:spcPts val="0"/>
                        </a:spcAft>
                        <a:buNone/>
                      </a:pPr>
                      <a:r>
                        <a:rPr b="1" lang="es" sz="1000"/>
                        <a:t>Tasa de aprendizaje (learning_rate)</a:t>
                      </a:r>
                      <a:endParaRPr b="1"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No se suele utilizar.</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Se</a:t>
                      </a:r>
                      <a:r>
                        <a:rPr lang="es" sz="1000"/>
                        <a:t> </a:t>
                      </a:r>
                      <a:r>
                        <a:rPr lang="es" sz="1000"/>
                        <a:t>recomienda</a:t>
                      </a:r>
                      <a:r>
                        <a:rPr lang="es" sz="1000"/>
                        <a:t> para controlar el impacto de cada árbol.</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476250">
                <a:tc>
                  <a:txBody>
                    <a:bodyPr/>
                    <a:lstStyle/>
                    <a:p>
                      <a:pPr indent="0" lvl="0" marL="0" rtl="0" algn="l">
                        <a:lnSpc>
                          <a:spcPct val="115000"/>
                        </a:lnSpc>
                        <a:spcBef>
                          <a:spcPts val="0"/>
                        </a:spcBef>
                        <a:spcAft>
                          <a:spcPts val="0"/>
                        </a:spcAft>
                        <a:buNone/>
                      </a:pPr>
                      <a:r>
                        <a:rPr b="1" lang="es" sz="1000"/>
                        <a:t>Manejo de muestras (subsampling)</a:t>
                      </a:r>
                      <a:endParaRPr b="1"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Usa todas las instancias en cada iteración.</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Puede hacer subsampling para reducir la varianza y mejorar generalización.</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b="1" lang="es" sz="1000"/>
                        <a:t>Overfitting (sobreajuste)</a:t>
                      </a:r>
                      <a:endParaRPr b="1"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Más propenso al sobreajuste si los datos contienen outliers.</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Menos propenso al sobreajuste, especialmente si se usa una tasa de aprendizaje baja.</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b="1" lang="es" sz="1000"/>
                        <a:t>Velocidad</a:t>
                      </a:r>
                      <a:endParaRPr b="1"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Más rápido al entrenar.</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Más lento debido al proceso iterativo y al cálculo de gradientes.</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b="1" lang="es" sz="1000"/>
                        <a:t>Comportamiento </a:t>
                      </a:r>
                      <a:endParaRPr b="1" sz="1000"/>
                    </a:p>
                    <a:p>
                      <a:pPr indent="0" lvl="0" marL="0" rtl="0" algn="l">
                        <a:lnSpc>
                          <a:spcPct val="115000"/>
                        </a:lnSpc>
                        <a:spcBef>
                          <a:spcPts val="0"/>
                        </a:spcBef>
                        <a:spcAft>
                          <a:spcPts val="0"/>
                        </a:spcAft>
                        <a:buNone/>
                      </a:pPr>
                      <a:r>
                        <a:rPr b="1" lang="es" sz="1000"/>
                        <a:t>ante ruido</a:t>
                      </a:r>
                      <a:endParaRPr b="1"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Más sensible al ruido y outliers.</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Más robusto frente a ruido, ya que optimiza globalmente la pérdida.</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b="1" lang="es" sz="1000"/>
                        <a:t>Escalabilidad</a:t>
                      </a:r>
                      <a:endParaRPr b="1"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Menos eficiente con grandes volúmenes de datos.</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s" sz="1000"/>
                        <a:t>Mejor escalabilidad, especialmente con implementaciones optimizadas.</a:t>
                      </a:r>
                      <a:endParaRPr sz="10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nvSpPr>
        <p:spPr>
          <a:xfrm>
            <a:off x="243300" y="237925"/>
            <a:ext cx="7620000" cy="5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0000FF"/>
                </a:solidFill>
                <a:latin typeface="Archivo"/>
                <a:ea typeface="Archivo"/>
                <a:cs typeface="Archivo"/>
                <a:sym typeface="Archivo"/>
              </a:rPr>
              <a:t>Gradient Boosting – XGBoost</a:t>
            </a:r>
            <a:endParaRPr b="1" sz="2400">
              <a:solidFill>
                <a:srgbClr val="0000FF"/>
              </a:solidFill>
              <a:latin typeface="Archivo"/>
              <a:ea typeface="Archivo"/>
              <a:cs typeface="Archivo"/>
              <a:sym typeface="Archivo"/>
            </a:endParaRPr>
          </a:p>
        </p:txBody>
      </p:sp>
      <p:sp>
        <p:nvSpPr>
          <p:cNvPr id="188" name="Google Shape;188;p33"/>
          <p:cNvSpPr txBox="1"/>
          <p:nvPr/>
        </p:nvSpPr>
        <p:spPr>
          <a:xfrm>
            <a:off x="204450" y="1002750"/>
            <a:ext cx="8249400" cy="3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t> </a:t>
            </a:r>
            <a:r>
              <a:rPr lang="es" sz="1600"/>
              <a:t>Este es el modelo que vamos a usar hoy en la clase práctica: </a:t>
            </a:r>
            <a:r>
              <a:rPr lang="es" sz="1300" u="sng">
                <a:solidFill>
                  <a:srgbClr val="0000EE"/>
                </a:solidFill>
                <a:highlight>
                  <a:srgbClr val="FCFCFC"/>
                </a:highlight>
                <a:hlinkClick r:id="rId3">
                  <a:extLst>
                    <a:ext uri="{A12FA001-AC4F-418D-AE19-62706E023703}">
                      <ahyp:hlinkClr val="tx"/>
                    </a:ext>
                  </a:extLst>
                </a:hlinkClick>
              </a:rPr>
              <a:t>R/boost_tree_xgboost.R</a:t>
            </a:r>
            <a:endParaRPr sz="2000">
              <a:solidFill>
                <a:schemeClr val="dk2"/>
              </a:solidFill>
            </a:endParaRPr>
          </a:p>
        </p:txBody>
      </p:sp>
      <p:sp>
        <p:nvSpPr>
          <p:cNvPr id="189" name="Google Shape;189;p33"/>
          <p:cNvSpPr txBox="1"/>
          <p:nvPr/>
        </p:nvSpPr>
        <p:spPr>
          <a:xfrm>
            <a:off x="243300" y="1487175"/>
            <a:ext cx="8657400" cy="335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¿Qué hiperparámetros tenemos disponibles para optimizar?</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36550" lvl="0" marL="457200" rtl="0" algn="l">
              <a:spcBef>
                <a:spcPts val="0"/>
              </a:spcBef>
              <a:spcAft>
                <a:spcPts val="0"/>
              </a:spcAft>
              <a:buClr>
                <a:schemeClr val="dk2"/>
              </a:buClr>
              <a:buSzPts val="1700"/>
              <a:buChar char="●"/>
            </a:pPr>
            <a:r>
              <a:rPr b="1" lang="es" sz="1700">
                <a:solidFill>
                  <a:schemeClr val="dk2"/>
                </a:solidFill>
                <a:highlight>
                  <a:srgbClr val="CFE2F3"/>
                </a:highlight>
                <a:latin typeface="Roboto Mono"/>
                <a:ea typeface="Roboto Mono"/>
                <a:cs typeface="Roboto Mono"/>
                <a:sym typeface="Roboto Mono"/>
              </a:rPr>
              <a:t>tree_depth:</a:t>
            </a:r>
            <a:r>
              <a:rPr lang="es" sz="1700">
                <a:solidFill>
                  <a:schemeClr val="dk2"/>
                </a:solidFill>
                <a:highlight>
                  <a:srgbClr val="CFE2F3"/>
                </a:highlight>
              </a:rPr>
              <a:t> Profundidad del árbol.</a:t>
            </a:r>
            <a:endParaRPr sz="1700">
              <a:solidFill>
                <a:schemeClr val="dk2"/>
              </a:solidFill>
              <a:highlight>
                <a:srgbClr val="CFE2F3"/>
              </a:highlight>
            </a:endParaRPr>
          </a:p>
          <a:p>
            <a:pPr indent="-336550" lvl="0" marL="457200" rtl="0" algn="l">
              <a:spcBef>
                <a:spcPts val="0"/>
              </a:spcBef>
              <a:spcAft>
                <a:spcPts val="0"/>
              </a:spcAft>
              <a:buClr>
                <a:schemeClr val="dk2"/>
              </a:buClr>
              <a:buSzPts val="1700"/>
              <a:buChar char="●"/>
            </a:pPr>
            <a:r>
              <a:rPr b="1" lang="es" sz="1700">
                <a:solidFill>
                  <a:schemeClr val="dk2"/>
                </a:solidFill>
                <a:highlight>
                  <a:srgbClr val="CFE2F3"/>
                </a:highlight>
                <a:latin typeface="Roboto Mono"/>
                <a:ea typeface="Roboto Mono"/>
                <a:cs typeface="Roboto Mono"/>
                <a:sym typeface="Roboto Mono"/>
              </a:rPr>
              <a:t>trees:</a:t>
            </a:r>
            <a:r>
              <a:rPr lang="es" sz="1700">
                <a:solidFill>
                  <a:schemeClr val="dk2"/>
                </a:solidFill>
                <a:highlight>
                  <a:srgbClr val="CFE2F3"/>
                </a:highlight>
              </a:rPr>
              <a:t> Número de estimadores (modelos del ensamble) </a:t>
            </a:r>
            <a:endParaRPr sz="1700">
              <a:solidFill>
                <a:schemeClr val="dk2"/>
              </a:solidFill>
              <a:highlight>
                <a:srgbClr val="CFE2F3"/>
              </a:highlight>
            </a:endParaRPr>
          </a:p>
          <a:p>
            <a:pPr indent="-336550" lvl="0" marL="457200" rtl="0" algn="l">
              <a:spcBef>
                <a:spcPts val="0"/>
              </a:spcBef>
              <a:spcAft>
                <a:spcPts val="0"/>
              </a:spcAft>
              <a:buClr>
                <a:schemeClr val="dk2"/>
              </a:buClr>
              <a:buSzPts val="1700"/>
              <a:buChar char="●"/>
            </a:pPr>
            <a:r>
              <a:rPr b="1" lang="es" sz="1700">
                <a:solidFill>
                  <a:schemeClr val="dk2"/>
                </a:solidFill>
                <a:highlight>
                  <a:srgbClr val="CFE2F3"/>
                </a:highlight>
                <a:latin typeface="Roboto Mono"/>
                <a:ea typeface="Roboto Mono"/>
                <a:cs typeface="Roboto Mono"/>
                <a:sym typeface="Roboto Mono"/>
              </a:rPr>
              <a:t>learn_rate:</a:t>
            </a:r>
            <a:r>
              <a:rPr lang="es" sz="1700">
                <a:solidFill>
                  <a:schemeClr val="dk2"/>
                </a:solidFill>
                <a:highlight>
                  <a:srgbClr val="CFE2F3"/>
                </a:highlight>
              </a:rPr>
              <a:t> Tasa de aprendizaje (valor predeterminado: 0.3). </a:t>
            </a:r>
            <a:endParaRPr sz="1700">
              <a:solidFill>
                <a:schemeClr val="dk2"/>
              </a:solidFill>
              <a:highlight>
                <a:srgbClr val="CFE2F3"/>
              </a:highlight>
            </a:endParaRPr>
          </a:p>
          <a:p>
            <a:pPr indent="-336550" lvl="0" marL="457200" rtl="0" algn="l">
              <a:spcBef>
                <a:spcPts val="0"/>
              </a:spcBef>
              <a:spcAft>
                <a:spcPts val="0"/>
              </a:spcAft>
              <a:buClr>
                <a:schemeClr val="dk2"/>
              </a:buClr>
              <a:buSzPts val="1700"/>
              <a:buChar char="●"/>
            </a:pPr>
            <a:r>
              <a:rPr b="1" lang="es" sz="1700">
                <a:solidFill>
                  <a:schemeClr val="dk2"/>
                </a:solidFill>
                <a:highlight>
                  <a:srgbClr val="CFE2F3"/>
                </a:highlight>
                <a:latin typeface="Roboto Mono"/>
                <a:ea typeface="Roboto Mono"/>
                <a:cs typeface="Roboto Mono"/>
                <a:sym typeface="Roboto Mono"/>
              </a:rPr>
              <a:t>mtry:</a:t>
            </a:r>
            <a:r>
              <a:rPr lang="es" sz="1700">
                <a:solidFill>
                  <a:schemeClr val="dk2"/>
                </a:solidFill>
                <a:highlight>
                  <a:srgbClr val="CFE2F3"/>
                </a:highlight>
              </a:rPr>
              <a:t> Número de predictores seleccionados aleatoriamente </a:t>
            </a:r>
            <a:endParaRPr sz="1700">
              <a:solidFill>
                <a:schemeClr val="dk2"/>
              </a:solidFill>
              <a:highlight>
                <a:srgbClr val="CFE2F3"/>
              </a:highlight>
            </a:endParaRPr>
          </a:p>
          <a:p>
            <a:pPr indent="-336550" lvl="0" marL="457200" rtl="0" algn="l">
              <a:spcBef>
                <a:spcPts val="0"/>
              </a:spcBef>
              <a:spcAft>
                <a:spcPts val="0"/>
              </a:spcAft>
              <a:buClr>
                <a:schemeClr val="dk2"/>
              </a:buClr>
              <a:buSzPts val="1700"/>
              <a:buChar char="●"/>
            </a:pPr>
            <a:r>
              <a:rPr b="1" lang="es" sz="1700">
                <a:solidFill>
                  <a:schemeClr val="dk2"/>
                </a:solidFill>
                <a:latin typeface="Roboto Mono"/>
                <a:ea typeface="Roboto Mono"/>
                <a:cs typeface="Roboto Mono"/>
                <a:sym typeface="Roboto Mono"/>
              </a:rPr>
              <a:t>min_n:</a:t>
            </a:r>
            <a:r>
              <a:rPr lang="es" sz="1700">
                <a:solidFill>
                  <a:schemeClr val="dk2"/>
                </a:solidFill>
              </a:rPr>
              <a:t> Tamaño mínimo del nodo </a:t>
            </a:r>
            <a:endParaRPr sz="1700">
              <a:solidFill>
                <a:schemeClr val="dk2"/>
              </a:solidFill>
            </a:endParaRPr>
          </a:p>
          <a:p>
            <a:pPr indent="-336550" lvl="0" marL="457200" rtl="0" algn="l">
              <a:spcBef>
                <a:spcPts val="0"/>
              </a:spcBef>
              <a:spcAft>
                <a:spcPts val="0"/>
              </a:spcAft>
              <a:buClr>
                <a:schemeClr val="dk2"/>
              </a:buClr>
              <a:buSzPts val="1700"/>
              <a:buChar char="●"/>
            </a:pPr>
            <a:r>
              <a:rPr b="1" lang="es" sz="1700">
                <a:solidFill>
                  <a:schemeClr val="dk2"/>
                </a:solidFill>
                <a:latin typeface="Roboto Mono"/>
                <a:ea typeface="Roboto Mono"/>
                <a:cs typeface="Roboto Mono"/>
                <a:sym typeface="Roboto Mono"/>
              </a:rPr>
              <a:t>loss_reduction: </a:t>
            </a:r>
            <a:r>
              <a:rPr lang="es" sz="1700">
                <a:solidFill>
                  <a:schemeClr val="dk2"/>
                </a:solidFill>
              </a:rPr>
              <a:t>Controla la ganancia mínima necesaria para que se realice una división adicional en un nodo de un </a:t>
            </a:r>
            <a:r>
              <a:rPr lang="es" sz="1700">
                <a:solidFill>
                  <a:schemeClr val="dk2"/>
                </a:solidFill>
              </a:rPr>
              <a:t>árbol</a:t>
            </a:r>
            <a:r>
              <a:rPr lang="es" sz="1700">
                <a:solidFill>
                  <a:schemeClr val="dk2"/>
                </a:solidFill>
              </a:rPr>
              <a:t> individual. Determina si una división es lo suficientemente útil para reducir la pérdida (error) del modelo.</a:t>
            </a:r>
            <a:endParaRPr sz="1700">
              <a:solidFill>
                <a:schemeClr val="dk2"/>
              </a:solidFill>
            </a:endParaRPr>
          </a:p>
          <a:p>
            <a:pPr indent="-336550" lvl="0" marL="457200" rtl="0" algn="l">
              <a:spcBef>
                <a:spcPts val="0"/>
              </a:spcBef>
              <a:spcAft>
                <a:spcPts val="0"/>
              </a:spcAft>
              <a:buClr>
                <a:schemeClr val="dk2"/>
              </a:buClr>
              <a:buSzPts val="1700"/>
              <a:buChar char="●"/>
            </a:pPr>
            <a:r>
              <a:rPr b="1" lang="es" sz="1700">
                <a:solidFill>
                  <a:schemeClr val="dk2"/>
                </a:solidFill>
                <a:latin typeface="Roboto Mono"/>
                <a:ea typeface="Roboto Mono"/>
                <a:cs typeface="Roboto Mono"/>
                <a:sym typeface="Roboto Mono"/>
              </a:rPr>
              <a:t>sample_size:</a:t>
            </a:r>
            <a:r>
              <a:rPr lang="es" sz="1700">
                <a:solidFill>
                  <a:schemeClr val="dk2"/>
                </a:solidFill>
              </a:rPr>
              <a:t> Proporción de observaciones muestreadas</a:t>
            </a:r>
            <a:endParaRPr sz="1700">
              <a:solidFill>
                <a:schemeClr val="dk2"/>
              </a:solidFill>
            </a:endParaRPr>
          </a:p>
          <a:p>
            <a:pPr indent="-336550" lvl="0" marL="457200" rtl="0" algn="l">
              <a:spcBef>
                <a:spcPts val="0"/>
              </a:spcBef>
              <a:spcAft>
                <a:spcPts val="0"/>
              </a:spcAft>
              <a:buClr>
                <a:schemeClr val="dk2"/>
              </a:buClr>
              <a:buSzPts val="1700"/>
              <a:buChar char="●"/>
            </a:pPr>
            <a:r>
              <a:rPr b="1" lang="es" sz="1700">
                <a:solidFill>
                  <a:schemeClr val="dk2"/>
                </a:solidFill>
                <a:latin typeface="Roboto Mono"/>
                <a:ea typeface="Roboto Mono"/>
                <a:cs typeface="Roboto Mono"/>
                <a:sym typeface="Roboto Mono"/>
              </a:rPr>
              <a:t>stop_iter: </a:t>
            </a:r>
            <a:r>
              <a:rPr lang="es" sz="1700">
                <a:solidFill>
                  <a:schemeClr val="dk2"/>
                </a:solidFill>
              </a:rPr>
              <a:t>Número de iteraciones antes de detenerse.</a:t>
            </a:r>
            <a:endParaRPr sz="17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