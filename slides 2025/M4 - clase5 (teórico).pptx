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g2d358761edd_0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 name="Google Shape;59;g2d358761edd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g2d358761edd_0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 name="Google Shape;67;g2d358761edd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g2d4b635be1b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 name="Google Shape;75;g2d4b635be1b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g2d4b635be1b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 name="Google Shape;83;g2d4b635be1b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g2d4b635be1b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 name="Google Shape;89;g2d4b635be1b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g2d4b635be1b_0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 name="Google Shape;95;g2d4b635be1b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2d4b635be1b_0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 name="Google Shape;103;g2d4b635be1b_0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2d4b635be1b_0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 name="Google Shape;113;g2d4b635be1b_0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g2d4b635be1b_0_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9" name="Google Shape;119;g2d4b635be1b_0_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2d4b635be1b_0_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 name="Google Shape;127;g2d4b635be1b_0_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2d4b635be1b_0_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3" name="Google Shape;133;g2d4b635be1b_0_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2d4b635be1b_0_1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2" name="Google Shape;142;g2d4b635be1b_0_1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2d4b635be1b_0_1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1" name="Google Shape;151;g2d4b635be1b_0_1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g2d4b635be1b_0_1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9" name="Google Shape;159;g2d4b635be1b_0_1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2d4b635be1b_0_1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9" name="Google Shape;169;g2d4b635be1b_0_1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g2d4b635be1b_0_1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5" name="Google Shape;175;g2d4b635be1b_0_1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2d4b635be1b_0_1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1" name="Google Shape;181;g2d4b635be1b_0_1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g2d4b635be1b_0_1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7" name="Google Shape;187;g2d4b635be1b_0_1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g2d4b635be1b_0_1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5" name="Google Shape;195;g2d4b635be1b_0_1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2d4b635be1b_0_1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1" name="Google Shape;201;g2d4b635be1b_0_1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g2d4b635be1b_0_1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7" name="Google Shape;207;g2d4b635be1b_0_1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3.png"/><Relationship Id="rId4" Type="http://schemas.openxmlformats.org/officeDocument/2006/relationships/image" Target="../media/image1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7.png"/><Relationship Id="rId4" Type="http://schemas.openxmlformats.org/officeDocument/2006/relationships/image" Target="../media/image11.png"/><Relationship Id="rId5" Type="http://schemas.openxmlformats.org/officeDocument/2006/relationships/image" Target="../media/image1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7.png"/><Relationship Id="rId4" Type="http://schemas.openxmlformats.org/officeDocument/2006/relationships/image" Target="../media/image15.png"/><Relationship Id="rId5" Type="http://schemas.openxmlformats.org/officeDocument/2006/relationships/image" Target="../media/image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1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1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nvSpPr>
        <p:spPr>
          <a:xfrm>
            <a:off x="7681575" y="4659525"/>
            <a:ext cx="2905200" cy="393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600">
                <a:solidFill>
                  <a:schemeClr val="dk2"/>
                </a:solidFill>
              </a:rPr>
              <a:t>COMISIÓN 2</a:t>
            </a:r>
            <a:r>
              <a:rPr b="1" lang="es" sz="1600">
                <a:solidFill>
                  <a:schemeClr val="dk2"/>
                </a:solidFill>
              </a:rPr>
              <a:t> </a:t>
            </a:r>
            <a:endParaRPr b="1" sz="1600">
              <a:solidFill>
                <a:schemeClr val="dk2"/>
              </a:solidFill>
            </a:endParaRPr>
          </a:p>
        </p:txBody>
      </p:sp>
      <p:pic>
        <p:nvPicPr>
          <p:cNvPr id="55" name="Google Shape;55;p13"/>
          <p:cNvPicPr preferRelativeResize="0"/>
          <p:nvPr/>
        </p:nvPicPr>
        <p:blipFill rotWithShape="1">
          <a:blip r:embed="rId3">
            <a:alphaModFix/>
          </a:blip>
          <a:srcRect b="0" l="0" r="0" t="75659"/>
          <a:stretch/>
        </p:blipFill>
        <p:spPr>
          <a:xfrm>
            <a:off x="152400" y="2814077"/>
            <a:ext cx="8839199" cy="975049"/>
          </a:xfrm>
          <a:prstGeom prst="rect">
            <a:avLst/>
          </a:prstGeom>
          <a:noFill/>
          <a:ln>
            <a:noFill/>
          </a:ln>
        </p:spPr>
      </p:pic>
      <p:sp>
        <p:nvSpPr>
          <p:cNvPr id="56" name="Google Shape;56;p13"/>
          <p:cNvSpPr txBox="1"/>
          <p:nvPr/>
        </p:nvSpPr>
        <p:spPr>
          <a:xfrm>
            <a:off x="752150" y="1206725"/>
            <a:ext cx="7441500" cy="1686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4200">
                <a:solidFill>
                  <a:srgbClr val="0000FF"/>
                </a:solidFill>
              </a:rPr>
              <a:t>Aprendizaje no supervisado</a:t>
            </a:r>
            <a:endParaRPr b="1" sz="4200">
              <a:solidFill>
                <a:srgbClr val="0000FF"/>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 name="Shape 60"/>
        <p:cNvGrpSpPr/>
        <p:nvPr/>
      </p:nvGrpSpPr>
      <p:grpSpPr>
        <a:xfrm>
          <a:off x="0" y="0"/>
          <a:ext cx="0" cy="0"/>
          <a:chOff x="0" y="0"/>
          <a:chExt cx="0" cy="0"/>
        </a:xfrm>
      </p:grpSpPr>
      <p:sp>
        <p:nvSpPr>
          <p:cNvPr id="61" name="Google Shape;61;p14"/>
          <p:cNvSpPr txBox="1"/>
          <p:nvPr/>
        </p:nvSpPr>
        <p:spPr>
          <a:xfrm>
            <a:off x="381000" y="416725"/>
            <a:ext cx="7014900" cy="569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 sz="2500">
                <a:solidFill>
                  <a:srgbClr val="0000FF"/>
                </a:solidFill>
              </a:rPr>
              <a:t>Tipos de herramientas de Machine Learning</a:t>
            </a:r>
            <a:endParaRPr b="1" sz="2500">
              <a:solidFill>
                <a:srgbClr val="0000FF"/>
              </a:solidFill>
            </a:endParaRPr>
          </a:p>
        </p:txBody>
      </p:sp>
      <p:sp>
        <p:nvSpPr>
          <p:cNvPr id="62" name="Google Shape;62;p14"/>
          <p:cNvSpPr txBox="1"/>
          <p:nvPr/>
        </p:nvSpPr>
        <p:spPr>
          <a:xfrm>
            <a:off x="430700" y="1099550"/>
            <a:ext cx="8072400" cy="1178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800">
                <a:solidFill>
                  <a:schemeClr val="dk2"/>
                </a:solidFill>
              </a:rPr>
              <a:t>Las herramientas de machine learning </a:t>
            </a:r>
            <a:r>
              <a:rPr b="1" lang="es" sz="1800">
                <a:solidFill>
                  <a:schemeClr val="dk2"/>
                </a:solidFill>
              </a:rPr>
              <a:t>pueden clasificarse en dos grandes grupos</a:t>
            </a:r>
            <a:r>
              <a:rPr lang="es" sz="1800">
                <a:solidFill>
                  <a:schemeClr val="dk2"/>
                </a:solidFill>
              </a:rPr>
              <a:t>: </a:t>
            </a:r>
            <a:endParaRPr sz="1800">
              <a:solidFill>
                <a:schemeClr val="dk2"/>
              </a:solidFill>
            </a:endParaRPr>
          </a:p>
          <a:p>
            <a:pPr indent="0" lvl="0" marL="0" rtl="0" algn="l">
              <a:spcBef>
                <a:spcPts val="0"/>
              </a:spcBef>
              <a:spcAft>
                <a:spcPts val="0"/>
              </a:spcAft>
              <a:buNone/>
            </a:pPr>
            <a:r>
              <a:t/>
            </a:r>
            <a:endParaRPr sz="1800">
              <a:solidFill>
                <a:schemeClr val="dk2"/>
              </a:solidFill>
            </a:endParaRPr>
          </a:p>
          <a:p>
            <a:pPr indent="0" lvl="0" marL="0" rtl="0" algn="l">
              <a:spcBef>
                <a:spcPts val="0"/>
              </a:spcBef>
              <a:spcAft>
                <a:spcPts val="0"/>
              </a:spcAft>
              <a:buNone/>
            </a:pPr>
            <a:r>
              <a:rPr b="1" lang="es" sz="1900">
                <a:solidFill>
                  <a:schemeClr val="dk2"/>
                </a:solidFill>
              </a:rPr>
              <a:t>APRENDIZAJE SUPERVISADO:</a:t>
            </a:r>
            <a:endParaRPr b="1" sz="1900">
              <a:solidFill>
                <a:schemeClr val="dk2"/>
              </a:solidFill>
            </a:endParaRPr>
          </a:p>
        </p:txBody>
      </p:sp>
      <p:pic>
        <p:nvPicPr>
          <p:cNvPr id="63" name="Google Shape;63;p14"/>
          <p:cNvPicPr preferRelativeResize="0"/>
          <p:nvPr/>
        </p:nvPicPr>
        <p:blipFill rotWithShape="1">
          <a:blip r:embed="rId3">
            <a:alphaModFix/>
          </a:blip>
          <a:srcRect b="22305" l="0" r="0" t="0"/>
          <a:stretch/>
        </p:blipFill>
        <p:spPr>
          <a:xfrm>
            <a:off x="523875" y="2520225"/>
            <a:ext cx="8241175" cy="1615425"/>
          </a:xfrm>
          <a:prstGeom prst="rect">
            <a:avLst/>
          </a:prstGeom>
          <a:noFill/>
          <a:ln>
            <a:noFill/>
          </a:ln>
        </p:spPr>
      </p:pic>
      <p:sp>
        <p:nvSpPr>
          <p:cNvPr id="64" name="Google Shape;64;p14"/>
          <p:cNvSpPr txBox="1"/>
          <p:nvPr/>
        </p:nvSpPr>
        <p:spPr>
          <a:xfrm>
            <a:off x="6441225" y="70950"/>
            <a:ext cx="2786100" cy="384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1600">
                <a:solidFill>
                  <a:srgbClr val="0000FF"/>
                </a:solidFill>
                <a:highlight>
                  <a:srgbClr val="CFE2F3"/>
                </a:highlight>
              </a:rPr>
              <a:t>REPASO DE LA CLASE 1</a:t>
            </a:r>
            <a:endParaRPr b="1" sz="1500">
              <a:solidFill>
                <a:srgbClr val="0000FF"/>
              </a:solidFill>
              <a:highlight>
                <a:srgbClr val="CFE2F3"/>
              </a:highlight>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 name="Shape 68"/>
        <p:cNvGrpSpPr/>
        <p:nvPr/>
      </p:nvGrpSpPr>
      <p:grpSpPr>
        <a:xfrm>
          <a:off x="0" y="0"/>
          <a:ext cx="0" cy="0"/>
          <a:chOff x="0" y="0"/>
          <a:chExt cx="0" cy="0"/>
        </a:xfrm>
      </p:grpSpPr>
      <p:sp>
        <p:nvSpPr>
          <p:cNvPr id="69" name="Google Shape;69;p15"/>
          <p:cNvSpPr txBox="1"/>
          <p:nvPr/>
        </p:nvSpPr>
        <p:spPr>
          <a:xfrm>
            <a:off x="381000" y="416725"/>
            <a:ext cx="7038600" cy="569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 sz="2500">
                <a:solidFill>
                  <a:srgbClr val="0000FF"/>
                </a:solidFill>
              </a:rPr>
              <a:t>Tipos de herramientas de Machine Learning</a:t>
            </a:r>
            <a:endParaRPr b="1" sz="2500">
              <a:solidFill>
                <a:srgbClr val="0000FF"/>
              </a:solidFill>
            </a:endParaRPr>
          </a:p>
        </p:txBody>
      </p:sp>
      <p:sp>
        <p:nvSpPr>
          <p:cNvPr id="70" name="Google Shape;70;p15"/>
          <p:cNvSpPr txBox="1"/>
          <p:nvPr/>
        </p:nvSpPr>
        <p:spPr>
          <a:xfrm>
            <a:off x="430700" y="1099550"/>
            <a:ext cx="8072400" cy="1178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800">
                <a:solidFill>
                  <a:schemeClr val="dk2"/>
                </a:solidFill>
              </a:rPr>
              <a:t>Las herramientas de machine learning </a:t>
            </a:r>
            <a:r>
              <a:rPr b="1" lang="es" sz="1800">
                <a:solidFill>
                  <a:schemeClr val="dk2"/>
                </a:solidFill>
              </a:rPr>
              <a:t>pueden clasificarse en dos grandes grupos</a:t>
            </a:r>
            <a:r>
              <a:rPr lang="es" sz="1800">
                <a:solidFill>
                  <a:schemeClr val="dk2"/>
                </a:solidFill>
              </a:rPr>
              <a:t>: </a:t>
            </a:r>
            <a:endParaRPr sz="1800">
              <a:solidFill>
                <a:schemeClr val="dk2"/>
              </a:solidFill>
            </a:endParaRPr>
          </a:p>
          <a:p>
            <a:pPr indent="0" lvl="0" marL="0" rtl="0" algn="l">
              <a:spcBef>
                <a:spcPts val="0"/>
              </a:spcBef>
              <a:spcAft>
                <a:spcPts val="0"/>
              </a:spcAft>
              <a:buNone/>
            </a:pPr>
            <a:r>
              <a:t/>
            </a:r>
            <a:endParaRPr sz="1800">
              <a:solidFill>
                <a:schemeClr val="dk2"/>
              </a:solidFill>
            </a:endParaRPr>
          </a:p>
          <a:p>
            <a:pPr indent="0" lvl="0" marL="0" rtl="0" algn="l">
              <a:spcBef>
                <a:spcPts val="0"/>
              </a:spcBef>
              <a:spcAft>
                <a:spcPts val="0"/>
              </a:spcAft>
              <a:buNone/>
            </a:pPr>
            <a:r>
              <a:rPr b="1" lang="es" sz="1900">
                <a:solidFill>
                  <a:schemeClr val="dk2"/>
                </a:solidFill>
              </a:rPr>
              <a:t>APRENDIZAJE NO SUPERVISADO:</a:t>
            </a:r>
            <a:endParaRPr b="1" sz="1900">
              <a:solidFill>
                <a:schemeClr val="dk2"/>
              </a:solidFill>
            </a:endParaRPr>
          </a:p>
        </p:txBody>
      </p:sp>
      <p:pic>
        <p:nvPicPr>
          <p:cNvPr id="71" name="Google Shape;71;p15"/>
          <p:cNvPicPr preferRelativeResize="0"/>
          <p:nvPr/>
        </p:nvPicPr>
        <p:blipFill>
          <a:blip r:embed="rId3">
            <a:alphaModFix/>
          </a:blip>
          <a:stretch>
            <a:fillRect/>
          </a:stretch>
        </p:blipFill>
        <p:spPr>
          <a:xfrm>
            <a:off x="486888" y="2488401"/>
            <a:ext cx="8170227" cy="1825550"/>
          </a:xfrm>
          <a:prstGeom prst="rect">
            <a:avLst/>
          </a:prstGeom>
          <a:noFill/>
          <a:ln>
            <a:noFill/>
          </a:ln>
        </p:spPr>
      </p:pic>
      <p:sp>
        <p:nvSpPr>
          <p:cNvPr id="72" name="Google Shape;72;p15"/>
          <p:cNvSpPr txBox="1"/>
          <p:nvPr/>
        </p:nvSpPr>
        <p:spPr>
          <a:xfrm>
            <a:off x="6441225" y="70950"/>
            <a:ext cx="2786100" cy="384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1600">
                <a:solidFill>
                  <a:srgbClr val="0000FF"/>
                </a:solidFill>
                <a:highlight>
                  <a:srgbClr val="CFE2F3"/>
                </a:highlight>
              </a:rPr>
              <a:t>REPASO DE LA CLASE 1</a:t>
            </a:r>
            <a:endParaRPr b="1" sz="1500">
              <a:solidFill>
                <a:srgbClr val="0000FF"/>
              </a:solidFill>
              <a:highlight>
                <a:srgbClr val="CFE2F3"/>
              </a:highlight>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 name="Shape 76"/>
        <p:cNvGrpSpPr/>
        <p:nvPr/>
      </p:nvGrpSpPr>
      <p:grpSpPr>
        <a:xfrm>
          <a:off x="0" y="0"/>
          <a:ext cx="0" cy="0"/>
          <a:chOff x="0" y="0"/>
          <a:chExt cx="0" cy="0"/>
        </a:xfrm>
      </p:grpSpPr>
      <p:pic>
        <p:nvPicPr>
          <p:cNvPr id="77" name="Google Shape;77;p16"/>
          <p:cNvPicPr preferRelativeResize="0"/>
          <p:nvPr/>
        </p:nvPicPr>
        <p:blipFill>
          <a:blip r:embed="rId3">
            <a:alphaModFix/>
          </a:blip>
          <a:stretch>
            <a:fillRect/>
          </a:stretch>
        </p:blipFill>
        <p:spPr>
          <a:xfrm>
            <a:off x="200025" y="365075"/>
            <a:ext cx="7160076" cy="589350"/>
          </a:xfrm>
          <a:prstGeom prst="rect">
            <a:avLst/>
          </a:prstGeom>
          <a:noFill/>
          <a:ln>
            <a:noFill/>
          </a:ln>
        </p:spPr>
      </p:pic>
      <p:sp>
        <p:nvSpPr>
          <p:cNvPr id="78" name="Google Shape;78;p16"/>
          <p:cNvSpPr txBox="1"/>
          <p:nvPr/>
        </p:nvSpPr>
        <p:spPr>
          <a:xfrm>
            <a:off x="345300" y="954425"/>
            <a:ext cx="8453400" cy="738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700">
                <a:solidFill>
                  <a:schemeClr val="dk2"/>
                </a:solidFill>
              </a:rPr>
              <a:t>Es el estudio o la exploración de </a:t>
            </a:r>
            <a:r>
              <a:rPr b="1" lang="es" sz="1700">
                <a:solidFill>
                  <a:schemeClr val="dk2"/>
                </a:solidFill>
              </a:rPr>
              <a:t>cómo están representados datos y qué conclusiones podemos sacar</a:t>
            </a:r>
            <a:r>
              <a:rPr lang="es" sz="1700">
                <a:solidFill>
                  <a:schemeClr val="dk2"/>
                </a:solidFill>
              </a:rPr>
              <a:t> de dicha representación. </a:t>
            </a:r>
            <a:endParaRPr sz="1700">
              <a:solidFill>
                <a:schemeClr val="dk2"/>
              </a:solidFill>
            </a:endParaRPr>
          </a:p>
          <a:p>
            <a:pPr indent="0" lvl="0" marL="0" rtl="0" algn="l">
              <a:spcBef>
                <a:spcPts val="0"/>
              </a:spcBef>
              <a:spcAft>
                <a:spcPts val="0"/>
              </a:spcAft>
              <a:buNone/>
            </a:pPr>
            <a:r>
              <a:t/>
            </a:r>
            <a:endParaRPr sz="1800">
              <a:solidFill>
                <a:schemeClr val="dk2"/>
              </a:solidFill>
            </a:endParaRPr>
          </a:p>
          <a:p>
            <a:pPr indent="0" lvl="0" marL="0" rtl="0" algn="l">
              <a:spcBef>
                <a:spcPts val="0"/>
              </a:spcBef>
              <a:spcAft>
                <a:spcPts val="0"/>
              </a:spcAft>
              <a:buNone/>
            </a:pPr>
            <a:r>
              <a:t/>
            </a:r>
            <a:endParaRPr sz="1800">
              <a:solidFill>
                <a:schemeClr val="dk2"/>
              </a:solidFill>
            </a:endParaRPr>
          </a:p>
        </p:txBody>
      </p:sp>
      <p:pic>
        <p:nvPicPr>
          <p:cNvPr id="79" name="Google Shape;79;p16"/>
          <p:cNvPicPr preferRelativeResize="0"/>
          <p:nvPr/>
        </p:nvPicPr>
        <p:blipFill>
          <a:blip r:embed="rId4">
            <a:alphaModFix/>
          </a:blip>
          <a:stretch>
            <a:fillRect/>
          </a:stretch>
        </p:blipFill>
        <p:spPr>
          <a:xfrm>
            <a:off x="533413" y="1813938"/>
            <a:ext cx="7803024" cy="2244175"/>
          </a:xfrm>
          <a:prstGeom prst="rect">
            <a:avLst/>
          </a:prstGeom>
          <a:noFill/>
          <a:ln>
            <a:noFill/>
          </a:ln>
        </p:spPr>
      </p:pic>
      <p:sp>
        <p:nvSpPr>
          <p:cNvPr id="80" name="Google Shape;80;p16"/>
          <p:cNvSpPr txBox="1"/>
          <p:nvPr/>
        </p:nvSpPr>
        <p:spPr>
          <a:xfrm>
            <a:off x="386713" y="4179325"/>
            <a:ext cx="8096400" cy="738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700">
                <a:solidFill>
                  <a:schemeClr val="dk2"/>
                </a:solidFill>
              </a:rPr>
              <a:t>En lugar de recibir ejemplos etiquetados que indiquen cómo debe clasificar o predecir, </a:t>
            </a:r>
            <a:r>
              <a:rPr b="1" lang="es" sz="1700">
                <a:solidFill>
                  <a:schemeClr val="dk2"/>
                </a:solidFill>
              </a:rPr>
              <a:t>el modelo busca patrones, estructuras o relaciones en los datos</a:t>
            </a:r>
            <a:r>
              <a:rPr lang="es" sz="1700">
                <a:solidFill>
                  <a:schemeClr val="dk2"/>
                </a:solidFill>
              </a:rPr>
              <a:t>.</a:t>
            </a:r>
            <a:endParaRPr sz="1700">
              <a:solidFill>
                <a:schemeClr val="dk2"/>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17"/>
          <p:cNvSpPr txBox="1"/>
          <p:nvPr/>
        </p:nvSpPr>
        <p:spPr>
          <a:xfrm>
            <a:off x="216350" y="349475"/>
            <a:ext cx="8227200" cy="619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2600">
                <a:solidFill>
                  <a:srgbClr val="0000FF"/>
                </a:solidFill>
              </a:rPr>
              <a:t>¿Cuáles son las técnicas de </a:t>
            </a:r>
            <a:r>
              <a:rPr b="1" lang="es" sz="2600">
                <a:solidFill>
                  <a:srgbClr val="0000FF"/>
                </a:solidFill>
              </a:rPr>
              <a:t>aprendizaje</a:t>
            </a:r>
            <a:r>
              <a:rPr b="1" lang="es" sz="2600">
                <a:solidFill>
                  <a:srgbClr val="0000FF"/>
                </a:solidFill>
              </a:rPr>
              <a:t> no supervisado más utilizadas?</a:t>
            </a:r>
            <a:endParaRPr b="1" sz="2600">
              <a:solidFill>
                <a:srgbClr val="0000FF"/>
              </a:solidFill>
            </a:endParaRPr>
          </a:p>
        </p:txBody>
      </p:sp>
      <p:sp>
        <p:nvSpPr>
          <p:cNvPr id="86" name="Google Shape;86;p17"/>
          <p:cNvSpPr txBox="1"/>
          <p:nvPr/>
        </p:nvSpPr>
        <p:spPr>
          <a:xfrm>
            <a:off x="430675" y="1528175"/>
            <a:ext cx="8215200" cy="3202800"/>
          </a:xfrm>
          <a:prstGeom prst="rect">
            <a:avLst/>
          </a:prstGeom>
          <a:noFill/>
          <a:ln>
            <a:noFill/>
          </a:ln>
        </p:spPr>
        <p:txBody>
          <a:bodyPr anchorCtr="0" anchor="t" bIns="91425" lIns="91425" spcFirstLastPara="1" rIns="91425" wrap="square" tIns="91425">
            <a:noAutofit/>
          </a:bodyPr>
          <a:lstStyle/>
          <a:p>
            <a:pPr indent="-342900" lvl="0" marL="457200" rtl="0" algn="l">
              <a:spcBef>
                <a:spcPts val="0"/>
              </a:spcBef>
              <a:spcAft>
                <a:spcPts val="0"/>
              </a:spcAft>
              <a:buClr>
                <a:schemeClr val="dk2"/>
              </a:buClr>
              <a:buSzPts val="1800"/>
              <a:buChar char="●"/>
            </a:pPr>
            <a:r>
              <a:rPr b="1" lang="es" sz="1800" u="sng">
                <a:solidFill>
                  <a:schemeClr val="dk2"/>
                </a:solidFill>
              </a:rPr>
              <a:t>Reducción de dimensionalidad:</a:t>
            </a:r>
            <a:r>
              <a:rPr lang="es" sz="1800">
                <a:solidFill>
                  <a:schemeClr val="dk2"/>
                </a:solidFill>
              </a:rPr>
              <a:t> El objetivo es encontrar </a:t>
            </a:r>
            <a:r>
              <a:rPr b="1" lang="es" sz="1800">
                <a:solidFill>
                  <a:schemeClr val="dk2"/>
                </a:solidFill>
              </a:rPr>
              <a:t>combinaciones de variables que reemplacen a las originales para reducir la dimensión</a:t>
            </a:r>
            <a:r>
              <a:rPr lang="es" sz="1800">
                <a:solidFill>
                  <a:schemeClr val="dk2"/>
                </a:solidFill>
              </a:rPr>
              <a:t> del problema, manteniendo sus características más importantes. Se trata de “reescribir” los datos en una menor cantidad de variables (o dimensiones). (CLASE DE HOY!)</a:t>
            </a:r>
            <a:endParaRPr sz="1800">
              <a:solidFill>
                <a:schemeClr val="dk2"/>
              </a:solidFill>
            </a:endParaRPr>
          </a:p>
          <a:p>
            <a:pPr indent="0" lvl="0" marL="457200" rtl="0" algn="l">
              <a:spcBef>
                <a:spcPts val="0"/>
              </a:spcBef>
              <a:spcAft>
                <a:spcPts val="0"/>
              </a:spcAft>
              <a:buNone/>
            </a:pPr>
            <a:r>
              <a:t/>
            </a:r>
            <a:endParaRPr sz="1800">
              <a:solidFill>
                <a:schemeClr val="dk2"/>
              </a:solidFill>
            </a:endParaRPr>
          </a:p>
          <a:p>
            <a:pPr indent="0" lvl="0" marL="457200" rtl="0" algn="l">
              <a:spcBef>
                <a:spcPts val="0"/>
              </a:spcBef>
              <a:spcAft>
                <a:spcPts val="0"/>
              </a:spcAft>
              <a:buNone/>
            </a:pPr>
            <a:r>
              <a:t/>
            </a:r>
            <a:endParaRPr sz="1800">
              <a:solidFill>
                <a:schemeClr val="dk2"/>
              </a:solidFill>
            </a:endParaRPr>
          </a:p>
          <a:p>
            <a:pPr indent="-342900" lvl="0" marL="457200" rtl="0" algn="l">
              <a:spcBef>
                <a:spcPts val="0"/>
              </a:spcBef>
              <a:spcAft>
                <a:spcPts val="0"/>
              </a:spcAft>
              <a:buClr>
                <a:schemeClr val="dk2"/>
              </a:buClr>
              <a:buSzPts val="1800"/>
              <a:buChar char="●"/>
            </a:pPr>
            <a:r>
              <a:rPr b="1" lang="es" sz="1800" u="sng">
                <a:solidFill>
                  <a:schemeClr val="dk2"/>
                </a:solidFill>
              </a:rPr>
              <a:t>Clustering:</a:t>
            </a:r>
            <a:r>
              <a:rPr lang="es" sz="1800">
                <a:solidFill>
                  <a:schemeClr val="dk2"/>
                </a:solidFill>
              </a:rPr>
              <a:t> El objetivo es </a:t>
            </a:r>
            <a:r>
              <a:rPr b="1" lang="es" sz="1800">
                <a:solidFill>
                  <a:schemeClr val="dk2"/>
                </a:solidFill>
              </a:rPr>
              <a:t>agrupar casos “parecidos”</a:t>
            </a:r>
            <a:r>
              <a:rPr lang="es" sz="1800">
                <a:solidFill>
                  <a:schemeClr val="dk2"/>
                </a:solidFill>
              </a:rPr>
              <a:t>, que tengan una combinación </a:t>
            </a:r>
            <a:r>
              <a:rPr lang="es" sz="1800">
                <a:solidFill>
                  <a:schemeClr val="dk2"/>
                </a:solidFill>
              </a:rPr>
              <a:t>similar </a:t>
            </a:r>
            <a:r>
              <a:rPr lang="es" sz="1800">
                <a:solidFill>
                  <a:schemeClr val="dk2"/>
                </a:solidFill>
              </a:rPr>
              <a:t>de valores en las variables que tenemos disponibles. Se analiza la estructura de los datos para buscar subconjuntos de datos muy parecidos entre sí. </a:t>
            </a:r>
            <a:r>
              <a:rPr lang="es" sz="1800">
                <a:solidFill>
                  <a:schemeClr val="dk2"/>
                </a:solidFill>
              </a:rPr>
              <a:t>(CLASE QUE VIENE!)</a:t>
            </a:r>
            <a:endParaRPr sz="1800">
              <a:solidFill>
                <a:schemeClr val="dk2"/>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pic>
        <p:nvPicPr>
          <p:cNvPr id="91" name="Google Shape;91;p18"/>
          <p:cNvPicPr preferRelativeResize="0"/>
          <p:nvPr/>
        </p:nvPicPr>
        <p:blipFill>
          <a:blip r:embed="rId3">
            <a:alphaModFix/>
          </a:blip>
          <a:stretch>
            <a:fillRect/>
          </a:stretch>
        </p:blipFill>
        <p:spPr>
          <a:xfrm>
            <a:off x="152400" y="297325"/>
            <a:ext cx="7612524" cy="899325"/>
          </a:xfrm>
          <a:prstGeom prst="rect">
            <a:avLst/>
          </a:prstGeom>
          <a:noFill/>
          <a:ln>
            <a:noFill/>
          </a:ln>
        </p:spPr>
      </p:pic>
      <p:sp>
        <p:nvSpPr>
          <p:cNvPr id="92" name="Google Shape;92;p18"/>
          <p:cNvSpPr txBox="1"/>
          <p:nvPr/>
        </p:nvSpPr>
        <p:spPr>
          <a:xfrm>
            <a:off x="398850" y="1325775"/>
            <a:ext cx="8346300" cy="3381300"/>
          </a:xfrm>
          <a:prstGeom prst="rect">
            <a:avLst/>
          </a:prstGeom>
          <a:noFill/>
          <a:ln>
            <a:noFill/>
          </a:ln>
        </p:spPr>
        <p:txBody>
          <a:bodyPr anchorCtr="0" anchor="t" bIns="91425" lIns="91425" spcFirstLastPara="1" rIns="91425" wrap="square" tIns="91425">
            <a:noAutofit/>
          </a:bodyPr>
          <a:lstStyle/>
          <a:p>
            <a:pPr indent="0" lvl="0" marL="12700" rtl="0" algn="l">
              <a:lnSpc>
                <a:spcPct val="115000"/>
              </a:lnSpc>
              <a:spcBef>
                <a:spcPts val="0"/>
              </a:spcBef>
              <a:spcAft>
                <a:spcPts val="0"/>
              </a:spcAft>
              <a:buNone/>
            </a:pPr>
            <a:r>
              <a:rPr b="1" lang="es" sz="1900">
                <a:solidFill>
                  <a:schemeClr val="dk2"/>
                </a:solidFill>
              </a:rPr>
              <a:t>¿Todas las variables aportan información igual de relevante? </a:t>
            </a:r>
            <a:endParaRPr b="1" sz="1900">
              <a:solidFill>
                <a:schemeClr val="dk2"/>
              </a:solidFill>
            </a:endParaRPr>
          </a:p>
          <a:p>
            <a:pPr indent="0" lvl="0" marL="12700" rtl="0" algn="l">
              <a:lnSpc>
                <a:spcPct val="115000"/>
              </a:lnSpc>
              <a:spcBef>
                <a:spcPts val="0"/>
              </a:spcBef>
              <a:spcAft>
                <a:spcPts val="0"/>
              </a:spcAft>
              <a:buNone/>
            </a:pPr>
            <a:r>
              <a:t/>
            </a:r>
            <a:endParaRPr sz="1800">
              <a:solidFill>
                <a:schemeClr val="dk2"/>
              </a:solidFill>
            </a:endParaRPr>
          </a:p>
          <a:p>
            <a:pPr indent="0" lvl="0" marL="12700" rtl="0" algn="l">
              <a:lnSpc>
                <a:spcPct val="115000"/>
              </a:lnSpc>
              <a:spcBef>
                <a:spcPts val="0"/>
              </a:spcBef>
              <a:spcAft>
                <a:spcPts val="0"/>
              </a:spcAft>
              <a:buNone/>
            </a:pPr>
            <a:r>
              <a:rPr lang="es" sz="1800" u="sng">
                <a:solidFill>
                  <a:schemeClr val="dk2"/>
                </a:solidFill>
              </a:rPr>
              <a:t>Reduciendo la dimensión podemos:</a:t>
            </a:r>
            <a:endParaRPr sz="1800" u="sng">
              <a:solidFill>
                <a:schemeClr val="dk2"/>
              </a:solidFill>
            </a:endParaRPr>
          </a:p>
          <a:p>
            <a:pPr indent="0" lvl="0" marL="12700" rtl="0" algn="l">
              <a:lnSpc>
                <a:spcPct val="115000"/>
              </a:lnSpc>
              <a:spcBef>
                <a:spcPts val="0"/>
              </a:spcBef>
              <a:spcAft>
                <a:spcPts val="0"/>
              </a:spcAft>
              <a:buClr>
                <a:schemeClr val="dk1"/>
              </a:buClr>
              <a:buSzPts val="1100"/>
              <a:buFont typeface="Arial"/>
              <a:buNone/>
            </a:pPr>
            <a:r>
              <a:t/>
            </a:r>
            <a:endParaRPr sz="1100" u="sng">
              <a:solidFill>
                <a:schemeClr val="dk2"/>
              </a:solidFill>
            </a:endParaRPr>
          </a:p>
          <a:p>
            <a:pPr indent="-342900" lvl="0" marL="457200" rtl="0" algn="l">
              <a:lnSpc>
                <a:spcPct val="115000"/>
              </a:lnSpc>
              <a:spcBef>
                <a:spcPts val="0"/>
              </a:spcBef>
              <a:spcAft>
                <a:spcPts val="0"/>
              </a:spcAft>
              <a:buClr>
                <a:schemeClr val="dk2"/>
              </a:buClr>
              <a:buSzPts val="1800"/>
              <a:buChar char="●"/>
            </a:pPr>
            <a:r>
              <a:rPr lang="es" sz="1800">
                <a:solidFill>
                  <a:schemeClr val="dk2"/>
                </a:solidFill>
              </a:rPr>
              <a:t>Visualizar los datos en el espacio de dimensión reducida, más fácil de interpretar</a:t>
            </a:r>
            <a:endParaRPr sz="1800">
              <a:solidFill>
                <a:schemeClr val="dk2"/>
              </a:solidFill>
            </a:endParaRPr>
          </a:p>
          <a:p>
            <a:pPr indent="-342900" lvl="0" marL="457200" rtl="0" algn="l">
              <a:lnSpc>
                <a:spcPct val="115000"/>
              </a:lnSpc>
              <a:spcBef>
                <a:spcPts val="0"/>
              </a:spcBef>
              <a:spcAft>
                <a:spcPts val="0"/>
              </a:spcAft>
              <a:buClr>
                <a:schemeClr val="dk2"/>
              </a:buClr>
              <a:buSzPts val="1800"/>
              <a:buChar char="●"/>
            </a:pPr>
            <a:r>
              <a:rPr lang="es" sz="1800">
                <a:solidFill>
                  <a:schemeClr val="dk2"/>
                </a:solidFill>
              </a:rPr>
              <a:t>Comprimir la información: nos permite separar la señal del ruido (abstracción)</a:t>
            </a:r>
            <a:endParaRPr sz="1800">
              <a:solidFill>
                <a:schemeClr val="dk2"/>
              </a:solidFill>
            </a:endParaRPr>
          </a:p>
          <a:p>
            <a:pPr indent="-342900" lvl="0" marL="457200" rtl="0" algn="l">
              <a:lnSpc>
                <a:spcPct val="115000"/>
              </a:lnSpc>
              <a:spcBef>
                <a:spcPts val="0"/>
              </a:spcBef>
              <a:spcAft>
                <a:spcPts val="0"/>
              </a:spcAft>
              <a:buClr>
                <a:schemeClr val="dk2"/>
              </a:buClr>
              <a:buSzPts val="1800"/>
              <a:buChar char="●"/>
            </a:pPr>
            <a:r>
              <a:rPr lang="es" sz="1800">
                <a:solidFill>
                  <a:schemeClr val="dk2"/>
                </a:solidFill>
              </a:rPr>
              <a:t>Insumo para clustering: instancias parecidas en un espacio multidimensional son más parecidas en un espacio reducido (emergencia de estructuras).</a:t>
            </a:r>
            <a:endParaRPr sz="1800">
              <a:solidFill>
                <a:schemeClr val="dk2"/>
              </a:solidFill>
            </a:endParaRPr>
          </a:p>
          <a:p>
            <a:pPr indent="0" lvl="0" marL="0" rtl="0" algn="l">
              <a:spcBef>
                <a:spcPts val="0"/>
              </a:spcBef>
              <a:spcAft>
                <a:spcPts val="0"/>
              </a:spcAft>
              <a:buNone/>
            </a:pPr>
            <a:r>
              <a:t/>
            </a:r>
            <a:endParaRPr sz="1800">
              <a:solidFill>
                <a:schemeClr val="dk2"/>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pic>
        <p:nvPicPr>
          <p:cNvPr id="97" name="Google Shape;97;p19"/>
          <p:cNvPicPr preferRelativeResize="0"/>
          <p:nvPr/>
        </p:nvPicPr>
        <p:blipFill>
          <a:blip r:embed="rId3">
            <a:alphaModFix/>
          </a:blip>
          <a:stretch>
            <a:fillRect/>
          </a:stretch>
        </p:blipFill>
        <p:spPr>
          <a:xfrm>
            <a:off x="152400" y="297325"/>
            <a:ext cx="7612524" cy="899325"/>
          </a:xfrm>
          <a:prstGeom prst="rect">
            <a:avLst/>
          </a:prstGeom>
          <a:noFill/>
          <a:ln>
            <a:noFill/>
          </a:ln>
        </p:spPr>
      </p:pic>
      <p:pic>
        <p:nvPicPr>
          <p:cNvPr id="98" name="Google Shape;98;p19"/>
          <p:cNvPicPr preferRelativeResize="0"/>
          <p:nvPr/>
        </p:nvPicPr>
        <p:blipFill>
          <a:blip r:embed="rId4">
            <a:alphaModFix/>
          </a:blip>
          <a:stretch>
            <a:fillRect/>
          </a:stretch>
        </p:blipFill>
        <p:spPr>
          <a:xfrm>
            <a:off x="461975" y="1290050"/>
            <a:ext cx="2128000" cy="2700925"/>
          </a:xfrm>
          <a:prstGeom prst="rect">
            <a:avLst/>
          </a:prstGeom>
          <a:noFill/>
          <a:ln>
            <a:noFill/>
          </a:ln>
        </p:spPr>
      </p:pic>
      <p:sp>
        <p:nvSpPr>
          <p:cNvPr id="99" name="Google Shape;99;p19"/>
          <p:cNvSpPr txBox="1"/>
          <p:nvPr/>
        </p:nvSpPr>
        <p:spPr>
          <a:xfrm>
            <a:off x="347350" y="4084375"/>
            <a:ext cx="2702700" cy="797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1100">
                <a:solidFill>
                  <a:schemeClr val="dk1"/>
                </a:solidFill>
              </a:rPr>
              <a:t>Tamaño</a:t>
            </a:r>
            <a:r>
              <a:rPr lang="es" sz="1100">
                <a:solidFill>
                  <a:schemeClr val="dk1"/>
                </a:solidFill>
              </a:rPr>
              <a:t>: 28 x 28 píxeles.</a:t>
            </a:r>
            <a:endParaRPr sz="1100">
              <a:solidFill>
                <a:schemeClr val="dk1"/>
              </a:solidFill>
            </a:endParaRPr>
          </a:p>
          <a:p>
            <a:pPr indent="0" lvl="0" marL="0" rtl="0" algn="l">
              <a:spcBef>
                <a:spcPts val="0"/>
              </a:spcBef>
              <a:spcAft>
                <a:spcPts val="0"/>
              </a:spcAft>
              <a:buClr>
                <a:schemeClr val="dk1"/>
              </a:buClr>
              <a:buSzPts val="1100"/>
              <a:buFont typeface="Arial"/>
              <a:buNone/>
            </a:pPr>
            <a:r>
              <a:t/>
            </a:r>
            <a:endParaRPr sz="500">
              <a:solidFill>
                <a:schemeClr val="dk1"/>
              </a:solidFill>
            </a:endParaRPr>
          </a:p>
          <a:p>
            <a:pPr indent="0" lvl="0" marL="0" rtl="0" algn="l">
              <a:spcBef>
                <a:spcPts val="0"/>
              </a:spcBef>
              <a:spcAft>
                <a:spcPts val="0"/>
              </a:spcAft>
              <a:buNone/>
            </a:pPr>
            <a:r>
              <a:rPr b="1" lang="es" sz="1100">
                <a:solidFill>
                  <a:schemeClr val="dk1"/>
                </a:solidFill>
              </a:rPr>
              <a:t>Resolución</a:t>
            </a:r>
            <a:r>
              <a:rPr lang="es" sz="1100">
                <a:solidFill>
                  <a:schemeClr val="dk1"/>
                </a:solidFill>
              </a:rPr>
              <a:t>: Cada píxel tiene un valor entre </a:t>
            </a:r>
            <a:r>
              <a:rPr b="1" lang="es" sz="1100">
                <a:solidFill>
                  <a:schemeClr val="dk1"/>
                </a:solidFill>
              </a:rPr>
              <a:t>0 y 255</a:t>
            </a:r>
            <a:r>
              <a:rPr lang="es" sz="1100">
                <a:solidFill>
                  <a:schemeClr val="dk1"/>
                </a:solidFill>
              </a:rPr>
              <a:t>, donde 0 representa negro y 255 representa blanco.</a:t>
            </a:r>
            <a:endParaRPr sz="1800">
              <a:solidFill>
                <a:schemeClr val="dk2"/>
              </a:solidFill>
            </a:endParaRPr>
          </a:p>
        </p:txBody>
      </p:sp>
      <p:pic>
        <p:nvPicPr>
          <p:cNvPr id="100" name="Google Shape;100;p19"/>
          <p:cNvPicPr preferRelativeResize="0"/>
          <p:nvPr/>
        </p:nvPicPr>
        <p:blipFill>
          <a:blip r:embed="rId5">
            <a:alphaModFix/>
          </a:blip>
          <a:stretch>
            <a:fillRect/>
          </a:stretch>
        </p:blipFill>
        <p:spPr>
          <a:xfrm>
            <a:off x="2978625" y="1077575"/>
            <a:ext cx="5742631" cy="3804501"/>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pic>
        <p:nvPicPr>
          <p:cNvPr id="105" name="Google Shape;105;p20"/>
          <p:cNvPicPr preferRelativeResize="0"/>
          <p:nvPr/>
        </p:nvPicPr>
        <p:blipFill>
          <a:blip r:embed="rId3">
            <a:alphaModFix/>
          </a:blip>
          <a:stretch>
            <a:fillRect/>
          </a:stretch>
        </p:blipFill>
        <p:spPr>
          <a:xfrm>
            <a:off x="152400" y="297325"/>
            <a:ext cx="7612524" cy="899325"/>
          </a:xfrm>
          <a:prstGeom prst="rect">
            <a:avLst/>
          </a:prstGeom>
          <a:noFill/>
          <a:ln>
            <a:noFill/>
          </a:ln>
        </p:spPr>
      </p:pic>
      <p:pic>
        <p:nvPicPr>
          <p:cNvPr id="106" name="Google Shape;106;p20"/>
          <p:cNvPicPr preferRelativeResize="0"/>
          <p:nvPr/>
        </p:nvPicPr>
        <p:blipFill>
          <a:blip r:embed="rId4">
            <a:alphaModFix/>
          </a:blip>
          <a:stretch>
            <a:fillRect/>
          </a:stretch>
        </p:blipFill>
        <p:spPr>
          <a:xfrm>
            <a:off x="319075" y="1390875"/>
            <a:ext cx="2099925" cy="2647725"/>
          </a:xfrm>
          <a:prstGeom prst="rect">
            <a:avLst/>
          </a:prstGeom>
          <a:noFill/>
          <a:ln>
            <a:noFill/>
          </a:ln>
        </p:spPr>
      </p:pic>
      <p:sp>
        <p:nvSpPr>
          <p:cNvPr id="107" name="Google Shape;107;p20"/>
          <p:cNvSpPr txBox="1"/>
          <p:nvPr/>
        </p:nvSpPr>
        <p:spPr>
          <a:xfrm>
            <a:off x="561650" y="4143900"/>
            <a:ext cx="2702700" cy="408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1200">
                <a:solidFill>
                  <a:schemeClr val="dk1"/>
                </a:solidFill>
              </a:rPr>
              <a:t>Tamaño:</a:t>
            </a:r>
            <a:r>
              <a:rPr lang="es" sz="1200">
                <a:solidFill>
                  <a:schemeClr val="dk1"/>
                </a:solidFill>
              </a:rPr>
              <a:t> 64 x 64 píxeles.</a:t>
            </a:r>
            <a:endParaRPr sz="1900">
              <a:solidFill>
                <a:schemeClr val="dk2"/>
              </a:solidFill>
            </a:endParaRPr>
          </a:p>
        </p:txBody>
      </p:sp>
      <p:pic>
        <p:nvPicPr>
          <p:cNvPr id="108" name="Google Shape;108;p20"/>
          <p:cNvPicPr preferRelativeResize="0"/>
          <p:nvPr/>
        </p:nvPicPr>
        <p:blipFill>
          <a:blip r:embed="rId5">
            <a:alphaModFix/>
          </a:blip>
          <a:stretch>
            <a:fillRect/>
          </a:stretch>
        </p:blipFill>
        <p:spPr>
          <a:xfrm>
            <a:off x="2714275" y="1196650"/>
            <a:ext cx="5828750" cy="3701000"/>
          </a:xfrm>
          <a:prstGeom prst="rect">
            <a:avLst/>
          </a:prstGeom>
          <a:noFill/>
          <a:ln>
            <a:noFill/>
          </a:ln>
        </p:spPr>
      </p:pic>
      <p:sp>
        <p:nvSpPr>
          <p:cNvPr id="109" name="Google Shape;109;p20"/>
          <p:cNvSpPr txBox="1"/>
          <p:nvPr/>
        </p:nvSpPr>
        <p:spPr>
          <a:xfrm>
            <a:off x="6264725" y="1171000"/>
            <a:ext cx="2607600" cy="7977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Clr>
                <a:schemeClr val="dk1"/>
              </a:buClr>
              <a:buSzPts val="1100"/>
              <a:buFont typeface="Arial"/>
              <a:buNone/>
            </a:pPr>
            <a:r>
              <a:rPr lang="es" sz="1300">
                <a:solidFill>
                  <a:schemeClr val="dk1"/>
                </a:solidFill>
              </a:rPr>
              <a:t>Con 100 dimensiones (&lt; 4096) ya logramos una reproducción fiel de la imagen original.</a:t>
            </a:r>
            <a:endParaRPr sz="1300">
              <a:solidFill>
                <a:schemeClr val="dk1"/>
              </a:solidFill>
            </a:endParaRPr>
          </a:p>
          <a:p>
            <a:pPr indent="0" lvl="0" marL="0" rtl="0" algn="l">
              <a:spcBef>
                <a:spcPts val="0"/>
              </a:spcBef>
              <a:spcAft>
                <a:spcPts val="0"/>
              </a:spcAft>
              <a:buNone/>
            </a:pPr>
            <a:r>
              <a:t/>
            </a:r>
            <a:endParaRPr sz="1800">
              <a:solidFill>
                <a:schemeClr val="dk2"/>
              </a:solidFill>
            </a:endParaRPr>
          </a:p>
        </p:txBody>
      </p:sp>
      <p:sp>
        <p:nvSpPr>
          <p:cNvPr id="110" name="Google Shape;110;p20"/>
          <p:cNvSpPr/>
          <p:nvPr/>
        </p:nvSpPr>
        <p:spPr>
          <a:xfrm>
            <a:off x="6169475" y="1075750"/>
            <a:ext cx="2798100" cy="1107300"/>
          </a:xfrm>
          <a:prstGeom prst="rect">
            <a:avLst/>
          </a:prstGeom>
          <a:noFill/>
          <a:ln cap="flat" cmpd="sng" w="28575">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pic>
        <p:nvPicPr>
          <p:cNvPr id="115" name="Google Shape;115;p21"/>
          <p:cNvPicPr preferRelativeResize="0"/>
          <p:nvPr/>
        </p:nvPicPr>
        <p:blipFill>
          <a:blip r:embed="rId3">
            <a:alphaModFix/>
          </a:blip>
          <a:stretch>
            <a:fillRect/>
          </a:stretch>
        </p:blipFill>
        <p:spPr>
          <a:xfrm>
            <a:off x="866800" y="1123375"/>
            <a:ext cx="7546600" cy="3722424"/>
          </a:xfrm>
          <a:prstGeom prst="rect">
            <a:avLst/>
          </a:prstGeom>
          <a:noFill/>
          <a:ln>
            <a:noFill/>
          </a:ln>
        </p:spPr>
      </p:pic>
      <p:sp>
        <p:nvSpPr>
          <p:cNvPr id="116" name="Google Shape;116;p21"/>
          <p:cNvSpPr txBox="1"/>
          <p:nvPr/>
        </p:nvSpPr>
        <p:spPr>
          <a:xfrm>
            <a:off x="172100" y="297675"/>
            <a:ext cx="82413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 sz="2800">
                <a:solidFill>
                  <a:srgbClr val="0000FF"/>
                </a:solidFill>
              </a:rPr>
              <a:t>Algunos métodos de reducción dimensional</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22"/>
          <p:cNvSpPr txBox="1"/>
          <p:nvPr/>
        </p:nvSpPr>
        <p:spPr>
          <a:xfrm>
            <a:off x="267350" y="297675"/>
            <a:ext cx="82413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 sz="2800">
                <a:solidFill>
                  <a:srgbClr val="0000FF"/>
                </a:solidFill>
              </a:rPr>
              <a:t>Análisis de componentes principales (PCA)</a:t>
            </a:r>
            <a:endParaRPr/>
          </a:p>
        </p:txBody>
      </p:sp>
      <p:sp>
        <p:nvSpPr>
          <p:cNvPr id="122" name="Google Shape;122;p22"/>
          <p:cNvSpPr txBox="1"/>
          <p:nvPr/>
        </p:nvSpPr>
        <p:spPr>
          <a:xfrm>
            <a:off x="267350" y="964750"/>
            <a:ext cx="8241300" cy="1190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es" sz="1700">
                <a:solidFill>
                  <a:schemeClr val="dk2"/>
                </a:solidFill>
              </a:rPr>
              <a:t>Problema:</a:t>
            </a:r>
            <a:r>
              <a:rPr lang="es" sz="1700">
                <a:solidFill>
                  <a:schemeClr val="dk2"/>
                </a:solidFill>
              </a:rPr>
              <a:t> </a:t>
            </a:r>
            <a:r>
              <a:rPr lang="es" sz="1700">
                <a:solidFill>
                  <a:schemeClr val="dk2"/>
                </a:solidFill>
              </a:rPr>
              <a:t>Muchas veces hay variables que contienen prácticamente la misma información que otras (están muy correlacionadas entre sí). En este sentido, agregan una dimensión más al problema sin aportar muchas más información.</a:t>
            </a:r>
            <a:endParaRPr sz="1700">
              <a:solidFill>
                <a:schemeClr val="dk2"/>
              </a:solidFill>
            </a:endParaRPr>
          </a:p>
          <a:p>
            <a:pPr indent="0" lvl="0" marL="0" rtl="0" algn="l">
              <a:spcBef>
                <a:spcPts val="1600"/>
              </a:spcBef>
              <a:spcAft>
                <a:spcPts val="0"/>
              </a:spcAft>
              <a:buNone/>
            </a:pPr>
            <a:r>
              <a:t/>
            </a:r>
            <a:endParaRPr sz="1800">
              <a:solidFill>
                <a:schemeClr val="dk2"/>
              </a:solidFill>
            </a:endParaRPr>
          </a:p>
        </p:txBody>
      </p:sp>
      <p:pic>
        <p:nvPicPr>
          <p:cNvPr id="123" name="Google Shape;123;p22"/>
          <p:cNvPicPr preferRelativeResize="0"/>
          <p:nvPr/>
        </p:nvPicPr>
        <p:blipFill>
          <a:blip r:embed="rId3">
            <a:alphaModFix/>
          </a:blip>
          <a:stretch>
            <a:fillRect/>
          </a:stretch>
        </p:blipFill>
        <p:spPr>
          <a:xfrm>
            <a:off x="152400" y="1980700"/>
            <a:ext cx="8839201" cy="2470312"/>
          </a:xfrm>
          <a:prstGeom prst="rect">
            <a:avLst/>
          </a:prstGeom>
          <a:noFill/>
          <a:ln>
            <a:noFill/>
          </a:ln>
        </p:spPr>
      </p:pic>
      <p:sp>
        <p:nvSpPr>
          <p:cNvPr id="124" name="Google Shape;124;p22"/>
          <p:cNvSpPr txBox="1"/>
          <p:nvPr/>
        </p:nvSpPr>
        <p:spPr>
          <a:xfrm>
            <a:off x="2430925" y="4349975"/>
            <a:ext cx="6274500" cy="6669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s" sz="1200">
                <a:solidFill>
                  <a:schemeClr val="dk2"/>
                </a:solidFill>
              </a:rPr>
              <a:t>Una opción para solucionar el problema sería descartar una de las dimensiones redundante. Sin embargo: ¿estamos seguros que toda la información que descartamos no es necesaria? </a:t>
            </a:r>
            <a:r>
              <a:rPr b="1" lang="es" sz="1200">
                <a:solidFill>
                  <a:schemeClr val="dk2"/>
                </a:solidFill>
              </a:rPr>
              <a:t>¿Hay alguna otra forma más inteligente de descartar dimensiones?</a:t>
            </a:r>
            <a:endParaRPr b="1" sz="1200">
              <a:solidFill>
                <a:schemeClr val="dk2"/>
              </a:solidFill>
            </a:endParaRPr>
          </a:p>
          <a:p>
            <a:pPr indent="0" lvl="0" marL="0" rtl="0" algn="l">
              <a:spcBef>
                <a:spcPts val="0"/>
              </a:spcBef>
              <a:spcAft>
                <a:spcPts val="0"/>
              </a:spcAft>
              <a:buNone/>
            </a:pPr>
            <a:r>
              <a:t/>
            </a:r>
            <a:endParaRPr sz="1800">
              <a:solidFill>
                <a:schemeClr val="dk2"/>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23"/>
          <p:cNvSpPr txBox="1"/>
          <p:nvPr/>
        </p:nvSpPr>
        <p:spPr>
          <a:xfrm>
            <a:off x="267350" y="297675"/>
            <a:ext cx="82413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 sz="2800">
                <a:solidFill>
                  <a:srgbClr val="0000FF"/>
                </a:solidFill>
              </a:rPr>
              <a:t>Análisis de componentes principales (PCA)</a:t>
            </a:r>
            <a:endParaRPr/>
          </a:p>
        </p:txBody>
      </p:sp>
      <p:sp>
        <p:nvSpPr>
          <p:cNvPr id="130" name="Google Shape;130;p23"/>
          <p:cNvSpPr txBox="1"/>
          <p:nvPr/>
        </p:nvSpPr>
        <p:spPr>
          <a:xfrm>
            <a:off x="371150" y="1016225"/>
            <a:ext cx="8167800" cy="4012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800">
                <a:solidFill>
                  <a:schemeClr val="dk2"/>
                </a:solidFill>
              </a:rPr>
              <a:t>El Análisis de Componentes Principales (PCA) nos permite descartar información redundante de una forma mucho más “eficiente” (es decir, </a:t>
            </a:r>
            <a:r>
              <a:rPr b="1" lang="es" sz="1800">
                <a:solidFill>
                  <a:schemeClr val="dk2"/>
                </a:solidFill>
              </a:rPr>
              <a:t>con la menor </a:t>
            </a:r>
            <a:r>
              <a:rPr b="1" lang="es" sz="1800">
                <a:solidFill>
                  <a:schemeClr val="dk2"/>
                </a:solidFill>
              </a:rPr>
              <a:t>pérdida</a:t>
            </a:r>
            <a:r>
              <a:rPr b="1" lang="es" sz="1800">
                <a:solidFill>
                  <a:schemeClr val="dk2"/>
                </a:solidFill>
              </a:rPr>
              <a:t> de información posible</a:t>
            </a:r>
            <a:r>
              <a:rPr lang="es" sz="1800">
                <a:solidFill>
                  <a:schemeClr val="dk2"/>
                </a:solidFill>
              </a:rPr>
              <a:t>). </a:t>
            </a:r>
            <a:endParaRPr sz="1800">
              <a:solidFill>
                <a:schemeClr val="dk2"/>
              </a:solidFill>
            </a:endParaRPr>
          </a:p>
          <a:p>
            <a:pPr indent="0" lvl="0" marL="0" rtl="0" algn="l">
              <a:spcBef>
                <a:spcPts val="0"/>
              </a:spcBef>
              <a:spcAft>
                <a:spcPts val="0"/>
              </a:spcAft>
              <a:buNone/>
            </a:pPr>
            <a:r>
              <a:t/>
            </a:r>
            <a:endParaRPr sz="1800">
              <a:solidFill>
                <a:schemeClr val="dk2"/>
              </a:solidFill>
            </a:endParaRPr>
          </a:p>
          <a:p>
            <a:pPr indent="0" lvl="0" marL="0" rtl="0" algn="l">
              <a:spcBef>
                <a:spcPts val="0"/>
              </a:spcBef>
              <a:spcAft>
                <a:spcPts val="0"/>
              </a:spcAft>
              <a:buNone/>
            </a:pPr>
            <a:r>
              <a:rPr lang="es" sz="1800" u="sng">
                <a:solidFill>
                  <a:schemeClr val="dk2"/>
                </a:solidFill>
              </a:rPr>
              <a:t>Cosas a tener en cuenta:</a:t>
            </a:r>
            <a:endParaRPr sz="1800" u="sng">
              <a:solidFill>
                <a:schemeClr val="dk2"/>
              </a:solidFill>
            </a:endParaRPr>
          </a:p>
          <a:p>
            <a:pPr indent="0" lvl="0" marL="0" rtl="0" algn="l">
              <a:spcBef>
                <a:spcPts val="0"/>
              </a:spcBef>
              <a:spcAft>
                <a:spcPts val="0"/>
              </a:spcAft>
              <a:buNone/>
            </a:pPr>
            <a:r>
              <a:t/>
            </a:r>
            <a:endParaRPr sz="1800">
              <a:solidFill>
                <a:schemeClr val="dk2"/>
              </a:solidFill>
            </a:endParaRPr>
          </a:p>
          <a:p>
            <a:pPr indent="-342900" lvl="0" marL="457200" rtl="0" algn="l">
              <a:spcBef>
                <a:spcPts val="0"/>
              </a:spcBef>
              <a:spcAft>
                <a:spcPts val="0"/>
              </a:spcAft>
              <a:buClr>
                <a:schemeClr val="dk2"/>
              </a:buClr>
              <a:buSzPts val="1800"/>
              <a:buChar char="-"/>
            </a:pPr>
            <a:r>
              <a:rPr lang="es" sz="1800">
                <a:solidFill>
                  <a:schemeClr val="dk2"/>
                </a:solidFill>
              </a:rPr>
              <a:t>Sólo puede aplicarse a </a:t>
            </a:r>
            <a:r>
              <a:rPr b="1" lang="es" sz="1800">
                <a:solidFill>
                  <a:schemeClr val="dk2"/>
                </a:solidFill>
              </a:rPr>
              <a:t>variables </a:t>
            </a:r>
            <a:r>
              <a:rPr b="1" lang="es" sz="1800">
                <a:solidFill>
                  <a:schemeClr val="dk2"/>
                </a:solidFill>
              </a:rPr>
              <a:t>numéricas</a:t>
            </a:r>
            <a:r>
              <a:rPr lang="es" sz="1800">
                <a:solidFill>
                  <a:schemeClr val="dk2"/>
                </a:solidFill>
              </a:rPr>
              <a:t>.</a:t>
            </a:r>
            <a:endParaRPr sz="1800">
              <a:solidFill>
                <a:schemeClr val="dk2"/>
              </a:solidFill>
            </a:endParaRPr>
          </a:p>
          <a:p>
            <a:pPr indent="-342900" lvl="0" marL="457200" rtl="0" algn="l">
              <a:spcBef>
                <a:spcPts val="0"/>
              </a:spcBef>
              <a:spcAft>
                <a:spcPts val="0"/>
              </a:spcAft>
              <a:buClr>
                <a:schemeClr val="dk2"/>
              </a:buClr>
              <a:buSzPts val="1800"/>
              <a:buChar char="-"/>
            </a:pPr>
            <a:r>
              <a:rPr lang="es" sz="1800">
                <a:solidFill>
                  <a:schemeClr val="dk2"/>
                </a:solidFill>
              </a:rPr>
              <a:t>Sólo tendrá sentido si tenemos variables </a:t>
            </a:r>
            <a:r>
              <a:rPr b="1" lang="es" sz="1800">
                <a:solidFill>
                  <a:schemeClr val="dk2"/>
                </a:solidFill>
              </a:rPr>
              <a:t>fuertemente correlacionadas linealmente</a:t>
            </a:r>
            <a:r>
              <a:rPr lang="es" sz="1800">
                <a:solidFill>
                  <a:schemeClr val="dk2"/>
                </a:solidFill>
              </a:rPr>
              <a:t>. </a:t>
            </a:r>
            <a:endParaRPr sz="1800">
              <a:solidFill>
                <a:schemeClr val="dk2"/>
              </a:solidFill>
            </a:endParaRPr>
          </a:p>
          <a:p>
            <a:pPr indent="-342900" lvl="0" marL="457200" rtl="0" algn="l">
              <a:spcBef>
                <a:spcPts val="0"/>
              </a:spcBef>
              <a:spcAft>
                <a:spcPts val="0"/>
              </a:spcAft>
              <a:buClr>
                <a:schemeClr val="dk2"/>
              </a:buClr>
              <a:buSzPts val="1800"/>
              <a:buChar char="-"/>
            </a:pPr>
            <a:r>
              <a:rPr lang="es" sz="1800">
                <a:solidFill>
                  <a:schemeClr val="dk2"/>
                </a:solidFill>
              </a:rPr>
              <a:t>Todas las variables juegan “un mismo papel”: no las diferenciamos en variables dependientes e independientes. </a:t>
            </a:r>
            <a:endParaRPr sz="1800">
              <a:solidFill>
                <a:schemeClr val="dk2"/>
              </a:solidFill>
            </a:endParaRPr>
          </a:p>
          <a:p>
            <a:pPr indent="0" lvl="0" marL="0" rtl="0" algn="l">
              <a:spcBef>
                <a:spcPts val="0"/>
              </a:spcBef>
              <a:spcAft>
                <a:spcPts val="0"/>
              </a:spcAft>
              <a:buNone/>
            </a:pPr>
            <a:r>
              <a:t/>
            </a:r>
            <a:endParaRPr sz="1800">
              <a:solidFill>
                <a:schemeClr val="dk2"/>
              </a:solidFill>
            </a:endParaRPr>
          </a:p>
          <a:p>
            <a:pPr indent="0" lvl="0" marL="0" rtl="0" algn="l">
              <a:spcBef>
                <a:spcPts val="0"/>
              </a:spcBef>
              <a:spcAft>
                <a:spcPts val="0"/>
              </a:spcAft>
              <a:buNone/>
            </a:pPr>
            <a:r>
              <a:t/>
            </a:r>
            <a:endParaRPr b="1" sz="1800">
              <a:solidFill>
                <a:schemeClr val="dk2"/>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24"/>
          <p:cNvSpPr txBox="1"/>
          <p:nvPr/>
        </p:nvSpPr>
        <p:spPr>
          <a:xfrm>
            <a:off x="291400" y="345300"/>
            <a:ext cx="82413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 sz="2800">
                <a:solidFill>
                  <a:srgbClr val="0000FF"/>
                </a:solidFill>
              </a:rPr>
              <a:t>Análisis de componentes principales (PCA)</a:t>
            </a:r>
            <a:endParaRPr/>
          </a:p>
        </p:txBody>
      </p:sp>
      <p:pic>
        <p:nvPicPr>
          <p:cNvPr id="136" name="Google Shape;136;p24"/>
          <p:cNvPicPr preferRelativeResize="0"/>
          <p:nvPr/>
        </p:nvPicPr>
        <p:blipFill>
          <a:blip r:embed="rId3">
            <a:alphaModFix/>
          </a:blip>
          <a:stretch>
            <a:fillRect/>
          </a:stretch>
        </p:blipFill>
        <p:spPr>
          <a:xfrm>
            <a:off x="680750" y="2927650"/>
            <a:ext cx="2769500" cy="1407450"/>
          </a:xfrm>
          <a:prstGeom prst="rect">
            <a:avLst/>
          </a:prstGeom>
          <a:noFill/>
          <a:ln>
            <a:noFill/>
          </a:ln>
        </p:spPr>
      </p:pic>
      <p:sp>
        <p:nvSpPr>
          <p:cNvPr id="137" name="Google Shape;137;p24"/>
          <p:cNvSpPr txBox="1"/>
          <p:nvPr/>
        </p:nvSpPr>
        <p:spPr>
          <a:xfrm>
            <a:off x="452200" y="1647050"/>
            <a:ext cx="3464700" cy="1231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700">
                <a:solidFill>
                  <a:schemeClr val="dk2"/>
                </a:solidFill>
              </a:rPr>
              <a:t>¿En qué </a:t>
            </a:r>
            <a:r>
              <a:rPr lang="es" sz="1700">
                <a:solidFill>
                  <a:schemeClr val="dk2"/>
                </a:solidFill>
              </a:rPr>
              <a:t>ángulo</a:t>
            </a:r>
            <a:r>
              <a:rPr lang="es" sz="1700">
                <a:solidFill>
                  <a:schemeClr val="dk2"/>
                </a:solidFill>
              </a:rPr>
              <a:t> deberíamos proyectar la imagen para </a:t>
            </a:r>
            <a:r>
              <a:rPr lang="es" sz="1700">
                <a:solidFill>
                  <a:schemeClr val="dk2"/>
                </a:solidFill>
              </a:rPr>
              <a:t>captar</a:t>
            </a:r>
            <a:r>
              <a:rPr lang="es" sz="1700">
                <a:solidFill>
                  <a:schemeClr val="dk2"/>
                </a:solidFill>
              </a:rPr>
              <a:t> la mayor cantidad de </a:t>
            </a:r>
            <a:r>
              <a:rPr lang="es" sz="1700">
                <a:solidFill>
                  <a:schemeClr val="dk2"/>
                </a:solidFill>
              </a:rPr>
              <a:t>información</a:t>
            </a:r>
            <a:r>
              <a:rPr lang="es" sz="1700">
                <a:solidFill>
                  <a:schemeClr val="dk2"/>
                </a:solidFill>
              </a:rPr>
              <a:t> posible?</a:t>
            </a:r>
            <a:endParaRPr sz="1700">
              <a:solidFill>
                <a:schemeClr val="dk2"/>
              </a:solidFill>
            </a:endParaRPr>
          </a:p>
        </p:txBody>
      </p:sp>
      <p:sp>
        <p:nvSpPr>
          <p:cNvPr id="138" name="Google Shape;138;p24"/>
          <p:cNvSpPr txBox="1"/>
          <p:nvPr/>
        </p:nvSpPr>
        <p:spPr>
          <a:xfrm>
            <a:off x="4369600" y="1647050"/>
            <a:ext cx="4490700" cy="2679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s" sz="1700">
                <a:solidFill>
                  <a:schemeClr val="dk2"/>
                </a:solidFill>
              </a:rPr>
              <a:t>El objetivo principal es </a:t>
            </a:r>
            <a:r>
              <a:rPr b="1" lang="es" sz="1700" u="sng">
                <a:solidFill>
                  <a:schemeClr val="dk2"/>
                </a:solidFill>
              </a:rPr>
              <a:t>encontrar una proyección de los datos</a:t>
            </a:r>
            <a:r>
              <a:rPr lang="es" sz="1700">
                <a:solidFill>
                  <a:schemeClr val="dk2"/>
                </a:solidFill>
              </a:rPr>
              <a:t> que:</a:t>
            </a:r>
            <a:endParaRPr sz="1700">
              <a:solidFill>
                <a:schemeClr val="dk2"/>
              </a:solidFill>
            </a:endParaRPr>
          </a:p>
          <a:p>
            <a:pPr indent="-336550" lvl="0" marL="457200" rtl="0" algn="l">
              <a:lnSpc>
                <a:spcPct val="115000"/>
              </a:lnSpc>
              <a:spcBef>
                <a:spcPts val="1200"/>
              </a:spcBef>
              <a:spcAft>
                <a:spcPts val="0"/>
              </a:spcAft>
              <a:buClr>
                <a:schemeClr val="dk2"/>
              </a:buClr>
              <a:buSzPts val="1700"/>
              <a:buChar char="●"/>
            </a:pPr>
            <a:r>
              <a:rPr b="1" lang="es" sz="1700">
                <a:solidFill>
                  <a:schemeClr val="dk2"/>
                </a:solidFill>
              </a:rPr>
              <a:t>Minimice la pérdida de información</a:t>
            </a:r>
            <a:r>
              <a:rPr lang="es" sz="1700">
                <a:solidFill>
                  <a:schemeClr val="dk2"/>
                </a:solidFill>
              </a:rPr>
              <a:t>.</a:t>
            </a:r>
            <a:endParaRPr sz="1700">
              <a:solidFill>
                <a:schemeClr val="dk2"/>
              </a:solidFill>
            </a:endParaRPr>
          </a:p>
          <a:p>
            <a:pPr indent="-336550" lvl="0" marL="457200" rtl="0" algn="l">
              <a:lnSpc>
                <a:spcPct val="115000"/>
              </a:lnSpc>
              <a:spcBef>
                <a:spcPts val="0"/>
              </a:spcBef>
              <a:spcAft>
                <a:spcPts val="0"/>
              </a:spcAft>
              <a:buClr>
                <a:schemeClr val="dk2"/>
              </a:buClr>
              <a:buSzPts val="1700"/>
              <a:buChar char="●"/>
            </a:pPr>
            <a:r>
              <a:rPr b="1" lang="es" sz="1700">
                <a:solidFill>
                  <a:schemeClr val="dk2"/>
                </a:solidFill>
              </a:rPr>
              <a:t>Capte la mayor variabilidad posible</a:t>
            </a:r>
            <a:r>
              <a:rPr lang="es" sz="1700">
                <a:solidFill>
                  <a:schemeClr val="dk2"/>
                </a:solidFill>
              </a:rPr>
              <a:t> en los primeros componentes.</a:t>
            </a:r>
            <a:endParaRPr sz="1700">
              <a:solidFill>
                <a:schemeClr val="dk2"/>
              </a:solidFill>
            </a:endParaRPr>
          </a:p>
          <a:p>
            <a:pPr indent="-336550" lvl="0" marL="457200" rtl="0" algn="l">
              <a:lnSpc>
                <a:spcPct val="115000"/>
              </a:lnSpc>
              <a:spcBef>
                <a:spcPts val="0"/>
              </a:spcBef>
              <a:spcAft>
                <a:spcPts val="0"/>
              </a:spcAft>
              <a:buClr>
                <a:schemeClr val="dk2"/>
              </a:buClr>
              <a:buSzPts val="1700"/>
              <a:buChar char="●"/>
            </a:pPr>
            <a:r>
              <a:rPr b="1" lang="es" sz="1700">
                <a:solidFill>
                  <a:schemeClr val="dk2"/>
                </a:solidFill>
              </a:rPr>
              <a:t>Facilite la visualización</a:t>
            </a:r>
            <a:r>
              <a:rPr lang="es" sz="1700">
                <a:solidFill>
                  <a:schemeClr val="dk2"/>
                </a:solidFill>
              </a:rPr>
              <a:t>, comprensión, y modelado de datos de alta dimensionalidad.</a:t>
            </a:r>
            <a:endParaRPr sz="1700">
              <a:solidFill>
                <a:schemeClr val="dk2"/>
              </a:solidFill>
            </a:endParaRPr>
          </a:p>
          <a:p>
            <a:pPr indent="0" lvl="0" marL="0" rtl="0" algn="l">
              <a:spcBef>
                <a:spcPts val="1200"/>
              </a:spcBef>
              <a:spcAft>
                <a:spcPts val="0"/>
              </a:spcAft>
              <a:buNone/>
            </a:pPr>
            <a:r>
              <a:t/>
            </a:r>
            <a:endParaRPr sz="1800">
              <a:solidFill>
                <a:schemeClr val="dk2"/>
              </a:solidFill>
            </a:endParaRPr>
          </a:p>
        </p:txBody>
      </p:sp>
      <p:sp>
        <p:nvSpPr>
          <p:cNvPr id="139" name="Google Shape;139;p24"/>
          <p:cNvSpPr/>
          <p:nvPr/>
        </p:nvSpPr>
        <p:spPr>
          <a:xfrm>
            <a:off x="291400" y="1512025"/>
            <a:ext cx="3786300" cy="3095700"/>
          </a:xfrm>
          <a:prstGeom prst="rect">
            <a:avLst/>
          </a:prstGeom>
          <a:noFill/>
          <a:ln cap="flat" cmpd="sng" w="28575">
            <a:solidFill>
              <a:srgbClr val="93C47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25"/>
          <p:cNvSpPr txBox="1"/>
          <p:nvPr/>
        </p:nvSpPr>
        <p:spPr>
          <a:xfrm>
            <a:off x="267350" y="297675"/>
            <a:ext cx="82413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 sz="2800">
                <a:solidFill>
                  <a:srgbClr val="0000FF"/>
                </a:solidFill>
              </a:rPr>
              <a:t>Análisis de componentes principales (PCA)</a:t>
            </a:r>
            <a:endParaRPr/>
          </a:p>
        </p:txBody>
      </p:sp>
      <p:pic>
        <p:nvPicPr>
          <p:cNvPr id="145" name="Google Shape;145;p25"/>
          <p:cNvPicPr preferRelativeResize="0"/>
          <p:nvPr/>
        </p:nvPicPr>
        <p:blipFill>
          <a:blip r:embed="rId3">
            <a:alphaModFix/>
          </a:blip>
          <a:stretch>
            <a:fillRect/>
          </a:stretch>
        </p:blipFill>
        <p:spPr>
          <a:xfrm>
            <a:off x="-167600" y="1101375"/>
            <a:ext cx="4739588" cy="3925425"/>
          </a:xfrm>
          <a:prstGeom prst="rect">
            <a:avLst/>
          </a:prstGeom>
          <a:noFill/>
          <a:ln>
            <a:noFill/>
          </a:ln>
        </p:spPr>
      </p:pic>
      <p:sp>
        <p:nvSpPr>
          <p:cNvPr id="146" name="Google Shape;146;p25"/>
          <p:cNvSpPr txBox="1"/>
          <p:nvPr/>
        </p:nvSpPr>
        <p:spPr>
          <a:xfrm>
            <a:off x="4883600" y="1171000"/>
            <a:ext cx="4000500" cy="3855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a:solidFill>
                  <a:schemeClr val="dk2"/>
                </a:solidFill>
              </a:rPr>
              <a:t>Veamos cómo se distribuyen X1 y X2 (miremos los </a:t>
            </a:r>
            <a:r>
              <a:rPr b="1" lang="es">
                <a:solidFill>
                  <a:srgbClr val="0000FF"/>
                </a:solidFill>
              </a:rPr>
              <a:t>histogramas</a:t>
            </a:r>
            <a:r>
              <a:rPr lang="es">
                <a:solidFill>
                  <a:schemeClr val="dk2"/>
                </a:solidFill>
              </a:rPr>
              <a:t>). </a:t>
            </a:r>
            <a:endParaRPr>
              <a:solidFill>
                <a:schemeClr val="dk2"/>
              </a:solidFill>
            </a:endParaRPr>
          </a:p>
          <a:p>
            <a:pPr indent="0" lvl="0" marL="0" rtl="0" algn="l">
              <a:spcBef>
                <a:spcPts val="0"/>
              </a:spcBef>
              <a:spcAft>
                <a:spcPts val="0"/>
              </a:spcAft>
              <a:buNone/>
            </a:pPr>
            <a:r>
              <a:t/>
            </a:r>
            <a:endParaRPr>
              <a:solidFill>
                <a:schemeClr val="dk2"/>
              </a:solidFill>
            </a:endParaRPr>
          </a:p>
          <a:p>
            <a:pPr indent="0" lvl="0" marL="0" rtl="0" algn="l">
              <a:spcBef>
                <a:spcPts val="0"/>
              </a:spcBef>
              <a:spcAft>
                <a:spcPts val="0"/>
              </a:spcAft>
              <a:buNone/>
            </a:pPr>
            <a:r>
              <a:rPr lang="es">
                <a:solidFill>
                  <a:schemeClr val="dk2"/>
                </a:solidFill>
              </a:rPr>
              <a:t>A partir de las </a:t>
            </a:r>
            <a:r>
              <a:rPr lang="es">
                <a:solidFill>
                  <a:schemeClr val="dk2"/>
                </a:solidFill>
              </a:rPr>
              <a:t>distribuciones </a:t>
            </a:r>
            <a:r>
              <a:rPr lang="es">
                <a:solidFill>
                  <a:schemeClr val="dk2"/>
                </a:solidFill>
              </a:rPr>
              <a:t>podemos calcular la varianza de cada variable (entender cuánto varían los datos). </a:t>
            </a:r>
            <a:endParaRPr>
              <a:solidFill>
                <a:schemeClr val="dk2"/>
              </a:solidFill>
            </a:endParaRPr>
          </a:p>
          <a:p>
            <a:pPr indent="0" lvl="0" marL="0" rtl="0" algn="l">
              <a:spcBef>
                <a:spcPts val="0"/>
              </a:spcBef>
              <a:spcAft>
                <a:spcPts val="0"/>
              </a:spcAft>
              <a:buNone/>
            </a:pPr>
            <a:r>
              <a:t/>
            </a:r>
            <a:endParaRPr>
              <a:solidFill>
                <a:schemeClr val="dk2"/>
              </a:solidFill>
            </a:endParaRPr>
          </a:p>
          <a:p>
            <a:pPr indent="0" lvl="0" marL="0" rtl="0" algn="l">
              <a:spcBef>
                <a:spcPts val="0"/>
              </a:spcBef>
              <a:spcAft>
                <a:spcPts val="0"/>
              </a:spcAft>
              <a:buNone/>
            </a:pPr>
            <a:r>
              <a:rPr lang="es">
                <a:solidFill>
                  <a:schemeClr val="dk2"/>
                </a:solidFill>
              </a:rPr>
              <a:t>Ahora bien, </a:t>
            </a:r>
            <a:r>
              <a:rPr b="1" lang="es">
                <a:solidFill>
                  <a:schemeClr val="dk2"/>
                </a:solidFill>
              </a:rPr>
              <a:t>ambas </a:t>
            </a:r>
            <a:r>
              <a:rPr b="1" lang="es">
                <a:solidFill>
                  <a:schemeClr val="dk2"/>
                </a:solidFill>
              </a:rPr>
              <a:t>variables</a:t>
            </a:r>
            <a:r>
              <a:rPr b="1" lang="es">
                <a:solidFill>
                  <a:schemeClr val="dk2"/>
                </a:solidFill>
              </a:rPr>
              <a:t> están </a:t>
            </a:r>
            <a:r>
              <a:rPr b="1" lang="es">
                <a:solidFill>
                  <a:schemeClr val="dk2"/>
                </a:solidFill>
              </a:rPr>
              <a:t>fuertemente</a:t>
            </a:r>
            <a:r>
              <a:rPr b="1" lang="es">
                <a:solidFill>
                  <a:schemeClr val="dk2"/>
                </a:solidFill>
              </a:rPr>
              <a:t> correlacionadas</a:t>
            </a:r>
            <a:r>
              <a:rPr lang="es">
                <a:solidFill>
                  <a:schemeClr val="dk2"/>
                </a:solidFill>
              </a:rPr>
              <a:t>. Por ende, al analizar la variabilidad que aporta cada variable por </a:t>
            </a:r>
            <a:r>
              <a:rPr lang="es">
                <a:solidFill>
                  <a:schemeClr val="dk2"/>
                </a:solidFill>
              </a:rPr>
              <a:t>separado</a:t>
            </a:r>
            <a:r>
              <a:rPr lang="es">
                <a:solidFill>
                  <a:schemeClr val="dk2"/>
                </a:solidFill>
              </a:rPr>
              <a:t> tenemos </a:t>
            </a:r>
            <a:r>
              <a:rPr b="1" lang="es">
                <a:solidFill>
                  <a:schemeClr val="dk2"/>
                </a:solidFill>
              </a:rPr>
              <a:t>información redundante</a:t>
            </a:r>
            <a:r>
              <a:rPr lang="es">
                <a:solidFill>
                  <a:schemeClr val="dk2"/>
                </a:solidFill>
              </a:rPr>
              <a:t>. </a:t>
            </a:r>
            <a:endParaRPr>
              <a:solidFill>
                <a:schemeClr val="dk2"/>
              </a:solidFill>
            </a:endParaRPr>
          </a:p>
        </p:txBody>
      </p:sp>
      <p:sp>
        <p:nvSpPr>
          <p:cNvPr id="147" name="Google Shape;147;p25"/>
          <p:cNvSpPr txBox="1"/>
          <p:nvPr/>
        </p:nvSpPr>
        <p:spPr>
          <a:xfrm>
            <a:off x="4883600" y="3921350"/>
            <a:ext cx="4000500" cy="869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s">
                <a:solidFill>
                  <a:schemeClr val="dk2"/>
                </a:solidFill>
              </a:rPr>
              <a:t>Sin embargo, podemos proyectar los datos en </a:t>
            </a:r>
            <a:r>
              <a:rPr lang="es" u="sng">
                <a:solidFill>
                  <a:schemeClr val="dk2"/>
                </a:solidFill>
              </a:rPr>
              <a:t>nuevas direcciones</a:t>
            </a:r>
            <a:r>
              <a:rPr lang="es">
                <a:solidFill>
                  <a:schemeClr val="dk2"/>
                </a:solidFill>
              </a:rPr>
              <a:t> que nos permita </a:t>
            </a:r>
            <a:r>
              <a:rPr b="1" lang="es">
                <a:solidFill>
                  <a:schemeClr val="dk2"/>
                </a:solidFill>
              </a:rPr>
              <a:t>captar mejor la variabilidad conjunta, reduciendo la </a:t>
            </a:r>
            <a:r>
              <a:rPr b="1" lang="es">
                <a:solidFill>
                  <a:schemeClr val="dk2"/>
                </a:solidFill>
              </a:rPr>
              <a:t>información</a:t>
            </a:r>
            <a:r>
              <a:rPr b="1" lang="es">
                <a:solidFill>
                  <a:schemeClr val="dk2"/>
                </a:solidFill>
              </a:rPr>
              <a:t> redundante</a:t>
            </a:r>
            <a:r>
              <a:rPr lang="es">
                <a:solidFill>
                  <a:schemeClr val="dk2"/>
                </a:solidFill>
              </a:rPr>
              <a:t>.</a:t>
            </a:r>
            <a:endParaRPr sz="1800">
              <a:solidFill>
                <a:schemeClr val="dk2"/>
              </a:solidFill>
            </a:endParaRPr>
          </a:p>
        </p:txBody>
      </p:sp>
      <p:sp>
        <p:nvSpPr>
          <p:cNvPr id="148" name="Google Shape;148;p25"/>
          <p:cNvSpPr/>
          <p:nvPr/>
        </p:nvSpPr>
        <p:spPr>
          <a:xfrm>
            <a:off x="4782350" y="3921338"/>
            <a:ext cx="4203000" cy="11295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26"/>
          <p:cNvSpPr txBox="1"/>
          <p:nvPr/>
        </p:nvSpPr>
        <p:spPr>
          <a:xfrm>
            <a:off x="267350" y="297675"/>
            <a:ext cx="82413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 sz="2800">
                <a:solidFill>
                  <a:srgbClr val="0000FF"/>
                </a:solidFill>
              </a:rPr>
              <a:t>Análisis de componentes principales (PCA)</a:t>
            </a:r>
            <a:endParaRPr/>
          </a:p>
        </p:txBody>
      </p:sp>
      <p:sp>
        <p:nvSpPr>
          <p:cNvPr id="154" name="Google Shape;154;p26"/>
          <p:cNvSpPr txBox="1"/>
          <p:nvPr/>
        </p:nvSpPr>
        <p:spPr>
          <a:xfrm>
            <a:off x="5020100" y="992400"/>
            <a:ext cx="4006800" cy="3701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a:solidFill>
                  <a:schemeClr val="dk2"/>
                </a:solidFill>
              </a:rPr>
              <a:t>Estas “nuevas direcciones” son las </a:t>
            </a:r>
            <a:r>
              <a:rPr b="1" lang="es">
                <a:solidFill>
                  <a:schemeClr val="dk2"/>
                </a:solidFill>
              </a:rPr>
              <a:t>componentes principales</a:t>
            </a:r>
            <a:r>
              <a:rPr lang="es">
                <a:solidFill>
                  <a:schemeClr val="dk2"/>
                </a:solidFill>
              </a:rPr>
              <a:t>. </a:t>
            </a:r>
            <a:endParaRPr>
              <a:solidFill>
                <a:schemeClr val="dk2"/>
              </a:solidFill>
            </a:endParaRPr>
          </a:p>
          <a:p>
            <a:pPr indent="0" lvl="0" marL="0" rtl="0" algn="l">
              <a:spcBef>
                <a:spcPts val="0"/>
              </a:spcBef>
              <a:spcAft>
                <a:spcPts val="0"/>
              </a:spcAft>
              <a:buNone/>
            </a:pPr>
            <a:r>
              <a:t/>
            </a:r>
            <a:endParaRPr>
              <a:solidFill>
                <a:schemeClr val="dk2"/>
              </a:solidFill>
            </a:endParaRPr>
          </a:p>
          <a:p>
            <a:pPr indent="0" lvl="0" marL="0" rtl="0" algn="l">
              <a:spcBef>
                <a:spcPts val="0"/>
              </a:spcBef>
              <a:spcAft>
                <a:spcPts val="0"/>
              </a:spcAft>
              <a:buNone/>
            </a:pPr>
            <a:r>
              <a:rPr lang="es" u="sng">
                <a:solidFill>
                  <a:schemeClr val="dk2"/>
                </a:solidFill>
              </a:rPr>
              <a:t>Las componentes principales:</a:t>
            </a:r>
            <a:endParaRPr u="sng">
              <a:solidFill>
                <a:schemeClr val="dk2"/>
              </a:solidFill>
            </a:endParaRPr>
          </a:p>
          <a:p>
            <a:pPr indent="0" lvl="0" marL="0" rtl="0" algn="l">
              <a:spcBef>
                <a:spcPts val="0"/>
              </a:spcBef>
              <a:spcAft>
                <a:spcPts val="0"/>
              </a:spcAft>
              <a:buNone/>
            </a:pPr>
            <a:r>
              <a:t/>
            </a:r>
            <a:endParaRPr>
              <a:solidFill>
                <a:schemeClr val="dk2"/>
              </a:solidFill>
            </a:endParaRPr>
          </a:p>
          <a:p>
            <a:pPr indent="-317500" lvl="0" marL="457200" rtl="0" algn="l">
              <a:spcBef>
                <a:spcPts val="0"/>
              </a:spcBef>
              <a:spcAft>
                <a:spcPts val="0"/>
              </a:spcAft>
              <a:buClr>
                <a:schemeClr val="dk2"/>
              </a:buClr>
              <a:buSzPts val="1400"/>
              <a:buChar char="●"/>
            </a:pPr>
            <a:r>
              <a:rPr lang="es">
                <a:solidFill>
                  <a:schemeClr val="dk2"/>
                </a:solidFill>
              </a:rPr>
              <a:t>Son las “nuevas direcciones” que </a:t>
            </a:r>
            <a:r>
              <a:rPr b="1" lang="es">
                <a:solidFill>
                  <a:schemeClr val="dk2"/>
                </a:solidFill>
              </a:rPr>
              <a:t>captan la mayor proporción de variabilidad</a:t>
            </a:r>
            <a:r>
              <a:rPr lang="es">
                <a:solidFill>
                  <a:schemeClr val="dk2"/>
                </a:solidFill>
              </a:rPr>
              <a:t> de los datos. </a:t>
            </a:r>
            <a:endParaRPr>
              <a:solidFill>
                <a:schemeClr val="dk2"/>
              </a:solidFill>
            </a:endParaRPr>
          </a:p>
          <a:p>
            <a:pPr indent="0" lvl="0" marL="457200" rtl="0" algn="l">
              <a:spcBef>
                <a:spcPts val="0"/>
              </a:spcBef>
              <a:spcAft>
                <a:spcPts val="0"/>
              </a:spcAft>
              <a:buNone/>
            </a:pPr>
            <a:r>
              <a:t/>
            </a:r>
            <a:endParaRPr>
              <a:solidFill>
                <a:schemeClr val="dk2"/>
              </a:solidFill>
            </a:endParaRPr>
          </a:p>
          <a:p>
            <a:pPr indent="-317500" lvl="0" marL="457200" rtl="0" algn="l">
              <a:spcBef>
                <a:spcPts val="0"/>
              </a:spcBef>
              <a:spcAft>
                <a:spcPts val="0"/>
              </a:spcAft>
              <a:buClr>
                <a:schemeClr val="dk2"/>
              </a:buClr>
              <a:buSzPts val="1400"/>
              <a:buChar char="●"/>
            </a:pPr>
            <a:r>
              <a:rPr lang="es">
                <a:solidFill>
                  <a:schemeClr val="dk2"/>
                </a:solidFill>
              </a:rPr>
              <a:t>Son </a:t>
            </a:r>
            <a:r>
              <a:rPr b="1" lang="es">
                <a:solidFill>
                  <a:schemeClr val="dk2"/>
                </a:solidFill>
              </a:rPr>
              <a:t>combinaciones lineales de las variables originales</a:t>
            </a:r>
            <a:r>
              <a:rPr lang="es">
                <a:solidFill>
                  <a:schemeClr val="dk2"/>
                </a:solidFill>
              </a:rPr>
              <a:t>. </a:t>
            </a:r>
            <a:endParaRPr>
              <a:solidFill>
                <a:schemeClr val="dk2"/>
              </a:solidFill>
            </a:endParaRPr>
          </a:p>
          <a:p>
            <a:pPr indent="0" lvl="0" marL="457200" rtl="0" algn="l">
              <a:spcBef>
                <a:spcPts val="0"/>
              </a:spcBef>
              <a:spcAft>
                <a:spcPts val="0"/>
              </a:spcAft>
              <a:buNone/>
            </a:pPr>
            <a:r>
              <a:t/>
            </a:r>
            <a:endParaRPr>
              <a:solidFill>
                <a:schemeClr val="dk2"/>
              </a:solidFill>
            </a:endParaRPr>
          </a:p>
          <a:p>
            <a:pPr indent="-317500" lvl="0" marL="457200" rtl="0" algn="l">
              <a:spcBef>
                <a:spcPts val="0"/>
              </a:spcBef>
              <a:spcAft>
                <a:spcPts val="0"/>
              </a:spcAft>
              <a:buClr>
                <a:schemeClr val="dk2"/>
              </a:buClr>
              <a:buSzPts val="1400"/>
              <a:buChar char="●"/>
            </a:pPr>
            <a:r>
              <a:rPr lang="es">
                <a:solidFill>
                  <a:schemeClr val="dk2"/>
                </a:solidFill>
              </a:rPr>
              <a:t>Son nuevas variables no correlacionadas entre sí (</a:t>
            </a:r>
            <a:r>
              <a:rPr b="1" lang="es">
                <a:solidFill>
                  <a:schemeClr val="dk2"/>
                </a:solidFill>
              </a:rPr>
              <a:t>ortogonales</a:t>
            </a:r>
            <a:r>
              <a:rPr lang="es">
                <a:solidFill>
                  <a:schemeClr val="dk2"/>
                </a:solidFill>
              </a:rPr>
              <a:t>), y por tanto, cada una de ellas aporta información independiente de la aportada por las componentes restantes.</a:t>
            </a:r>
            <a:endParaRPr>
              <a:solidFill>
                <a:schemeClr val="dk2"/>
              </a:solidFill>
            </a:endParaRPr>
          </a:p>
          <a:p>
            <a:pPr indent="0" lvl="0" marL="0" rtl="0" algn="l">
              <a:spcBef>
                <a:spcPts val="0"/>
              </a:spcBef>
              <a:spcAft>
                <a:spcPts val="0"/>
              </a:spcAft>
              <a:buNone/>
            </a:pPr>
            <a:r>
              <a:t/>
            </a:r>
            <a:endParaRPr>
              <a:solidFill>
                <a:schemeClr val="dk2"/>
              </a:solidFill>
            </a:endParaRPr>
          </a:p>
          <a:p>
            <a:pPr indent="0" lvl="0" marL="0" rtl="0" algn="l">
              <a:spcBef>
                <a:spcPts val="0"/>
              </a:spcBef>
              <a:spcAft>
                <a:spcPts val="0"/>
              </a:spcAft>
              <a:buNone/>
            </a:pPr>
            <a:r>
              <a:t/>
            </a:r>
            <a:endParaRPr>
              <a:solidFill>
                <a:schemeClr val="dk2"/>
              </a:solidFill>
            </a:endParaRPr>
          </a:p>
        </p:txBody>
      </p:sp>
      <p:pic>
        <p:nvPicPr>
          <p:cNvPr id="155" name="Google Shape;155;p26"/>
          <p:cNvPicPr preferRelativeResize="0"/>
          <p:nvPr/>
        </p:nvPicPr>
        <p:blipFill>
          <a:blip r:embed="rId3">
            <a:alphaModFix/>
          </a:blip>
          <a:stretch>
            <a:fillRect/>
          </a:stretch>
        </p:blipFill>
        <p:spPr>
          <a:xfrm>
            <a:off x="92850" y="1055400"/>
            <a:ext cx="4754129" cy="3813250"/>
          </a:xfrm>
          <a:prstGeom prst="rect">
            <a:avLst/>
          </a:prstGeom>
          <a:noFill/>
          <a:ln>
            <a:noFill/>
          </a:ln>
        </p:spPr>
      </p:pic>
      <p:sp>
        <p:nvSpPr>
          <p:cNvPr id="156" name="Google Shape;156;p26"/>
          <p:cNvSpPr txBox="1"/>
          <p:nvPr/>
        </p:nvSpPr>
        <p:spPr>
          <a:xfrm>
            <a:off x="918825" y="3659400"/>
            <a:ext cx="2667000" cy="369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100">
                <a:solidFill>
                  <a:srgbClr val="FF0000"/>
                </a:solidFill>
              </a:rPr>
              <a:t>(así se ve la misma distribución de datos pero ahora proyectada en las componentes principales)</a:t>
            </a:r>
            <a:endParaRPr sz="1100">
              <a:solidFill>
                <a:srgbClr val="FF0000"/>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27"/>
          <p:cNvSpPr txBox="1"/>
          <p:nvPr/>
        </p:nvSpPr>
        <p:spPr>
          <a:xfrm>
            <a:off x="267350" y="297675"/>
            <a:ext cx="82413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 sz="2800">
                <a:solidFill>
                  <a:srgbClr val="0000FF"/>
                </a:solidFill>
              </a:rPr>
              <a:t>Análisis de componentes principales (PCA)</a:t>
            </a:r>
            <a:endParaRPr/>
          </a:p>
        </p:txBody>
      </p:sp>
      <p:pic>
        <p:nvPicPr>
          <p:cNvPr id="162" name="Google Shape;162;p27"/>
          <p:cNvPicPr preferRelativeResize="0"/>
          <p:nvPr/>
        </p:nvPicPr>
        <p:blipFill rotWithShape="1">
          <a:blip r:embed="rId3">
            <a:alphaModFix/>
          </a:blip>
          <a:srcRect b="0" l="3166" r="0" t="0"/>
          <a:stretch/>
        </p:blipFill>
        <p:spPr>
          <a:xfrm>
            <a:off x="0" y="1056150"/>
            <a:ext cx="5556651" cy="3701051"/>
          </a:xfrm>
          <a:prstGeom prst="rect">
            <a:avLst/>
          </a:prstGeom>
          <a:noFill/>
          <a:ln>
            <a:noFill/>
          </a:ln>
        </p:spPr>
      </p:pic>
      <p:sp>
        <p:nvSpPr>
          <p:cNvPr id="163" name="Google Shape;163;p27"/>
          <p:cNvSpPr txBox="1"/>
          <p:nvPr/>
        </p:nvSpPr>
        <p:spPr>
          <a:xfrm>
            <a:off x="5478925" y="3778475"/>
            <a:ext cx="3226500" cy="976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a:solidFill>
                  <a:schemeClr val="dk2"/>
                </a:solidFill>
              </a:rPr>
              <a:t>Vemos que la PC2 capta mucha menos variación que la PC1 </a:t>
            </a:r>
            <a:r>
              <a:rPr lang="es">
                <a:solidFill>
                  <a:schemeClr val="dk2"/>
                </a:solidFill>
              </a:rPr>
              <a:t>(parece ser más ruido que información importante)</a:t>
            </a:r>
            <a:endParaRPr>
              <a:solidFill>
                <a:schemeClr val="dk2"/>
              </a:solidFill>
            </a:endParaRPr>
          </a:p>
          <a:p>
            <a:pPr indent="0" lvl="0" marL="0" rtl="0" algn="l">
              <a:spcBef>
                <a:spcPts val="0"/>
              </a:spcBef>
              <a:spcAft>
                <a:spcPts val="0"/>
              </a:spcAft>
              <a:buNone/>
            </a:pPr>
            <a:r>
              <a:t/>
            </a:r>
            <a:endParaRPr sz="1800">
              <a:solidFill>
                <a:schemeClr val="dk2"/>
              </a:solidFill>
            </a:endParaRPr>
          </a:p>
        </p:txBody>
      </p:sp>
      <p:sp>
        <p:nvSpPr>
          <p:cNvPr id="164" name="Google Shape;164;p27"/>
          <p:cNvSpPr txBox="1"/>
          <p:nvPr/>
        </p:nvSpPr>
        <p:spPr>
          <a:xfrm>
            <a:off x="5371750" y="1077925"/>
            <a:ext cx="3643200" cy="2535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600">
                <a:solidFill>
                  <a:schemeClr val="dk2"/>
                </a:solidFill>
              </a:rPr>
              <a:t>Notar que si nos tenemos en cuenta a la PC2, no perdemos tanta información como si hubiésemos descartado a alguna de las variables originales (X1, X2).</a:t>
            </a:r>
            <a:endParaRPr sz="1600">
              <a:solidFill>
                <a:schemeClr val="dk2"/>
              </a:solidFill>
            </a:endParaRPr>
          </a:p>
          <a:p>
            <a:pPr indent="0" lvl="0" marL="0" rtl="0" algn="l">
              <a:spcBef>
                <a:spcPts val="0"/>
              </a:spcBef>
              <a:spcAft>
                <a:spcPts val="0"/>
              </a:spcAft>
              <a:buNone/>
            </a:pPr>
            <a:r>
              <a:t/>
            </a:r>
            <a:endParaRPr sz="1600">
              <a:solidFill>
                <a:schemeClr val="dk2"/>
              </a:solidFill>
            </a:endParaRPr>
          </a:p>
          <a:p>
            <a:pPr indent="0" lvl="0" marL="0" rtl="0" algn="l">
              <a:spcBef>
                <a:spcPts val="0"/>
              </a:spcBef>
              <a:spcAft>
                <a:spcPts val="0"/>
              </a:spcAft>
              <a:buNone/>
            </a:pPr>
            <a:r>
              <a:rPr b="1" lang="es" sz="1600">
                <a:solidFill>
                  <a:schemeClr val="dk2"/>
                </a:solidFill>
              </a:rPr>
              <a:t>Podemos reducir nuestro problema de dos dimensiones a una </a:t>
            </a:r>
            <a:r>
              <a:rPr b="1" lang="es" sz="1600">
                <a:solidFill>
                  <a:schemeClr val="dk2"/>
                </a:solidFill>
              </a:rPr>
              <a:t>única</a:t>
            </a:r>
            <a:r>
              <a:rPr b="1" lang="es" sz="1600">
                <a:solidFill>
                  <a:schemeClr val="dk2"/>
                </a:solidFill>
              </a:rPr>
              <a:t> dimensión (PC1).</a:t>
            </a:r>
            <a:endParaRPr b="1" sz="1600">
              <a:solidFill>
                <a:schemeClr val="dk2"/>
              </a:solidFill>
            </a:endParaRPr>
          </a:p>
          <a:p>
            <a:pPr indent="0" lvl="0" marL="0" rtl="0" algn="l">
              <a:spcBef>
                <a:spcPts val="0"/>
              </a:spcBef>
              <a:spcAft>
                <a:spcPts val="0"/>
              </a:spcAft>
              <a:buNone/>
            </a:pPr>
            <a:r>
              <a:t/>
            </a:r>
            <a:endParaRPr sz="1800">
              <a:solidFill>
                <a:schemeClr val="dk2"/>
              </a:solidFill>
            </a:endParaRPr>
          </a:p>
        </p:txBody>
      </p:sp>
      <p:sp>
        <p:nvSpPr>
          <p:cNvPr id="165" name="Google Shape;165;p27"/>
          <p:cNvSpPr/>
          <p:nvPr/>
        </p:nvSpPr>
        <p:spPr>
          <a:xfrm>
            <a:off x="5312225" y="2504500"/>
            <a:ext cx="3702600" cy="9762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6" name="Google Shape;166;p27"/>
          <p:cNvSpPr/>
          <p:nvPr/>
        </p:nvSpPr>
        <p:spPr>
          <a:xfrm>
            <a:off x="1835600" y="4171375"/>
            <a:ext cx="857400" cy="714300"/>
          </a:xfrm>
          <a:prstGeom prst="ellipse">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28"/>
          <p:cNvSpPr txBox="1"/>
          <p:nvPr/>
        </p:nvSpPr>
        <p:spPr>
          <a:xfrm>
            <a:off x="267350" y="297675"/>
            <a:ext cx="82413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 sz="2800">
                <a:solidFill>
                  <a:srgbClr val="0000FF"/>
                </a:solidFill>
              </a:rPr>
              <a:t>¿Cómo funciona PCA?</a:t>
            </a:r>
            <a:endParaRPr/>
          </a:p>
        </p:txBody>
      </p:sp>
      <p:sp>
        <p:nvSpPr>
          <p:cNvPr id="172" name="Google Shape;172;p28"/>
          <p:cNvSpPr txBox="1"/>
          <p:nvPr/>
        </p:nvSpPr>
        <p:spPr>
          <a:xfrm>
            <a:off x="422700" y="913275"/>
            <a:ext cx="8298600" cy="3655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800">
              <a:solidFill>
                <a:schemeClr val="dk2"/>
              </a:solidFill>
            </a:endParaRPr>
          </a:p>
          <a:p>
            <a:pPr indent="0" lvl="0" marL="0" rtl="0" algn="l">
              <a:spcBef>
                <a:spcPts val="0"/>
              </a:spcBef>
              <a:spcAft>
                <a:spcPts val="0"/>
              </a:spcAft>
              <a:buNone/>
            </a:pPr>
            <a:r>
              <a:rPr b="1" lang="es" sz="1800">
                <a:solidFill>
                  <a:schemeClr val="dk2"/>
                </a:solidFill>
                <a:highlight>
                  <a:srgbClr val="CFE2F3"/>
                </a:highlight>
              </a:rPr>
              <a:t>PASO 1 - Estandarización de los datos:</a:t>
            </a:r>
            <a:r>
              <a:rPr lang="es" sz="1800">
                <a:solidFill>
                  <a:schemeClr val="dk2"/>
                </a:solidFill>
              </a:rPr>
              <a:t> Dado que las variables originales pueden tener diferentes escalas, es común estandarizarlas para que tengan media 0 y desviación estándar 1 (</a:t>
            </a:r>
            <a:r>
              <a:rPr b="1" lang="es" sz="1800">
                <a:solidFill>
                  <a:schemeClr val="dk2"/>
                </a:solidFill>
              </a:rPr>
              <a:t>de lo contrario, la variabilidad podría estar dominada por aquellas variables que tengan mayores magnitudes</a:t>
            </a:r>
            <a:r>
              <a:rPr lang="es" sz="1800">
                <a:solidFill>
                  <a:schemeClr val="dk2"/>
                </a:solidFill>
              </a:rPr>
              <a:t>, y las primeras componentes </a:t>
            </a:r>
            <a:r>
              <a:rPr lang="es" sz="1800">
                <a:solidFill>
                  <a:schemeClr val="dk2"/>
                </a:solidFill>
              </a:rPr>
              <a:t>captarán</a:t>
            </a:r>
            <a:r>
              <a:rPr lang="es" sz="1800">
                <a:solidFill>
                  <a:schemeClr val="dk2"/>
                </a:solidFill>
              </a:rPr>
              <a:t> simplemente las </a:t>
            </a:r>
            <a:r>
              <a:rPr lang="es" sz="1800">
                <a:solidFill>
                  <a:schemeClr val="dk2"/>
                </a:solidFill>
              </a:rPr>
              <a:t>diferencias</a:t>
            </a:r>
            <a:r>
              <a:rPr lang="es" sz="1800">
                <a:solidFill>
                  <a:schemeClr val="dk2"/>
                </a:solidFill>
              </a:rPr>
              <a:t> en las escalas de medición). </a:t>
            </a:r>
            <a:endParaRPr sz="1800">
              <a:solidFill>
                <a:schemeClr val="dk2"/>
              </a:solidFill>
            </a:endParaRPr>
          </a:p>
          <a:p>
            <a:pPr indent="0" lvl="0" marL="0" rtl="0" algn="l">
              <a:spcBef>
                <a:spcPts val="0"/>
              </a:spcBef>
              <a:spcAft>
                <a:spcPts val="0"/>
              </a:spcAft>
              <a:buNone/>
            </a:pPr>
            <a:r>
              <a:t/>
            </a:r>
            <a:endParaRPr sz="1800">
              <a:solidFill>
                <a:schemeClr val="dk2"/>
              </a:solidFill>
            </a:endParaRPr>
          </a:p>
          <a:p>
            <a:pPr indent="0" lvl="0" marL="0" rtl="0" algn="l">
              <a:spcBef>
                <a:spcPts val="0"/>
              </a:spcBef>
              <a:spcAft>
                <a:spcPts val="0"/>
              </a:spcAft>
              <a:buNone/>
            </a:pPr>
            <a:r>
              <a:t/>
            </a:r>
            <a:endParaRPr b="1" sz="1800">
              <a:solidFill>
                <a:schemeClr val="dk2"/>
              </a:solidFill>
              <a:highlight>
                <a:srgbClr val="F4CCCC"/>
              </a:highlight>
            </a:endParaRPr>
          </a:p>
          <a:p>
            <a:pPr indent="0" lvl="0" marL="0" rtl="0" algn="l">
              <a:spcBef>
                <a:spcPts val="0"/>
              </a:spcBef>
              <a:spcAft>
                <a:spcPts val="0"/>
              </a:spcAft>
              <a:buNone/>
            </a:pPr>
            <a:r>
              <a:rPr b="1" lang="es" sz="1800">
                <a:solidFill>
                  <a:schemeClr val="dk2"/>
                </a:solidFill>
                <a:highlight>
                  <a:srgbClr val="CFE2F3"/>
                </a:highlight>
              </a:rPr>
              <a:t>PASO 2 - Cálculo de la matriz de covarianza:</a:t>
            </a:r>
            <a:r>
              <a:rPr lang="es" sz="1800">
                <a:solidFill>
                  <a:schemeClr val="dk2"/>
                </a:solidFill>
              </a:rPr>
              <a:t> Se evalúan las relaciones lineales entre las variables para identificar correlaciones.</a:t>
            </a:r>
            <a:endParaRPr sz="1800">
              <a:solidFill>
                <a:schemeClr val="dk2"/>
              </a:solidFill>
            </a:endParaRPr>
          </a:p>
          <a:p>
            <a:pPr indent="0" lvl="0" marL="0" rtl="0" algn="l">
              <a:spcBef>
                <a:spcPts val="0"/>
              </a:spcBef>
              <a:spcAft>
                <a:spcPts val="0"/>
              </a:spcAft>
              <a:buNone/>
            </a:pPr>
            <a:r>
              <a:t/>
            </a:r>
            <a:endParaRPr sz="1800">
              <a:solidFill>
                <a:schemeClr val="dk2"/>
              </a:solidFill>
            </a:endParaRPr>
          </a:p>
          <a:p>
            <a:pPr indent="0" lvl="0" marL="0" rtl="0" algn="l">
              <a:spcBef>
                <a:spcPts val="0"/>
              </a:spcBef>
              <a:spcAft>
                <a:spcPts val="0"/>
              </a:spcAft>
              <a:buNone/>
            </a:pPr>
            <a:r>
              <a:t/>
            </a:r>
            <a:endParaRPr sz="1800">
              <a:solidFill>
                <a:schemeClr val="dk2"/>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29"/>
          <p:cNvSpPr txBox="1"/>
          <p:nvPr/>
        </p:nvSpPr>
        <p:spPr>
          <a:xfrm>
            <a:off x="267350" y="297675"/>
            <a:ext cx="82413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 sz="2800">
                <a:solidFill>
                  <a:srgbClr val="0000FF"/>
                </a:solidFill>
              </a:rPr>
              <a:t>¿Cómo funciona PCA?</a:t>
            </a:r>
            <a:endParaRPr/>
          </a:p>
        </p:txBody>
      </p:sp>
      <p:sp>
        <p:nvSpPr>
          <p:cNvPr id="178" name="Google Shape;178;p29"/>
          <p:cNvSpPr txBox="1"/>
          <p:nvPr/>
        </p:nvSpPr>
        <p:spPr>
          <a:xfrm>
            <a:off x="422700" y="1079950"/>
            <a:ext cx="8298600" cy="3655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800">
              <a:solidFill>
                <a:schemeClr val="dk2"/>
              </a:solidFill>
            </a:endParaRPr>
          </a:p>
          <a:p>
            <a:pPr indent="0" lvl="0" marL="0" rtl="0" algn="l">
              <a:spcBef>
                <a:spcPts val="0"/>
              </a:spcBef>
              <a:spcAft>
                <a:spcPts val="0"/>
              </a:spcAft>
              <a:buNone/>
            </a:pPr>
            <a:r>
              <a:rPr b="1" lang="es" sz="1800">
                <a:solidFill>
                  <a:schemeClr val="dk2"/>
                </a:solidFill>
                <a:highlight>
                  <a:srgbClr val="CFE2F3"/>
                </a:highlight>
              </a:rPr>
              <a:t>PASO 3 - Obtención de los autovalores y autovectores:</a:t>
            </a:r>
            <a:r>
              <a:rPr lang="es" sz="1800">
                <a:solidFill>
                  <a:schemeClr val="dk2"/>
                </a:solidFill>
                <a:highlight>
                  <a:srgbClr val="CFE2F3"/>
                </a:highlight>
              </a:rPr>
              <a:t> </a:t>
            </a:r>
            <a:endParaRPr sz="1800">
              <a:solidFill>
                <a:schemeClr val="dk2"/>
              </a:solidFill>
              <a:highlight>
                <a:srgbClr val="CFE2F3"/>
              </a:highlight>
            </a:endParaRPr>
          </a:p>
          <a:p>
            <a:pPr indent="0" lvl="0" marL="0" rtl="0" algn="l">
              <a:spcBef>
                <a:spcPts val="0"/>
              </a:spcBef>
              <a:spcAft>
                <a:spcPts val="0"/>
              </a:spcAft>
              <a:buNone/>
            </a:pPr>
            <a:r>
              <a:rPr lang="es" sz="1800">
                <a:solidFill>
                  <a:schemeClr val="dk2"/>
                </a:solidFill>
              </a:rPr>
              <a:t>De manera resumida, digamos que los autovalores y los autovectores son números que se calculan a partir de la matriz de covarianza (a partir de la traza, el determinante y la matriz identidad). </a:t>
            </a:r>
            <a:r>
              <a:rPr i="1" lang="es" sz="1800">
                <a:solidFill>
                  <a:schemeClr val="dk2"/>
                </a:solidFill>
              </a:rPr>
              <a:t> </a:t>
            </a:r>
            <a:endParaRPr i="1" sz="1800">
              <a:solidFill>
                <a:schemeClr val="dk2"/>
              </a:solidFill>
            </a:endParaRPr>
          </a:p>
          <a:p>
            <a:pPr indent="0" lvl="0" marL="0" rtl="0" algn="l">
              <a:spcBef>
                <a:spcPts val="0"/>
              </a:spcBef>
              <a:spcAft>
                <a:spcPts val="0"/>
              </a:spcAft>
              <a:buNone/>
            </a:pPr>
            <a:r>
              <a:t/>
            </a:r>
            <a:endParaRPr i="1" sz="1800">
              <a:solidFill>
                <a:schemeClr val="dk2"/>
              </a:solidFill>
            </a:endParaRPr>
          </a:p>
          <a:p>
            <a:pPr indent="0" lvl="0" marL="0" rtl="0" algn="l">
              <a:spcBef>
                <a:spcPts val="0"/>
              </a:spcBef>
              <a:spcAft>
                <a:spcPts val="0"/>
              </a:spcAft>
              <a:buNone/>
            </a:pPr>
            <a:r>
              <a:rPr lang="es" sz="1800">
                <a:solidFill>
                  <a:schemeClr val="dk2"/>
                </a:solidFill>
              </a:rPr>
              <a:t>Los </a:t>
            </a:r>
            <a:r>
              <a:rPr b="1" lang="es" sz="1800">
                <a:solidFill>
                  <a:schemeClr val="dk2"/>
                </a:solidFill>
              </a:rPr>
              <a:t>autovalores</a:t>
            </a:r>
            <a:r>
              <a:rPr lang="es" sz="1800">
                <a:solidFill>
                  <a:schemeClr val="dk2"/>
                </a:solidFill>
              </a:rPr>
              <a:t> indican la </a:t>
            </a:r>
            <a:r>
              <a:rPr b="1" lang="es" sz="1800">
                <a:solidFill>
                  <a:schemeClr val="dk2"/>
                </a:solidFill>
              </a:rPr>
              <a:t>cantidad de varianza explicada por cada componente principal</a:t>
            </a:r>
            <a:r>
              <a:rPr lang="es" sz="1800">
                <a:solidFill>
                  <a:schemeClr val="dk2"/>
                </a:solidFill>
              </a:rPr>
              <a:t>, mientras que los </a:t>
            </a:r>
            <a:r>
              <a:rPr b="1" lang="es" sz="1800">
                <a:solidFill>
                  <a:schemeClr val="dk2"/>
                </a:solidFill>
              </a:rPr>
              <a:t>autovectores</a:t>
            </a:r>
            <a:r>
              <a:rPr lang="es" sz="1800">
                <a:solidFill>
                  <a:schemeClr val="dk2"/>
                </a:solidFill>
              </a:rPr>
              <a:t> (direcciones principales) definen los </a:t>
            </a:r>
            <a:r>
              <a:rPr b="1" lang="es" sz="1800">
                <a:solidFill>
                  <a:schemeClr val="dk2"/>
                </a:solidFill>
              </a:rPr>
              <a:t>nuevos ejes del espacio transformado</a:t>
            </a:r>
            <a:r>
              <a:rPr lang="es" sz="1800">
                <a:solidFill>
                  <a:schemeClr val="dk2"/>
                </a:solidFill>
              </a:rPr>
              <a:t>.</a:t>
            </a:r>
            <a:endParaRPr sz="1800">
              <a:solidFill>
                <a:schemeClr val="dk2"/>
              </a:solidFill>
            </a:endParaRPr>
          </a:p>
          <a:p>
            <a:pPr indent="0" lvl="0" marL="0" rtl="0" algn="l">
              <a:spcBef>
                <a:spcPts val="0"/>
              </a:spcBef>
              <a:spcAft>
                <a:spcPts val="0"/>
              </a:spcAft>
              <a:buNone/>
            </a:pPr>
            <a:r>
              <a:t/>
            </a:r>
            <a:endParaRPr sz="1800">
              <a:solidFill>
                <a:schemeClr val="dk2"/>
              </a:solidFill>
            </a:endParaRPr>
          </a:p>
          <a:p>
            <a:pPr indent="0" lvl="0" marL="0" rtl="0" algn="l">
              <a:spcBef>
                <a:spcPts val="0"/>
              </a:spcBef>
              <a:spcAft>
                <a:spcPts val="0"/>
              </a:spcAft>
              <a:buNone/>
            </a:pPr>
            <a:r>
              <a:t/>
            </a:r>
            <a:endParaRPr sz="1800">
              <a:solidFill>
                <a:schemeClr val="dk2"/>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30"/>
          <p:cNvSpPr txBox="1"/>
          <p:nvPr/>
        </p:nvSpPr>
        <p:spPr>
          <a:xfrm>
            <a:off x="267350" y="297675"/>
            <a:ext cx="82413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 sz="2800">
                <a:solidFill>
                  <a:srgbClr val="0000FF"/>
                </a:solidFill>
              </a:rPr>
              <a:t>¿Cómo funciona PCA?</a:t>
            </a:r>
            <a:endParaRPr/>
          </a:p>
        </p:txBody>
      </p:sp>
      <p:sp>
        <p:nvSpPr>
          <p:cNvPr id="184" name="Google Shape;184;p30"/>
          <p:cNvSpPr txBox="1"/>
          <p:nvPr/>
        </p:nvSpPr>
        <p:spPr>
          <a:xfrm>
            <a:off x="422700" y="913275"/>
            <a:ext cx="8298600" cy="3655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800">
              <a:solidFill>
                <a:schemeClr val="dk2"/>
              </a:solidFill>
            </a:endParaRPr>
          </a:p>
          <a:p>
            <a:pPr indent="0" lvl="0" marL="0" rtl="0" algn="l">
              <a:spcBef>
                <a:spcPts val="0"/>
              </a:spcBef>
              <a:spcAft>
                <a:spcPts val="0"/>
              </a:spcAft>
              <a:buNone/>
            </a:pPr>
            <a:r>
              <a:rPr b="1" lang="es" sz="1800">
                <a:solidFill>
                  <a:schemeClr val="dk2"/>
                </a:solidFill>
                <a:highlight>
                  <a:srgbClr val="CFE2F3"/>
                </a:highlight>
              </a:rPr>
              <a:t>PASO 4 - Selección de componentes principales:</a:t>
            </a:r>
            <a:r>
              <a:rPr lang="es" sz="1800">
                <a:solidFill>
                  <a:schemeClr val="dk2"/>
                </a:solidFill>
              </a:rPr>
              <a:t> Los componentes principales </a:t>
            </a:r>
            <a:r>
              <a:rPr b="1" lang="es" sz="1800">
                <a:solidFill>
                  <a:schemeClr val="dk2"/>
                </a:solidFill>
              </a:rPr>
              <a:t>se ordenan de acuerdo a la varianza explicada</a:t>
            </a:r>
            <a:r>
              <a:rPr lang="es" sz="1800">
                <a:solidFill>
                  <a:schemeClr val="dk2"/>
                </a:solidFill>
              </a:rPr>
              <a:t>. </a:t>
            </a:r>
            <a:r>
              <a:rPr i="1" lang="es" sz="1800">
                <a:solidFill>
                  <a:schemeClr val="dk2"/>
                </a:solidFill>
              </a:rPr>
              <a:t>En la práctica, se seleccionan los primeros componentes que capturan un porcentaje significativo de la variabilidad (por ejemplo, &gt;70%).</a:t>
            </a:r>
            <a:endParaRPr i="1" sz="1800">
              <a:solidFill>
                <a:schemeClr val="dk2"/>
              </a:solidFill>
            </a:endParaRPr>
          </a:p>
          <a:p>
            <a:pPr indent="0" lvl="0" marL="0" rtl="0" algn="l">
              <a:spcBef>
                <a:spcPts val="0"/>
              </a:spcBef>
              <a:spcAft>
                <a:spcPts val="0"/>
              </a:spcAft>
              <a:buNone/>
            </a:pPr>
            <a:r>
              <a:t/>
            </a:r>
            <a:endParaRPr sz="1800">
              <a:solidFill>
                <a:schemeClr val="dk2"/>
              </a:solidFill>
            </a:endParaRPr>
          </a:p>
          <a:p>
            <a:pPr indent="0" lvl="0" marL="0" rtl="0" algn="l">
              <a:spcBef>
                <a:spcPts val="0"/>
              </a:spcBef>
              <a:spcAft>
                <a:spcPts val="0"/>
              </a:spcAft>
              <a:buNone/>
            </a:pPr>
            <a:r>
              <a:t/>
            </a:r>
            <a:endParaRPr sz="1800">
              <a:solidFill>
                <a:schemeClr val="dk2"/>
              </a:solidFill>
            </a:endParaRPr>
          </a:p>
          <a:p>
            <a:pPr indent="0" lvl="0" marL="0" rtl="0" algn="l">
              <a:spcBef>
                <a:spcPts val="0"/>
              </a:spcBef>
              <a:spcAft>
                <a:spcPts val="0"/>
              </a:spcAft>
              <a:buNone/>
            </a:pPr>
            <a:r>
              <a:rPr b="1" lang="es" sz="1800">
                <a:solidFill>
                  <a:schemeClr val="dk2"/>
                </a:solidFill>
                <a:highlight>
                  <a:srgbClr val="CFE2F3"/>
                </a:highlight>
              </a:rPr>
              <a:t>PASO 5 - Transformación de los datos: </a:t>
            </a:r>
            <a:r>
              <a:rPr lang="es" sz="1800">
                <a:solidFill>
                  <a:schemeClr val="dk2"/>
                </a:solidFill>
              </a:rPr>
              <a:t>Los datos originales </a:t>
            </a:r>
            <a:r>
              <a:rPr b="1" lang="es" sz="1800">
                <a:solidFill>
                  <a:schemeClr val="dk2"/>
                </a:solidFill>
              </a:rPr>
              <a:t>se proyectan en el espacio definido por los componentes principales</a:t>
            </a:r>
            <a:r>
              <a:rPr lang="es" sz="1800">
                <a:solidFill>
                  <a:schemeClr val="dk2"/>
                </a:solidFill>
              </a:rPr>
              <a:t>, reduciendo la cantidad de variables sin perder demasiada información.</a:t>
            </a:r>
            <a:endParaRPr sz="1800">
              <a:solidFill>
                <a:schemeClr val="dk2"/>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31"/>
          <p:cNvSpPr txBox="1"/>
          <p:nvPr/>
        </p:nvSpPr>
        <p:spPr>
          <a:xfrm>
            <a:off x="267350" y="297675"/>
            <a:ext cx="8783400" cy="985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 sz="2600">
                <a:solidFill>
                  <a:srgbClr val="0000FF"/>
                </a:solidFill>
              </a:rPr>
              <a:t>¿Cómo seleccionamos el número de componentes a utilizar?</a:t>
            </a:r>
            <a:endParaRPr sz="1200"/>
          </a:p>
        </p:txBody>
      </p:sp>
      <p:sp>
        <p:nvSpPr>
          <p:cNvPr id="190" name="Google Shape;190;p31"/>
          <p:cNvSpPr txBox="1"/>
          <p:nvPr/>
        </p:nvSpPr>
        <p:spPr>
          <a:xfrm>
            <a:off x="267350" y="1282875"/>
            <a:ext cx="8453400" cy="619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600">
                <a:solidFill>
                  <a:schemeClr val="dk2"/>
                </a:solidFill>
              </a:rPr>
              <a:t>Al ser un problema de aprendizaje no-supervisado, </a:t>
            </a:r>
            <a:r>
              <a:rPr b="1" lang="es" sz="1600">
                <a:solidFill>
                  <a:schemeClr val="dk2"/>
                </a:solidFill>
              </a:rPr>
              <a:t>no tenemos un conjunto de testeo que nos permita encontrar el número </a:t>
            </a:r>
            <a:r>
              <a:rPr b="1" lang="es" sz="1600">
                <a:solidFill>
                  <a:schemeClr val="dk2"/>
                </a:solidFill>
              </a:rPr>
              <a:t>óptimo</a:t>
            </a:r>
            <a:r>
              <a:rPr b="1" lang="es" sz="1600">
                <a:solidFill>
                  <a:schemeClr val="dk2"/>
                </a:solidFill>
              </a:rPr>
              <a:t> de componentes</a:t>
            </a:r>
            <a:r>
              <a:rPr lang="es" sz="1600">
                <a:solidFill>
                  <a:schemeClr val="dk2"/>
                </a:solidFill>
              </a:rPr>
              <a:t> a través de </a:t>
            </a:r>
            <a:r>
              <a:rPr lang="es" sz="1600">
                <a:solidFill>
                  <a:schemeClr val="dk2"/>
                </a:solidFill>
              </a:rPr>
              <a:t>técnicas</a:t>
            </a:r>
            <a:r>
              <a:rPr lang="es" sz="1600">
                <a:solidFill>
                  <a:schemeClr val="dk2"/>
                </a:solidFill>
              </a:rPr>
              <a:t> de optimización / cross- validation.</a:t>
            </a:r>
            <a:endParaRPr sz="1600">
              <a:solidFill>
                <a:schemeClr val="dk2"/>
              </a:solidFill>
            </a:endParaRPr>
          </a:p>
          <a:p>
            <a:pPr indent="0" lvl="0" marL="0" rtl="0" algn="l">
              <a:spcBef>
                <a:spcPts val="0"/>
              </a:spcBef>
              <a:spcAft>
                <a:spcPts val="0"/>
              </a:spcAft>
              <a:buNone/>
            </a:pPr>
            <a:r>
              <a:t/>
            </a:r>
            <a:endParaRPr sz="1600">
              <a:solidFill>
                <a:schemeClr val="dk2"/>
              </a:solidFill>
            </a:endParaRPr>
          </a:p>
        </p:txBody>
      </p:sp>
      <p:pic>
        <p:nvPicPr>
          <p:cNvPr id="191" name="Google Shape;191;p31"/>
          <p:cNvPicPr preferRelativeResize="0"/>
          <p:nvPr/>
        </p:nvPicPr>
        <p:blipFill>
          <a:blip r:embed="rId3">
            <a:alphaModFix/>
          </a:blip>
          <a:stretch>
            <a:fillRect/>
          </a:stretch>
        </p:blipFill>
        <p:spPr>
          <a:xfrm>
            <a:off x="1068975" y="2206875"/>
            <a:ext cx="6850152" cy="2936625"/>
          </a:xfrm>
          <a:prstGeom prst="rect">
            <a:avLst/>
          </a:prstGeom>
          <a:noFill/>
          <a:ln>
            <a:noFill/>
          </a:ln>
        </p:spPr>
      </p:pic>
      <p:sp>
        <p:nvSpPr>
          <p:cNvPr id="192" name="Google Shape;192;p31"/>
          <p:cNvSpPr txBox="1"/>
          <p:nvPr/>
        </p:nvSpPr>
        <p:spPr>
          <a:xfrm>
            <a:off x="7703350" y="2110050"/>
            <a:ext cx="10689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 sz="1800">
                <a:solidFill>
                  <a:schemeClr val="dk2"/>
                </a:solidFill>
                <a:highlight>
                  <a:srgbClr val="CFE2F3"/>
                </a:highlight>
              </a:rPr>
              <a:t>PASO 4</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32"/>
          <p:cNvSpPr txBox="1"/>
          <p:nvPr/>
        </p:nvSpPr>
        <p:spPr>
          <a:xfrm>
            <a:off x="267350" y="297675"/>
            <a:ext cx="8783400" cy="1046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 sz="2800">
                <a:solidFill>
                  <a:srgbClr val="0000FF"/>
                </a:solidFill>
              </a:rPr>
              <a:t>¿Cómo identificar las variables más informativas del dataset utilizando PCA?</a:t>
            </a:r>
            <a:endParaRPr sz="1200"/>
          </a:p>
        </p:txBody>
      </p:sp>
      <p:sp>
        <p:nvSpPr>
          <p:cNvPr id="198" name="Google Shape;198;p32"/>
          <p:cNvSpPr txBox="1"/>
          <p:nvPr/>
        </p:nvSpPr>
        <p:spPr>
          <a:xfrm>
            <a:off x="109200" y="1392025"/>
            <a:ext cx="8834400" cy="3179100"/>
          </a:xfrm>
          <a:prstGeom prst="rect">
            <a:avLst/>
          </a:prstGeom>
          <a:noFill/>
          <a:ln>
            <a:noFill/>
          </a:ln>
        </p:spPr>
        <p:txBody>
          <a:bodyPr anchorCtr="0" anchor="t" bIns="91425" lIns="91425" spcFirstLastPara="1" rIns="91425" wrap="square" tIns="91425">
            <a:noAutofit/>
          </a:bodyPr>
          <a:lstStyle/>
          <a:p>
            <a:pPr indent="-330200" lvl="0" marL="457200" rtl="0" algn="l">
              <a:spcBef>
                <a:spcPts val="0"/>
              </a:spcBef>
              <a:spcAft>
                <a:spcPts val="0"/>
              </a:spcAft>
              <a:buClr>
                <a:schemeClr val="dk2"/>
              </a:buClr>
              <a:buSzPts val="1600"/>
              <a:buChar char="●"/>
            </a:pPr>
            <a:r>
              <a:rPr lang="es" sz="1600">
                <a:solidFill>
                  <a:schemeClr val="dk2"/>
                </a:solidFill>
              </a:rPr>
              <a:t>Cada componente principal es una combinación lineal de las variables originales. Las </a:t>
            </a:r>
            <a:r>
              <a:rPr b="1" lang="es" sz="1600">
                <a:solidFill>
                  <a:schemeClr val="dk2"/>
                </a:solidFill>
              </a:rPr>
              <a:t>cargas (o loadings)</a:t>
            </a:r>
            <a:r>
              <a:rPr lang="es" sz="1600">
                <a:solidFill>
                  <a:schemeClr val="dk2"/>
                </a:solidFill>
              </a:rPr>
              <a:t> representan el peso o coeficiente con el que una variable contribuye a cada componente.</a:t>
            </a:r>
            <a:endParaRPr sz="1600">
              <a:solidFill>
                <a:schemeClr val="dk2"/>
              </a:solidFill>
            </a:endParaRPr>
          </a:p>
          <a:p>
            <a:pPr indent="0" lvl="0" marL="457200" rtl="0" algn="l">
              <a:spcBef>
                <a:spcPts val="0"/>
              </a:spcBef>
              <a:spcAft>
                <a:spcPts val="0"/>
              </a:spcAft>
              <a:buNone/>
            </a:pPr>
            <a:r>
              <a:t/>
            </a:r>
            <a:endParaRPr sz="1600">
              <a:solidFill>
                <a:schemeClr val="dk2"/>
              </a:solidFill>
            </a:endParaRPr>
          </a:p>
          <a:p>
            <a:pPr indent="-330200" lvl="0" marL="457200" rtl="0" algn="l">
              <a:spcBef>
                <a:spcPts val="0"/>
              </a:spcBef>
              <a:spcAft>
                <a:spcPts val="0"/>
              </a:spcAft>
              <a:buClr>
                <a:schemeClr val="dk2"/>
              </a:buClr>
              <a:buSzPts val="1600"/>
              <a:buChar char="●"/>
            </a:pPr>
            <a:r>
              <a:rPr b="1" lang="es" sz="1600">
                <a:solidFill>
                  <a:schemeClr val="dk2"/>
                </a:solidFill>
              </a:rPr>
              <a:t>Cuanto mayor sea la carga en valor absoluto, más relevante es esa variable para el componente.</a:t>
            </a:r>
            <a:r>
              <a:rPr lang="es" sz="1600">
                <a:solidFill>
                  <a:schemeClr val="dk2"/>
                </a:solidFill>
              </a:rPr>
              <a:t> Si una variable tiene una carga alta en los primeros componentes, significa que captura una gran parte de la variabilidad explicada por esos componentes.</a:t>
            </a:r>
            <a:endParaRPr sz="1600">
              <a:solidFill>
                <a:schemeClr val="dk2"/>
              </a:solidFill>
            </a:endParaRPr>
          </a:p>
          <a:p>
            <a:pPr indent="0" lvl="0" marL="457200" rtl="0" algn="l">
              <a:spcBef>
                <a:spcPts val="0"/>
              </a:spcBef>
              <a:spcAft>
                <a:spcPts val="0"/>
              </a:spcAft>
              <a:buNone/>
            </a:pPr>
            <a:r>
              <a:t/>
            </a:r>
            <a:endParaRPr sz="1600">
              <a:solidFill>
                <a:schemeClr val="dk2"/>
              </a:solidFill>
            </a:endParaRPr>
          </a:p>
          <a:p>
            <a:pPr indent="-330200" lvl="0" marL="457200" rtl="0" algn="l">
              <a:spcBef>
                <a:spcPts val="0"/>
              </a:spcBef>
              <a:spcAft>
                <a:spcPts val="0"/>
              </a:spcAft>
              <a:buClr>
                <a:schemeClr val="dk2"/>
              </a:buClr>
              <a:buSzPts val="1600"/>
              <a:buChar char="●"/>
            </a:pPr>
            <a:r>
              <a:rPr lang="es" sz="1600">
                <a:solidFill>
                  <a:schemeClr val="dk2"/>
                </a:solidFill>
              </a:rPr>
              <a:t>Los </a:t>
            </a:r>
            <a:r>
              <a:rPr b="1" lang="es" sz="1600">
                <a:solidFill>
                  <a:schemeClr val="dk2"/>
                </a:solidFill>
              </a:rPr>
              <a:t>componentes finales</a:t>
            </a:r>
            <a:r>
              <a:rPr lang="es" sz="1600">
                <a:solidFill>
                  <a:schemeClr val="dk2"/>
                </a:solidFill>
              </a:rPr>
              <a:t> suelen capturar menos información o ruido, por lo que las variables con cargas altas en ellos suelen ser menos significativas.</a:t>
            </a:r>
            <a:endParaRPr sz="1600">
              <a:solidFill>
                <a:schemeClr val="dk2"/>
              </a:solidFill>
            </a:endParaRPr>
          </a:p>
          <a:p>
            <a:pPr indent="0" lvl="0" marL="457200" rtl="0" algn="l">
              <a:spcBef>
                <a:spcPts val="0"/>
              </a:spcBef>
              <a:spcAft>
                <a:spcPts val="0"/>
              </a:spcAft>
              <a:buNone/>
            </a:pPr>
            <a:r>
              <a:t/>
            </a:r>
            <a:endParaRPr sz="1600">
              <a:solidFill>
                <a:schemeClr val="dk2"/>
              </a:solidFill>
            </a:endParaRPr>
          </a:p>
          <a:p>
            <a:pPr indent="-330200" lvl="0" marL="457200" rtl="0" algn="l">
              <a:spcBef>
                <a:spcPts val="0"/>
              </a:spcBef>
              <a:spcAft>
                <a:spcPts val="0"/>
              </a:spcAft>
              <a:buClr>
                <a:schemeClr val="dk2"/>
              </a:buClr>
              <a:buSzPts val="1600"/>
              <a:buChar char="●"/>
            </a:pPr>
            <a:r>
              <a:rPr lang="es" sz="1600">
                <a:solidFill>
                  <a:schemeClr val="dk2"/>
                </a:solidFill>
              </a:rPr>
              <a:t>Si varias variables tienen </a:t>
            </a:r>
            <a:r>
              <a:rPr b="1" lang="es" sz="1600">
                <a:solidFill>
                  <a:schemeClr val="dk2"/>
                </a:solidFill>
              </a:rPr>
              <a:t>cargas altas en un mismo componente</a:t>
            </a:r>
            <a:r>
              <a:rPr lang="es" sz="1600">
                <a:solidFill>
                  <a:schemeClr val="dk2"/>
                </a:solidFill>
              </a:rPr>
              <a:t>, esto puede indicar que están </a:t>
            </a:r>
            <a:r>
              <a:rPr b="1" lang="es" sz="1600">
                <a:solidFill>
                  <a:schemeClr val="dk2"/>
                </a:solidFill>
              </a:rPr>
              <a:t>correlacionadas entre sí</a:t>
            </a:r>
            <a:r>
              <a:rPr lang="es" sz="1600">
                <a:solidFill>
                  <a:schemeClr val="dk2"/>
                </a:solidFill>
              </a:rPr>
              <a:t>.</a:t>
            </a:r>
            <a:endParaRPr sz="1600">
              <a:solidFill>
                <a:schemeClr val="dk2"/>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33"/>
          <p:cNvSpPr txBox="1"/>
          <p:nvPr/>
        </p:nvSpPr>
        <p:spPr>
          <a:xfrm>
            <a:off x="267350" y="297675"/>
            <a:ext cx="8783400" cy="1046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 sz="2800">
                <a:solidFill>
                  <a:srgbClr val="0000FF"/>
                </a:solidFill>
              </a:rPr>
              <a:t>Reducción dimensional como input de otros modelos</a:t>
            </a:r>
            <a:endParaRPr sz="1200"/>
          </a:p>
        </p:txBody>
      </p:sp>
      <p:sp>
        <p:nvSpPr>
          <p:cNvPr id="204" name="Google Shape;204;p33"/>
          <p:cNvSpPr txBox="1"/>
          <p:nvPr/>
        </p:nvSpPr>
        <p:spPr>
          <a:xfrm>
            <a:off x="430675" y="1516275"/>
            <a:ext cx="8167800" cy="3179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1800">
                <a:solidFill>
                  <a:schemeClr val="dk2"/>
                </a:solidFill>
              </a:rPr>
              <a:t>Podemos usar las primeras componentes principales como variables independientes en modelos de regresión o clasificación.</a:t>
            </a:r>
            <a:endParaRPr b="1" sz="1800">
              <a:solidFill>
                <a:schemeClr val="dk2"/>
              </a:solidFill>
            </a:endParaRPr>
          </a:p>
          <a:p>
            <a:pPr indent="0" lvl="0" marL="0" rtl="0" algn="l">
              <a:spcBef>
                <a:spcPts val="0"/>
              </a:spcBef>
              <a:spcAft>
                <a:spcPts val="0"/>
              </a:spcAft>
              <a:buNone/>
            </a:pPr>
            <a:r>
              <a:t/>
            </a:r>
            <a:endParaRPr b="1" sz="1800">
              <a:solidFill>
                <a:schemeClr val="dk2"/>
              </a:solidFill>
            </a:endParaRPr>
          </a:p>
          <a:p>
            <a:pPr indent="0" lvl="0" marL="0" rtl="0" algn="l">
              <a:spcBef>
                <a:spcPts val="0"/>
              </a:spcBef>
              <a:spcAft>
                <a:spcPts val="0"/>
              </a:spcAft>
              <a:buNone/>
            </a:pPr>
            <a:r>
              <a:rPr lang="es" sz="1800">
                <a:solidFill>
                  <a:schemeClr val="dk2"/>
                </a:solidFill>
              </a:rPr>
              <a:t>¿Qué ventajas tiene esto?</a:t>
            </a:r>
            <a:endParaRPr sz="1800">
              <a:solidFill>
                <a:schemeClr val="dk2"/>
              </a:solidFill>
            </a:endParaRPr>
          </a:p>
          <a:p>
            <a:pPr indent="0" lvl="0" marL="0" rtl="0" algn="l">
              <a:spcBef>
                <a:spcPts val="0"/>
              </a:spcBef>
              <a:spcAft>
                <a:spcPts val="0"/>
              </a:spcAft>
              <a:buNone/>
            </a:pPr>
            <a:r>
              <a:t/>
            </a:r>
            <a:endParaRPr sz="1800">
              <a:solidFill>
                <a:schemeClr val="dk2"/>
              </a:solidFill>
            </a:endParaRPr>
          </a:p>
          <a:p>
            <a:pPr indent="-342900" lvl="0" marL="457200" rtl="0" algn="l">
              <a:spcBef>
                <a:spcPts val="0"/>
              </a:spcBef>
              <a:spcAft>
                <a:spcPts val="0"/>
              </a:spcAft>
              <a:buClr>
                <a:schemeClr val="dk2"/>
              </a:buClr>
              <a:buSzPts val="1800"/>
              <a:buChar char="●"/>
            </a:pPr>
            <a:r>
              <a:rPr b="1" lang="es" sz="1800">
                <a:solidFill>
                  <a:schemeClr val="dk2"/>
                </a:solidFill>
              </a:rPr>
              <a:t>Resolvemos el problema de multicolinealidad:</a:t>
            </a:r>
            <a:r>
              <a:rPr lang="es" sz="1800">
                <a:solidFill>
                  <a:schemeClr val="dk2"/>
                </a:solidFill>
              </a:rPr>
              <a:t> En PCA las variables son por defecto ortogonales y por lo tanto buenas candidatas.</a:t>
            </a:r>
            <a:endParaRPr sz="1800">
              <a:solidFill>
                <a:schemeClr val="dk2"/>
              </a:solidFill>
            </a:endParaRPr>
          </a:p>
          <a:p>
            <a:pPr indent="0" lvl="0" marL="457200" rtl="0" algn="l">
              <a:spcBef>
                <a:spcPts val="0"/>
              </a:spcBef>
              <a:spcAft>
                <a:spcPts val="0"/>
              </a:spcAft>
              <a:buNone/>
            </a:pPr>
            <a:r>
              <a:t/>
            </a:r>
            <a:endParaRPr sz="1800">
              <a:solidFill>
                <a:schemeClr val="dk2"/>
              </a:solidFill>
            </a:endParaRPr>
          </a:p>
          <a:p>
            <a:pPr indent="-342900" lvl="0" marL="457200" rtl="0" algn="l">
              <a:spcBef>
                <a:spcPts val="0"/>
              </a:spcBef>
              <a:spcAft>
                <a:spcPts val="0"/>
              </a:spcAft>
              <a:buClr>
                <a:schemeClr val="dk2"/>
              </a:buClr>
              <a:buSzPts val="1800"/>
              <a:buChar char="●"/>
            </a:pPr>
            <a:r>
              <a:rPr lang="es" sz="1800">
                <a:solidFill>
                  <a:schemeClr val="dk2"/>
                </a:solidFill>
              </a:rPr>
              <a:t>Podemos </a:t>
            </a:r>
            <a:r>
              <a:rPr b="1" lang="es" sz="1800">
                <a:solidFill>
                  <a:schemeClr val="dk2"/>
                </a:solidFill>
              </a:rPr>
              <a:t>evaluar la cantidad de componentes a utilizar</a:t>
            </a:r>
            <a:r>
              <a:rPr lang="es" sz="1800">
                <a:solidFill>
                  <a:schemeClr val="dk2"/>
                </a:solidFill>
              </a:rPr>
              <a:t> como parte del proceso de optimización de hiperparámetros. </a:t>
            </a:r>
            <a:endParaRPr sz="1800">
              <a:solidFill>
                <a:schemeClr val="dk2"/>
              </a:solidFill>
            </a:endParaRPr>
          </a:p>
          <a:p>
            <a:pPr indent="0" lvl="0" marL="0" rtl="0" algn="l">
              <a:spcBef>
                <a:spcPts val="0"/>
              </a:spcBef>
              <a:spcAft>
                <a:spcPts val="0"/>
              </a:spcAft>
              <a:buNone/>
            </a:pPr>
            <a:r>
              <a:t/>
            </a:r>
            <a:endParaRPr b="1" sz="1800">
              <a:solidFill>
                <a:schemeClr val="dk2"/>
              </a:solidFill>
            </a:endParaRPr>
          </a:p>
          <a:p>
            <a:pPr indent="0" lvl="0" marL="0" rtl="0" algn="l">
              <a:spcBef>
                <a:spcPts val="0"/>
              </a:spcBef>
              <a:spcAft>
                <a:spcPts val="0"/>
              </a:spcAft>
              <a:buNone/>
            </a:pPr>
            <a:r>
              <a:t/>
            </a:r>
            <a:endParaRPr sz="1800">
              <a:solidFill>
                <a:schemeClr val="dk2"/>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p34"/>
          <p:cNvSpPr txBox="1"/>
          <p:nvPr/>
        </p:nvSpPr>
        <p:spPr>
          <a:xfrm>
            <a:off x="180300" y="321475"/>
            <a:ext cx="87834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 sz="2800">
                <a:solidFill>
                  <a:srgbClr val="0000FF"/>
                </a:solidFill>
              </a:rPr>
              <a:t>Resumen de PCA</a:t>
            </a:r>
            <a:endParaRPr sz="1200"/>
          </a:p>
        </p:txBody>
      </p:sp>
      <p:sp>
        <p:nvSpPr>
          <p:cNvPr id="210" name="Google Shape;210;p34"/>
          <p:cNvSpPr txBox="1"/>
          <p:nvPr/>
        </p:nvSpPr>
        <p:spPr>
          <a:xfrm>
            <a:off x="148800" y="982200"/>
            <a:ext cx="8846400" cy="3179100"/>
          </a:xfrm>
          <a:prstGeom prst="rect">
            <a:avLst/>
          </a:prstGeom>
          <a:noFill/>
          <a:ln>
            <a:noFill/>
          </a:ln>
        </p:spPr>
        <p:txBody>
          <a:bodyPr anchorCtr="0" anchor="t" bIns="91425" lIns="91425" spcFirstLastPara="1" rIns="91425" wrap="square" tIns="91425">
            <a:noAutofit/>
          </a:bodyPr>
          <a:lstStyle/>
          <a:p>
            <a:pPr indent="-330200" lvl="0" marL="457200" rtl="0" algn="l">
              <a:lnSpc>
                <a:spcPct val="115000"/>
              </a:lnSpc>
              <a:spcBef>
                <a:spcPts val="0"/>
              </a:spcBef>
              <a:spcAft>
                <a:spcPts val="0"/>
              </a:spcAft>
              <a:buClr>
                <a:schemeClr val="dk2"/>
              </a:buClr>
              <a:buSzPts val="1600"/>
              <a:buChar char="●"/>
            </a:pPr>
            <a:r>
              <a:rPr lang="es" sz="1600">
                <a:solidFill>
                  <a:schemeClr val="dk2"/>
                </a:solidFill>
              </a:rPr>
              <a:t>Las componentes principales son una combinación lineal de las variables y se corresponden con los autovectores de la matriz de covarianza de los datos.</a:t>
            </a:r>
            <a:endParaRPr sz="1600">
              <a:solidFill>
                <a:schemeClr val="dk2"/>
              </a:solidFill>
            </a:endParaRPr>
          </a:p>
          <a:p>
            <a:pPr indent="0" lvl="0" marL="457200" rtl="0" algn="l">
              <a:lnSpc>
                <a:spcPct val="115000"/>
              </a:lnSpc>
              <a:spcBef>
                <a:spcPts val="0"/>
              </a:spcBef>
              <a:spcAft>
                <a:spcPts val="0"/>
              </a:spcAft>
              <a:buNone/>
            </a:pPr>
            <a:r>
              <a:t/>
            </a:r>
            <a:endParaRPr sz="1600">
              <a:solidFill>
                <a:schemeClr val="dk2"/>
              </a:solidFill>
            </a:endParaRPr>
          </a:p>
          <a:p>
            <a:pPr indent="-330200" lvl="0" marL="457200" rtl="0" algn="l">
              <a:lnSpc>
                <a:spcPct val="115000"/>
              </a:lnSpc>
              <a:spcBef>
                <a:spcPts val="0"/>
              </a:spcBef>
              <a:spcAft>
                <a:spcPts val="0"/>
              </a:spcAft>
              <a:buClr>
                <a:schemeClr val="dk2"/>
              </a:buClr>
              <a:buSzPts val="1600"/>
              <a:buChar char="●"/>
            </a:pPr>
            <a:r>
              <a:rPr lang="es" sz="1600">
                <a:solidFill>
                  <a:schemeClr val="dk2"/>
                </a:solidFill>
              </a:rPr>
              <a:t>Son nuevas variables no correlacionadas entre sí (ortogonales), y por tanto, cada una de ellas aporta información independiente de la aportada por las componentes restantes.</a:t>
            </a:r>
            <a:endParaRPr sz="1600">
              <a:solidFill>
                <a:schemeClr val="dk2"/>
              </a:solidFill>
            </a:endParaRPr>
          </a:p>
          <a:p>
            <a:pPr indent="0" lvl="0" marL="0" rtl="0" algn="l">
              <a:lnSpc>
                <a:spcPct val="115000"/>
              </a:lnSpc>
              <a:spcBef>
                <a:spcPts val="0"/>
              </a:spcBef>
              <a:spcAft>
                <a:spcPts val="0"/>
              </a:spcAft>
              <a:buNone/>
            </a:pPr>
            <a:r>
              <a:t/>
            </a:r>
            <a:endParaRPr sz="1600">
              <a:solidFill>
                <a:schemeClr val="dk2"/>
              </a:solidFill>
            </a:endParaRPr>
          </a:p>
          <a:p>
            <a:pPr indent="-330200" lvl="0" marL="457200" rtl="0" algn="l">
              <a:lnSpc>
                <a:spcPct val="115000"/>
              </a:lnSpc>
              <a:spcBef>
                <a:spcPts val="0"/>
              </a:spcBef>
              <a:spcAft>
                <a:spcPts val="0"/>
              </a:spcAft>
              <a:buClr>
                <a:schemeClr val="dk2"/>
              </a:buClr>
              <a:buSzPts val="1600"/>
              <a:buChar char="●"/>
            </a:pPr>
            <a:r>
              <a:rPr lang="es" sz="1600">
                <a:solidFill>
                  <a:schemeClr val="dk2"/>
                </a:solidFill>
              </a:rPr>
              <a:t>Podemos usar las componentes principales para: reducir la dimensión de un dataset, identificar las variables más importantes, visualizar datos multidimensionales en dos dimensiones, y como input para modelos de aprendizaje supervisado.</a:t>
            </a:r>
            <a:endParaRPr sz="1600">
              <a:solidFill>
                <a:schemeClr val="dk2"/>
              </a:solidFill>
            </a:endParaRPr>
          </a:p>
          <a:p>
            <a:pPr indent="0" lvl="0" marL="0" rtl="0" algn="l">
              <a:spcBef>
                <a:spcPts val="0"/>
              </a:spcBef>
              <a:spcAft>
                <a:spcPts val="0"/>
              </a:spcAft>
              <a:buNone/>
            </a:pPr>
            <a:r>
              <a:t/>
            </a:r>
            <a:endParaRPr b="1" sz="1800">
              <a:solidFill>
                <a:schemeClr val="dk2"/>
              </a:solidFill>
            </a:endParaRPr>
          </a:p>
          <a:p>
            <a:pPr indent="0" lvl="0" marL="0" rtl="0" algn="l">
              <a:spcBef>
                <a:spcPts val="0"/>
              </a:spcBef>
              <a:spcAft>
                <a:spcPts val="0"/>
              </a:spcAft>
              <a:buNone/>
            </a:pPr>
            <a:r>
              <a:t/>
            </a:r>
            <a:endParaRPr sz="1800">
              <a:solidFill>
                <a:schemeClr val="dk2"/>
              </a:solidFill>
            </a:endParaRPr>
          </a:p>
        </p:txBody>
      </p:sp>
      <p:sp>
        <p:nvSpPr>
          <p:cNvPr id="211" name="Google Shape;211;p34"/>
          <p:cNvSpPr txBox="1"/>
          <p:nvPr/>
        </p:nvSpPr>
        <p:spPr>
          <a:xfrm>
            <a:off x="363150" y="3897525"/>
            <a:ext cx="8417700" cy="762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i="1" lang="es" sz="1600">
                <a:solidFill>
                  <a:schemeClr val="dk2"/>
                </a:solidFill>
              </a:rPr>
              <a:t>Sin embargo, </a:t>
            </a:r>
            <a:r>
              <a:rPr b="1" i="1" lang="es" sz="1600">
                <a:solidFill>
                  <a:schemeClr val="dk2"/>
                </a:solidFill>
              </a:rPr>
              <a:t>si la relación entre las variables originales no es lineal, PCA no será un método efectivo</a:t>
            </a:r>
            <a:r>
              <a:rPr i="1" lang="es" sz="1600">
                <a:solidFill>
                  <a:schemeClr val="dk2"/>
                </a:solidFill>
              </a:rPr>
              <a:t> de reducción de dimensionalidad. En ese caso, podemos usar </a:t>
            </a:r>
            <a:r>
              <a:rPr b="1" i="1" lang="es" sz="1600">
                <a:solidFill>
                  <a:schemeClr val="dk2"/>
                </a:solidFill>
              </a:rPr>
              <a:t>T-SNE</a:t>
            </a:r>
            <a:r>
              <a:rPr i="1" lang="es" sz="1600">
                <a:solidFill>
                  <a:schemeClr val="dk2"/>
                </a:solidFill>
              </a:rPr>
              <a:t> (una técnica no lineal de reducción de dimensionalidad)</a:t>
            </a:r>
            <a:endParaRPr i="1" sz="1700">
              <a:solidFill>
                <a:schemeClr val="dk2"/>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